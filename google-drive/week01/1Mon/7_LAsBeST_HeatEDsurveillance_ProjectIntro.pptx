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56" r:id="rId2"/>
    <p:sldId id="295" r:id="rId3"/>
    <p:sldId id="315" r:id="rId4"/>
    <p:sldId id="939" r:id="rId5"/>
    <p:sldId id="933" r:id="rId6"/>
    <p:sldId id="292" r:id="rId7"/>
    <p:sldId id="303" r:id="rId8"/>
    <p:sldId id="265" r:id="rId9"/>
    <p:sldId id="300" r:id="rId10"/>
    <p:sldId id="347" r:id="rId11"/>
    <p:sldId id="348" r:id="rId12"/>
    <p:sldId id="931" r:id="rId13"/>
    <p:sldId id="940" r:id="rId14"/>
    <p:sldId id="941" r:id="rId15"/>
    <p:sldId id="942" r:id="rId16"/>
    <p:sldId id="932" r:id="rId17"/>
    <p:sldId id="943" r:id="rId18"/>
    <p:sldId id="937" r:id="rId19"/>
    <p:sldId id="93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501842-44BD-42F9-AC64-2C713FDBF4E1}" v="36" dt="2026-06-14T23:41:50.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21" autoAdjust="0"/>
  </p:normalViewPr>
  <p:slideViewPr>
    <p:cSldViewPr snapToGrid="0">
      <p:cViewPr varScale="1">
        <p:scale>
          <a:sx n="132" d="100"/>
          <a:sy n="132" d="100"/>
        </p:scale>
        <p:origin x="360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rah Proctor Eckel" userId="3da613be-abf7-494f-ade5-472bd409fa83" providerId="ADAL" clId="{B685EEE8-5C68-4F07-86E8-E2DF22092043}"/>
    <pc:docChg chg="undo custSel addSld delSld modSld sldOrd">
      <pc:chgData name="Sandrah Proctor Eckel" userId="3da613be-abf7-494f-ade5-472bd409fa83" providerId="ADAL" clId="{B685EEE8-5C68-4F07-86E8-E2DF22092043}" dt="2026-06-14T23:42:31.122" v="3948" actId="47"/>
      <pc:docMkLst>
        <pc:docMk/>
      </pc:docMkLst>
      <pc:sldChg chg="addSp delSp modSp mod modNotesTx">
        <pc:chgData name="Sandrah Proctor Eckel" userId="3da613be-abf7-494f-ade5-472bd409fa83" providerId="ADAL" clId="{B685EEE8-5C68-4F07-86E8-E2DF22092043}" dt="2026-06-14T23:39:34.835" v="3914" actId="1076"/>
        <pc:sldMkLst>
          <pc:docMk/>
          <pc:sldMk cId="234677323" sldId="256"/>
        </pc:sldMkLst>
        <pc:spChg chg="mod">
          <ac:chgData name="Sandrah Proctor Eckel" userId="3da613be-abf7-494f-ade5-472bd409fa83" providerId="ADAL" clId="{B685EEE8-5C68-4F07-86E8-E2DF22092043}" dt="2026-06-12T17:43:53.395" v="18" actId="113"/>
          <ac:spMkLst>
            <pc:docMk/>
            <pc:sldMk cId="234677323" sldId="256"/>
            <ac:spMk id="2" creationId="{4DEB357C-FE4A-09AA-5949-F9E86CB097EA}"/>
          </ac:spMkLst>
        </pc:spChg>
        <pc:spChg chg="mod">
          <ac:chgData name="Sandrah Proctor Eckel" userId="3da613be-abf7-494f-ade5-472bd409fa83" providerId="ADAL" clId="{B685EEE8-5C68-4F07-86E8-E2DF22092043}" dt="2026-06-12T17:43:58.248" v="20" actId="20577"/>
          <ac:spMkLst>
            <pc:docMk/>
            <pc:sldMk cId="234677323" sldId="256"/>
            <ac:spMk id="3" creationId="{D1CA6A29-8987-7FC3-62FF-0B25CDED2B38}"/>
          </ac:spMkLst>
        </pc:spChg>
        <pc:picChg chg="add del mod">
          <ac:chgData name="Sandrah Proctor Eckel" userId="3da613be-abf7-494f-ade5-472bd409fa83" providerId="ADAL" clId="{B685EEE8-5C68-4F07-86E8-E2DF22092043}" dt="2026-06-14T23:39:28.580" v="3912" actId="478"/>
          <ac:picMkLst>
            <pc:docMk/>
            <pc:sldMk cId="234677323" sldId="256"/>
            <ac:picMk id="1028" creationId="{0214825D-38AE-5812-D9D0-CE4F9B5C9B4D}"/>
          </ac:picMkLst>
        </pc:picChg>
        <pc:picChg chg="add mod">
          <ac:chgData name="Sandrah Proctor Eckel" userId="3da613be-abf7-494f-ade5-472bd409fa83" providerId="ADAL" clId="{B685EEE8-5C68-4F07-86E8-E2DF22092043}" dt="2026-06-14T23:39:34.835" v="3914" actId="1076"/>
          <ac:picMkLst>
            <pc:docMk/>
            <pc:sldMk cId="234677323" sldId="256"/>
            <ac:picMk id="4098" creationId="{6A83F2C6-05EA-2DC9-D569-0D8EA146E8EA}"/>
          </ac:picMkLst>
        </pc:picChg>
      </pc:sldChg>
      <pc:sldChg chg="modSp">
        <pc:chgData name="Sandrah Proctor Eckel" userId="3da613be-abf7-494f-ade5-472bd409fa83" providerId="ADAL" clId="{B685EEE8-5C68-4F07-86E8-E2DF22092043}" dt="2026-06-12T17:53:04.994" v="32"/>
        <pc:sldMkLst>
          <pc:docMk/>
          <pc:sldMk cId="35079953" sldId="295"/>
        </pc:sldMkLst>
        <pc:spChg chg="mod">
          <ac:chgData name="Sandrah Proctor Eckel" userId="3da613be-abf7-494f-ade5-472bd409fa83" providerId="ADAL" clId="{B685EEE8-5C68-4F07-86E8-E2DF22092043}" dt="2026-06-12T17:53:04.994" v="32"/>
          <ac:spMkLst>
            <pc:docMk/>
            <pc:sldMk cId="35079953" sldId="295"/>
            <ac:spMk id="3" creationId="{BD4DC97B-FF23-605B-C668-4CE2D78DB8A6}"/>
          </ac:spMkLst>
        </pc:spChg>
      </pc:sldChg>
      <pc:sldChg chg="modSp add mod">
        <pc:chgData name="Sandrah Proctor Eckel" userId="3da613be-abf7-494f-ade5-472bd409fa83" providerId="ADAL" clId="{B685EEE8-5C68-4F07-86E8-E2DF22092043}" dt="2026-06-14T23:42:01.517" v="3947" actId="20577"/>
        <pc:sldMkLst>
          <pc:docMk/>
          <pc:sldMk cId="1173537291" sldId="300"/>
        </pc:sldMkLst>
        <pc:spChg chg="mod">
          <ac:chgData name="Sandrah Proctor Eckel" userId="3da613be-abf7-494f-ade5-472bd409fa83" providerId="ADAL" clId="{B685EEE8-5C68-4F07-86E8-E2DF22092043}" dt="2026-06-14T23:42:01.517" v="3947" actId="20577"/>
          <ac:spMkLst>
            <pc:docMk/>
            <pc:sldMk cId="1173537291" sldId="300"/>
            <ac:spMk id="2" creationId="{24AD8CAA-A8AA-844A-F756-6C6532E5D286}"/>
          </ac:spMkLst>
        </pc:spChg>
      </pc:sldChg>
      <pc:sldChg chg="modSp mod">
        <pc:chgData name="Sandrah Proctor Eckel" userId="3da613be-abf7-494f-ade5-472bd409fa83" providerId="ADAL" clId="{B685EEE8-5C68-4F07-86E8-E2DF22092043}" dt="2026-06-14T23:35:50.944" v="3911" actId="20577"/>
        <pc:sldMkLst>
          <pc:docMk/>
          <pc:sldMk cId="2654980886" sldId="315"/>
        </pc:sldMkLst>
        <pc:spChg chg="mod">
          <ac:chgData name="Sandrah Proctor Eckel" userId="3da613be-abf7-494f-ade5-472bd409fa83" providerId="ADAL" clId="{B685EEE8-5C68-4F07-86E8-E2DF22092043}" dt="2026-06-14T23:35:50.944" v="3911" actId="20577"/>
          <ac:spMkLst>
            <pc:docMk/>
            <pc:sldMk cId="2654980886" sldId="315"/>
            <ac:spMk id="3" creationId="{AFCA7AE0-BEF2-9DDA-0677-4AB8D362A6BE}"/>
          </ac:spMkLst>
        </pc:spChg>
      </pc:sldChg>
      <pc:sldChg chg="add">
        <pc:chgData name="Sandrah Proctor Eckel" userId="3da613be-abf7-494f-ade5-472bd409fa83" providerId="ADAL" clId="{B685EEE8-5C68-4F07-86E8-E2DF22092043}" dt="2026-06-12T18:41:44.904" v="57"/>
        <pc:sldMkLst>
          <pc:docMk/>
          <pc:sldMk cId="4283867103" sldId="347"/>
        </pc:sldMkLst>
      </pc:sldChg>
      <pc:sldChg chg="add">
        <pc:chgData name="Sandrah Proctor Eckel" userId="3da613be-abf7-494f-ade5-472bd409fa83" providerId="ADAL" clId="{B685EEE8-5C68-4F07-86E8-E2DF22092043}" dt="2026-06-12T18:41:44.904" v="57"/>
        <pc:sldMkLst>
          <pc:docMk/>
          <pc:sldMk cId="507665365" sldId="348"/>
        </pc:sldMkLst>
      </pc:sldChg>
      <pc:sldChg chg="add del">
        <pc:chgData name="Sandrah Proctor Eckel" userId="3da613be-abf7-494f-ade5-472bd409fa83" providerId="ADAL" clId="{B685EEE8-5C68-4F07-86E8-E2DF22092043}" dt="2026-06-14T23:42:31.122" v="3948" actId="47"/>
        <pc:sldMkLst>
          <pc:docMk/>
          <pc:sldMk cId="294833454" sldId="378"/>
        </pc:sldMkLst>
      </pc:sldChg>
      <pc:sldChg chg="delSp add del setBg delDesignElem">
        <pc:chgData name="Sandrah Proctor Eckel" userId="3da613be-abf7-494f-ade5-472bd409fa83" providerId="ADAL" clId="{B685EEE8-5C68-4F07-86E8-E2DF22092043}" dt="2026-06-14T23:33:00.227" v="3889" actId="47"/>
        <pc:sldMkLst>
          <pc:docMk/>
          <pc:sldMk cId="705435963" sldId="385"/>
        </pc:sldMkLst>
        <pc:spChg chg="del">
          <ac:chgData name="Sandrah Proctor Eckel" userId="3da613be-abf7-494f-ade5-472bd409fa83" providerId="ADAL" clId="{B685EEE8-5C68-4F07-86E8-E2DF22092043}" dt="2026-06-14T22:46:57.780" v="1058"/>
          <ac:spMkLst>
            <pc:docMk/>
            <pc:sldMk cId="705435963" sldId="385"/>
            <ac:spMk id="12" creationId="{C1DD1A8A-57D5-4A81-AD04-532B043C5611}"/>
          </ac:spMkLst>
        </pc:spChg>
        <pc:spChg chg="del">
          <ac:chgData name="Sandrah Proctor Eckel" userId="3da613be-abf7-494f-ade5-472bd409fa83" providerId="ADAL" clId="{B685EEE8-5C68-4F07-86E8-E2DF22092043}" dt="2026-06-14T22:46:57.780" v="1058"/>
          <ac:spMkLst>
            <pc:docMk/>
            <pc:sldMk cId="705435963" sldId="385"/>
            <ac:spMk id="17" creationId="{007891EC-4501-44ED-A8C8-B11B6DB767AB}"/>
          </ac:spMkLst>
        </pc:spChg>
      </pc:sldChg>
      <pc:sldChg chg="del">
        <pc:chgData name="Sandrah Proctor Eckel" userId="3da613be-abf7-494f-ade5-472bd409fa83" providerId="ADAL" clId="{B685EEE8-5C68-4F07-86E8-E2DF22092043}" dt="2026-06-14T22:46:08.226" v="1010" actId="47"/>
        <pc:sldMkLst>
          <pc:docMk/>
          <pc:sldMk cId="3882037209" sldId="930"/>
        </pc:sldMkLst>
      </pc:sldChg>
      <pc:sldChg chg="addSp modSp mod">
        <pc:chgData name="Sandrah Proctor Eckel" userId="3da613be-abf7-494f-ade5-472bd409fa83" providerId="ADAL" clId="{B685EEE8-5C68-4F07-86E8-E2DF22092043}" dt="2026-06-14T22:47:47.763" v="1073" actId="113"/>
        <pc:sldMkLst>
          <pc:docMk/>
          <pc:sldMk cId="3861414510" sldId="931"/>
        </pc:sldMkLst>
        <pc:spChg chg="mod">
          <ac:chgData name="Sandrah Proctor Eckel" userId="3da613be-abf7-494f-ade5-472bd409fa83" providerId="ADAL" clId="{B685EEE8-5C68-4F07-86E8-E2DF22092043}" dt="2026-06-14T19:43:11.536" v="227" actId="14100"/>
          <ac:spMkLst>
            <pc:docMk/>
            <pc:sldMk cId="3861414510" sldId="931"/>
            <ac:spMk id="2" creationId="{E018F525-4B6A-653D-01B9-8CF50318D3F5}"/>
          </ac:spMkLst>
        </pc:spChg>
        <pc:spChg chg="mod">
          <ac:chgData name="Sandrah Proctor Eckel" userId="3da613be-abf7-494f-ade5-472bd409fa83" providerId="ADAL" clId="{B685EEE8-5C68-4F07-86E8-E2DF22092043}" dt="2026-06-14T22:47:47.763" v="1073" actId="113"/>
          <ac:spMkLst>
            <pc:docMk/>
            <pc:sldMk cId="3861414510" sldId="931"/>
            <ac:spMk id="3" creationId="{04D80682-7914-1465-FE9C-235CB7920625}"/>
          </ac:spMkLst>
        </pc:spChg>
        <pc:spChg chg="add">
          <ac:chgData name="Sandrah Proctor Eckel" userId="3da613be-abf7-494f-ade5-472bd409fa83" providerId="ADAL" clId="{B685EEE8-5C68-4F07-86E8-E2DF22092043}" dt="2026-06-14T19:42:59.913" v="225"/>
          <ac:spMkLst>
            <pc:docMk/>
            <pc:sldMk cId="3861414510" sldId="931"/>
            <ac:spMk id="4" creationId="{850B8FCE-C9C6-FCC3-6366-E3BAF02C87DD}"/>
          </ac:spMkLst>
        </pc:spChg>
        <pc:spChg chg="add">
          <ac:chgData name="Sandrah Proctor Eckel" userId="3da613be-abf7-494f-ade5-472bd409fa83" providerId="ADAL" clId="{B685EEE8-5C68-4F07-86E8-E2DF22092043}" dt="2026-06-14T19:43:20.009" v="229"/>
          <ac:spMkLst>
            <pc:docMk/>
            <pc:sldMk cId="3861414510" sldId="931"/>
            <ac:spMk id="5" creationId="{50BBE718-4D19-B996-BD33-118F80C733AD}"/>
          </ac:spMkLst>
        </pc:spChg>
      </pc:sldChg>
      <pc:sldChg chg="addSp delSp modSp mod modAnim">
        <pc:chgData name="Sandrah Proctor Eckel" userId="3da613be-abf7-494f-ade5-472bd409fa83" providerId="ADAL" clId="{B685EEE8-5C68-4F07-86E8-E2DF22092043}" dt="2026-06-14T23:25:55.742" v="3708"/>
        <pc:sldMkLst>
          <pc:docMk/>
          <pc:sldMk cId="4200900468" sldId="932"/>
        </pc:sldMkLst>
        <pc:spChg chg="mod">
          <ac:chgData name="Sandrah Proctor Eckel" userId="3da613be-abf7-494f-ade5-472bd409fa83" providerId="ADAL" clId="{B685EEE8-5C68-4F07-86E8-E2DF22092043}" dt="2026-06-14T23:16:45.844" v="3598" actId="115"/>
          <ac:spMkLst>
            <pc:docMk/>
            <pc:sldMk cId="4200900468" sldId="932"/>
            <ac:spMk id="2" creationId="{5C012395-74EC-52F6-4AB5-3ABA339EC6AC}"/>
          </ac:spMkLst>
        </pc:spChg>
        <pc:spChg chg="mod">
          <ac:chgData name="Sandrah Proctor Eckel" userId="3da613be-abf7-494f-ade5-472bd409fa83" providerId="ADAL" clId="{B685EEE8-5C68-4F07-86E8-E2DF22092043}" dt="2026-06-14T23:14:08.967" v="3244" actId="20577"/>
          <ac:spMkLst>
            <pc:docMk/>
            <pc:sldMk cId="4200900468" sldId="932"/>
            <ac:spMk id="3" creationId="{BC5B5811-3B23-97B3-E74D-AB530B3E37E3}"/>
          </ac:spMkLst>
        </pc:spChg>
        <pc:spChg chg="add mod">
          <ac:chgData name="Sandrah Proctor Eckel" userId="3da613be-abf7-494f-ade5-472bd409fa83" providerId="ADAL" clId="{B685EEE8-5C68-4F07-86E8-E2DF22092043}" dt="2026-06-14T23:16:31.034" v="3592" actId="1076"/>
          <ac:spMkLst>
            <pc:docMk/>
            <pc:sldMk cId="4200900468" sldId="932"/>
            <ac:spMk id="6" creationId="{2FEA0A89-B535-81EE-8F5E-85E88E4F807C}"/>
          </ac:spMkLst>
        </pc:spChg>
        <pc:spChg chg="add mod">
          <ac:chgData name="Sandrah Proctor Eckel" userId="3da613be-abf7-494f-ade5-472bd409fa83" providerId="ADAL" clId="{B685EEE8-5C68-4F07-86E8-E2DF22092043}" dt="2026-06-14T23:25:46.264" v="3706" actId="164"/>
          <ac:spMkLst>
            <pc:docMk/>
            <pc:sldMk cId="4200900468" sldId="932"/>
            <ac:spMk id="8" creationId="{A163EB92-E42C-E2F7-9F84-DD058AF85B8B}"/>
          </ac:spMkLst>
        </pc:spChg>
        <pc:spChg chg="add mod ord">
          <ac:chgData name="Sandrah Proctor Eckel" userId="3da613be-abf7-494f-ade5-472bd409fa83" providerId="ADAL" clId="{B685EEE8-5C68-4F07-86E8-E2DF22092043}" dt="2026-06-14T23:25:46.264" v="3706" actId="164"/>
          <ac:spMkLst>
            <pc:docMk/>
            <pc:sldMk cId="4200900468" sldId="932"/>
            <ac:spMk id="9" creationId="{88FDEF5F-7897-6AC8-825A-86D34F2C2789}"/>
          </ac:spMkLst>
        </pc:spChg>
        <pc:grpChg chg="add mod">
          <ac:chgData name="Sandrah Proctor Eckel" userId="3da613be-abf7-494f-ade5-472bd409fa83" providerId="ADAL" clId="{B685EEE8-5C68-4F07-86E8-E2DF22092043}" dt="2026-06-14T23:25:46.264" v="3706" actId="164"/>
          <ac:grpSpMkLst>
            <pc:docMk/>
            <pc:sldMk cId="4200900468" sldId="932"/>
            <ac:grpSpMk id="10" creationId="{3C4699B1-3007-5EE2-24AF-43B1FEC3AC0A}"/>
          </ac:grpSpMkLst>
        </pc:grpChg>
        <pc:graphicFrameChg chg="add mod modGraphic">
          <ac:chgData name="Sandrah Proctor Eckel" userId="3da613be-abf7-494f-ade5-472bd409fa83" providerId="ADAL" clId="{B685EEE8-5C68-4F07-86E8-E2DF22092043}" dt="2026-06-14T23:25:07.121" v="3703" actId="20577"/>
          <ac:graphicFrameMkLst>
            <pc:docMk/>
            <pc:sldMk cId="4200900468" sldId="932"/>
            <ac:graphicFrameMk id="4" creationId="{38A46BD6-28AF-1A07-EC56-328BCC918644}"/>
          </ac:graphicFrameMkLst>
        </pc:graphicFrameChg>
        <pc:picChg chg="del">
          <ac:chgData name="Sandrah Proctor Eckel" userId="3da613be-abf7-494f-ade5-472bd409fa83" providerId="ADAL" clId="{B685EEE8-5C68-4F07-86E8-E2DF22092043}" dt="2026-06-14T23:07:12.563" v="2347" actId="478"/>
          <ac:picMkLst>
            <pc:docMk/>
            <pc:sldMk cId="4200900468" sldId="932"/>
            <ac:picMk id="5" creationId="{E2F48E83-B0E6-C5C3-FA31-ACBE4E6A7160}"/>
          </ac:picMkLst>
        </pc:picChg>
      </pc:sldChg>
      <pc:sldChg chg="del">
        <pc:chgData name="Sandrah Proctor Eckel" userId="3da613be-abf7-494f-ade5-472bd409fa83" providerId="ADAL" clId="{B685EEE8-5C68-4F07-86E8-E2DF22092043}" dt="2026-06-14T22:46:09.209" v="1011" actId="47"/>
        <pc:sldMkLst>
          <pc:docMk/>
          <pc:sldMk cId="3500912918" sldId="934"/>
        </pc:sldMkLst>
      </pc:sldChg>
      <pc:sldChg chg="del">
        <pc:chgData name="Sandrah Proctor Eckel" userId="3da613be-abf7-494f-ade5-472bd409fa83" providerId="ADAL" clId="{B685EEE8-5C68-4F07-86E8-E2DF22092043}" dt="2026-06-14T23:16:56.430" v="3601" actId="47"/>
        <pc:sldMkLst>
          <pc:docMk/>
          <pc:sldMk cId="4178028890" sldId="935"/>
        </pc:sldMkLst>
      </pc:sldChg>
      <pc:sldChg chg="addSp delSp modSp mod">
        <pc:chgData name="Sandrah Proctor Eckel" userId="3da613be-abf7-494f-ade5-472bd409fa83" providerId="ADAL" clId="{B685EEE8-5C68-4F07-86E8-E2DF22092043}" dt="2026-06-14T23:34:28.436" v="3905" actId="1076"/>
        <pc:sldMkLst>
          <pc:docMk/>
          <pc:sldMk cId="849413470" sldId="937"/>
        </pc:sldMkLst>
        <pc:spChg chg="mod">
          <ac:chgData name="Sandrah Proctor Eckel" userId="3da613be-abf7-494f-ade5-472bd409fa83" providerId="ADAL" clId="{B685EEE8-5C68-4F07-86E8-E2DF22092043}" dt="2026-06-14T23:31:27.216" v="3888" actId="27636"/>
          <ac:spMkLst>
            <pc:docMk/>
            <pc:sldMk cId="849413470" sldId="937"/>
            <ac:spMk id="2" creationId="{97A10F22-EC7F-630B-5F3F-B53633753078}"/>
          </ac:spMkLst>
        </pc:spChg>
        <pc:spChg chg="add mod">
          <ac:chgData name="Sandrah Proctor Eckel" userId="3da613be-abf7-494f-ade5-472bd409fa83" providerId="ADAL" clId="{B685EEE8-5C68-4F07-86E8-E2DF22092043}" dt="2026-06-14T23:34:18.970" v="3899" actId="1076"/>
          <ac:spMkLst>
            <pc:docMk/>
            <pc:sldMk cId="849413470" sldId="937"/>
            <ac:spMk id="4" creationId="{C0BA9D5F-1AC9-BC8C-0F09-A9AA4841E2EA}"/>
          </ac:spMkLst>
        </pc:spChg>
        <pc:spChg chg="del">
          <ac:chgData name="Sandrah Proctor Eckel" userId="3da613be-abf7-494f-ade5-472bd409fa83" providerId="ADAL" clId="{B685EEE8-5C68-4F07-86E8-E2DF22092043}" dt="2026-06-14T23:26:34.542" v="3733" actId="478"/>
          <ac:spMkLst>
            <pc:docMk/>
            <pc:sldMk cId="849413470" sldId="937"/>
            <ac:spMk id="8" creationId="{A86826C3-E858-3164-8A03-DEF0954914BF}"/>
          </ac:spMkLst>
        </pc:spChg>
        <pc:spChg chg="del">
          <ac:chgData name="Sandrah Proctor Eckel" userId="3da613be-abf7-494f-ade5-472bd409fa83" providerId="ADAL" clId="{B685EEE8-5C68-4F07-86E8-E2DF22092043}" dt="2026-06-14T23:26:36.909" v="3735" actId="478"/>
          <ac:spMkLst>
            <pc:docMk/>
            <pc:sldMk cId="849413470" sldId="937"/>
            <ac:spMk id="10" creationId="{913DF961-BED1-7DE2-71AF-229387DDCDD8}"/>
          </ac:spMkLst>
        </pc:spChg>
        <pc:picChg chg="del">
          <ac:chgData name="Sandrah Proctor Eckel" userId="3da613be-abf7-494f-ade5-472bd409fa83" providerId="ADAL" clId="{B685EEE8-5C68-4F07-86E8-E2DF22092043}" dt="2026-06-14T23:26:33.096" v="3732" actId="478"/>
          <ac:picMkLst>
            <pc:docMk/>
            <pc:sldMk cId="849413470" sldId="937"/>
            <ac:picMk id="5" creationId="{63D05428-66C9-2AD5-A7CB-1B3434A68540}"/>
          </ac:picMkLst>
        </pc:picChg>
        <pc:picChg chg="del">
          <ac:chgData name="Sandrah Proctor Eckel" userId="3da613be-abf7-494f-ade5-472bd409fa83" providerId="ADAL" clId="{B685EEE8-5C68-4F07-86E8-E2DF22092043}" dt="2026-06-14T23:26:34.910" v="3734" actId="478"/>
          <ac:picMkLst>
            <pc:docMk/>
            <pc:sldMk cId="849413470" sldId="937"/>
            <ac:picMk id="6" creationId="{AF3DD826-B26E-93D1-7752-7D1DEC4F164B}"/>
          </ac:picMkLst>
        </pc:picChg>
        <pc:picChg chg="add mod">
          <ac:chgData name="Sandrah Proctor Eckel" userId="3da613be-abf7-494f-ade5-472bd409fa83" providerId="ADAL" clId="{B685EEE8-5C68-4F07-86E8-E2DF22092043}" dt="2026-06-14T23:34:28.436" v="3905" actId="1076"/>
          <ac:picMkLst>
            <pc:docMk/>
            <pc:sldMk cId="849413470" sldId="937"/>
            <ac:picMk id="9" creationId="{654F506A-958F-D00F-D151-4E55141BD297}"/>
          </ac:picMkLst>
        </pc:picChg>
        <pc:picChg chg="del">
          <ac:chgData name="Sandrah Proctor Eckel" userId="3da613be-abf7-494f-ade5-472bd409fa83" providerId="ADAL" clId="{B685EEE8-5C68-4F07-86E8-E2DF22092043}" dt="2026-06-14T23:26:37.894" v="3736" actId="478"/>
          <ac:picMkLst>
            <pc:docMk/>
            <pc:sldMk cId="849413470" sldId="937"/>
            <ac:picMk id="1026" creationId="{F05454B8-75AE-79B0-4958-3BA4E23F2E60}"/>
          </ac:picMkLst>
        </pc:picChg>
      </pc:sldChg>
      <pc:sldChg chg="addSp delSp modSp new mod">
        <pc:chgData name="Sandrah Proctor Eckel" userId="3da613be-abf7-494f-ade5-472bd409fa83" providerId="ADAL" clId="{B685EEE8-5C68-4F07-86E8-E2DF22092043}" dt="2026-06-14T22:45:33.814" v="1009" actId="14100"/>
        <pc:sldMkLst>
          <pc:docMk/>
          <pc:sldMk cId="1164661164" sldId="940"/>
        </pc:sldMkLst>
        <pc:spChg chg="mod">
          <ac:chgData name="Sandrah Proctor Eckel" userId="3da613be-abf7-494f-ade5-472bd409fa83" providerId="ADAL" clId="{B685EEE8-5C68-4F07-86E8-E2DF22092043}" dt="2026-06-14T22:45:33.814" v="1009" actId="14100"/>
          <ac:spMkLst>
            <pc:docMk/>
            <pc:sldMk cId="1164661164" sldId="940"/>
            <ac:spMk id="2" creationId="{9C74EDF1-9650-4D45-1E36-2881528B4B8B}"/>
          </ac:spMkLst>
        </pc:spChg>
        <pc:spChg chg="del">
          <ac:chgData name="Sandrah Proctor Eckel" userId="3da613be-abf7-494f-ade5-472bd409fa83" providerId="ADAL" clId="{B685EEE8-5C68-4F07-86E8-E2DF22092043}" dt="2026-06-14T22:36:25.742" v="730" actId="478"/>
          <ac:spMkLst>
            <pc:docMk/>
            <pc:sldMk cId="1164661164" sldId="940"/>
            <ac:spMk id="3" creationId="{B0FEE96F-B343-DA80-0E39-56498D557171}"/>
          </ac:spMkLst>
        </pc:spChg>
        <pc:spChg chg="add mod">
          <ac:chgData name="Sandrah Proctor Eckel" userId="3da613be-abf7-494f-ade5-472bd409fa83" providerId="ADAL" clId="{B685EEE8-5C68-4F07-86E8-E2DF22092043}" dt="2026-06-14T22:35:57.343" v="727" actId="1076"/>
          <ac:spMkLst>
            <pc:docMk/>
            <pc:sldMk cId="1164661164" sldId="940"/>
            <ac:spMk id="5" creationId="{A7446D64-1217-E2D6-47C1-830C8A6224BD}"/>
          </ac:spMkLst>
        </pc:spChg>
        <pc:spChg chg="add mod">
          <ac:chgData name="Sandrah Proctor Eckel" userId="3da613be-abf7-494f-ade5-472bd409fa83" providerId="ADAL" clId="{B685EEE8-5C68-4F07-86E8-E2DF22092043}" dt="2026-06-14T22:45:09.216" v="1006" actId="20577"/>
          <ac:spMkLst>
            <pc:docMk/>
            <pc:sldMk cId="1164661164" sldId="940"/>
            <ac:spMk id="7" creationId="{7D4F1E0D-872A-5B0B-CD57-5B36A86FD892}"/>
          </ac:spMkLst>
        </pc:spChg>
        <pc:spChg chg="add">
          <ac:chgData name="Sandrah Proctor Eckel" userId="3da613be-abf7-494f-ade5-472bd409fa83" providerId="ADAL" clId="{B685EEE8-5C68-4F07-86E8-E2DF22092043}" dt="2026-06-14T22:43:27.136" v="957"/>
          <ac:spMkLst>
            <pc:docMk/>
            <pc:sldMk cId="1164661164" sldId="940"/>
            <ac:spMk id="10" creationId="{6019ADE2-016B-BAA4-54A9-5B0CBCBF74A4}"/>
          </ac:spMkLst>
        </pc:spChg>
        <pc:picChg chg="add mod modCrop">
          <ac:chgData name="Sandrah Proctor Eckel" userId="3da613be-abf7-494f-ade5-472bd409fa83" providerId="ADAL" clId="{B685EEE8-5C68-4F07-86E8-E2DF22092043}" dt="2026-06-14T22:45:30.035" v="1008" actId="1076"/>
          <ac:picMkLst>
            <pc:docMk/>
            <pc:sldMk cId="1164661164" sldId="940"/>
            <ac:picMk id="9" creationId="{05BF9CD9-AE47-9ABC-764E-9D793D17F67D}"/>
          </ac:picMkLst>
        </pc:picChg>
      </pc:sldChg>
      <pc:sldChg chg="addSp delSp modSp new mod">
        <pc:chgData name="Sandrah Proctor Eckel" userId="3da613be-abf7-494f-ade5-472bd409fa83" providerId="ADAL" clId="{B685EEE8-5C68-4F07-86E8-E2DF22092043}" dt="2026-06-14T22:41:14.645" v="900" actId="20577"/>
        <pc:sldMkLst>
          <pc:docMk/>
          <pc:sldMk cId="545675240" sldId="941"/>
        </pc:sldMkLst>
        <pc:spChg chg="mod">
          <ac:chgData name="Sandrah Proctor Eckel" userId="3da613be-abf7-494f-ade5-472bd409fa83" providerId="ADAL" clId="{B685EEE8-5C68-4F07-86E8-E2DF22092043}" dt="2026-06-14T22:41:14.645" v="900" actId="20577"/>
          <ac:spMkLst>
            <pc:docMk/>
            <pc:sldMk cId="545675240" sldId="941"/>
            <ac:spMk id="2" creationId="{ED3DA62B-E2F0-2EBA-2115-1B4117845F20}"/>
          </ac:spMkLst>
        </pc:spChg>
        <pc:spChg chg="del mod">
          <ac:chgData name="Sandrah Proctor Eckel" userId="3da613be-abf7-494f-ade5-472bd409fa83" providerId="ADAL" clId="{B685EEE8-5C68-4F07-86E8-E2DF22092043}" dt="2026-06-14T22:40:58.478" v="894" actId="478"/>
          <ac:spMkLst>
            <pc:docMk/>
            <pc:sldMk cId="545675240" sldId="941"/>
            <ac:spMk id="3" creationId="{DABFC384-7A9A-0C78-C8D2-EFBE91B7093A}"/>
          </ac:spMkLst>
        </pc:spChg>
        <pc:picChg chg="add mod modCrop">
          <ac:chgData name="Sandrah Proctor Eckel" userId="3da613be-abf7-494f-ade5-472bd409fa83" providerId="ADAL" clId="{B685EEE8-5C68-4F07-86E8-E2DF22092043}" dt="2026-06-14T22:41:09.757" v="896" actId="1076"/>
          <ac:picMkLst>
            <pc:docMk/>
            <pc:sldMk cId="545675240" sldId="941"/>
            <ac:picMk id="5" creationId="{34B0435F-D163-31AE-054F-A4D8AE76E907}"/>
          </ac:picMkLst>
        </pc:picChg>
      </pc:sldChg>
      <pc:sldChg chg="addSp delSp modSp new mod modAnim">
        <pc:chgData name="Sandrah Proctor Eckel" userId="3da613be-abf7-494f-ade5-472bd409fa83" providerId="ADAL" clId="{B685EEE8-5C68-4F07-86E8-E2DF22092043}" dt="2026-06-14T23:26:00.666" v="3709"/>
        <pc:sldMkLst>
          <pc:docMk/>
          <pc:sldMk cId="1145221631" sldId="942"/>
        </pc:sldMkLst>
        <pc:spChg chg="mod">
          <ac:chgData name="Sandrah Proctor Eckel" userId="3da613be-abf7-494f-ade5-472bd409fa83" providerId="ADAL" clId="{B685EEE8-5C68-4F07-86E8-E2DF22092043}" dt="2026-06-14T22:57:21.234" v="1899" actId="20577"/>
          <ac:spMkLst>
            <pc:docMk/>
            <pc:sldMk cId="1145221631" sldId="942"/>
            <ac:spMk id="2" creationId="{CA35349B-54E9-1B95-1B57-86C552F026B6}"/>
          </ac:spMkLst>
        </pc:spChg>
        <pc:spChg chg="mod">
          <ac:chgData name="Sandrah Proctor Eckel" userId="3da613be-abf7-494f-ade5-472bd409fa83" providerId="ADAL" clId="{B685EEE8-5C68-4F07-86E8-E2DF22092043}" dt="2026-06-14T23:06:31.574" v="2344" actId="20577"/>
          <ac:spMkLst>
            <pc:docMk/>
            <pc:sldMk cId="1145221631" sldId="942"/>
            <ac:spMk id="3" creationId="{9E6A4549-1C3E-627E-5368-39DAF2034F32}"/>
          </ac:spMkLst>
        </pc:spChg>
        <pc:spChg chg="add del mod">
          <ac:chgData name="Sandrah Proctor Eckel" userId="3da613be-abf7-494f-ade5-472bd409fa83" providerId="ADAL" clId="{B685EEE8-5C68-4F07-86E8-E2DF22092043}" dt="2026-06-14T23:01:44.690" v="2244" actId="478"/>
          <ac:spMkLst>
            <pc:docMk/>
            <pc:sldMk cId="1145221631" sldId="942"/>
            <ac:spMk id="7" creationId="{186D73DC-F2C2-5B75-B69A-AB9AD6657D90}"/>
          </ac:spMkLst>
        </pc:spChg>
        <pc:picChg chg="add mod modCrop">
          <ac:chgData name="Sandrah Proctor Eckel" userId="3da613be-abf7-494f-ade5-472bd409fa83" providerId="ADAL" clId="{B685EEE8-5C68-4F07-86E8-E2DF22092043}" dt="2026-06-14T23:02:24.121" v="2257" actId="1076"/>
          <ac:picMkLst>
            <pc:docMk/>
            <pc:sldMk cId="1145221631" sldId="942"/>
            <ac:picMk id="5" creationId="{3DB82D11-6F56-DC1F-F4F0-A338E380C0E9}"/>
          </ac:picMkLst>
        </pc:picChg>
        <pc:picChg chg="add mod modCrop">
          <ac:chgData name="Sandrah Proctor Eckel" userId="3da613be-abf7-494f-ade5-472bd409fa83" providerId="ADAL" clId="{B685EEE8-5C68-4F07-86E8-E2DF22092043}" dt="2026-06-14T23:05:12.826" v="2333" actId="1076"/>
          <ac:picMkLst>
            <pc:docMk/>
            <pc:sldMk cId="1145221631" sldId="942"/>
            <ac:picMk id="9" creationId="{96EF0C75-570A-E1AF-46A7-A789E93BEA0E}"/>
          </ac:picMkLst>
        </pc:picChg>
        <pc:picChg chg="add mod modCrop">
          <ac:chgData name="Sandrah Proctor Eckel" userId="3da613be-abf7-494f-ade5-472bd409fa83" providerId="ADAL" clId="{B685EEE8-5C68-4F07-86E8-E2DF22092043}" dt="2026-06-14T23:06:45.596" v="2346" actId="1076"/>
          <ac:picMkLst>
            <pc:docMk/>
            <pc:sldMk cId="1145221631" sldId="942"/>
            <ac:picMk id="11" creationId="{EE93F6E8-838F-BFDA-BBE2-D1B58A32C510}"/>
          </ac:picMkLst>
        </pc:picChg>
      </pc:sldChg>
      <pc:sldChg chg="addSp modSp new mod ord">
        <pc:chgData name="Sandrah Proctor Eckel" userId="3da613be-abf7-494f-ade5-472bd409fa83" providerId="ADAL" clId="{B685EEE8-5C68-4F07-86E8-E2DF22092043}" dt="2026-06-14T23:10:23.276" v="2661"/>
        <pc:sldMkLst>
          <pc:docMk/>
          <pc:sldMk cId="1896209750" sldId="943"/>
        </pc:sldMkLst>
        <pc:spChg chg="mod">
          <ac:chgData name="Sandrah Proctor Eckel" userId="3da613be-abf7-494f-ade5-472bd409fa83" providerId="ADAL" clId="{B685EEE8-5C68-4F07-86E8-E2DF22092043}" dt="2026-06-14T22:49:01.055" v="1141" actId="113"/>
          <ac:spMkLst>
            <pc:docMk/>
            <pc:sldMk cId="1896209750" sldId="943"/>
            <ac:spMk id="2" creationId="{38798A6E-CA08-61F2-19BD-F24FB514E1E9}"/>
          </ac:spMkLst>
        </pc:spChg>
        <pc:picChg chg="add mod">
          <ac:chgData name="Sandrah Proctor Eckel" userId="3da613be-abf7-494f-ade5-472bd409fa83" providerId="ADAL" clId="{B685EEE8-5C68-4F07-86E8-E2DF22092043}" dt="2026-06-14T22:48:54.315" v="1139" actId="1076"/>
          <ac:picMkLst>
            <pc:docMk/>
            <pc:sldMk cId="1896209750" sldId="943"/>
            <ac:picMk id="5" creationId="{BFF49F83-C893-F6F3-9C62-C3D4AA0655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A85C7D-B6E2-45F9-9143-E22EC5D86371}"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9C615-57D3-41E5-8D71-CFA01CB05A09}" type="slidenum">
              <a:rPr lang="en-US" smtClean="0"/>
              <a:t>‹#›</a:t>
            </a:fld>
            <a:endParaRPr lang="en-US"/>
          </a:p>
        </p:txBody>
      </p:sp>
    </p:spTree>
    <p:extLst>
      <p:ext uri="{BB962C8B-B14F-4D97-AF65-F5344CB8AC3E}">
        <p14:creationId xmlns:p14="http://schemas.microsoft.com/office/powerpoint/2010/main" val="986634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GIF source: https://giphy.com/gifs/illustration-cartoon-J43yvW6uFabIpBBsPO</a:t>
            </a:r>
          </a:p>
        </p:txBody>
      </p:sp>
      <p:sp>
        <p:nvSpPr>
          <p:cNvPr id="4" name="Slide Number Placeholder 3"/>
          <p:cNvSpPr>
            <a:spLocks noGrp="1"/>
          </p:cNvSpPr>
          <p:nvPr>
            <p:ph type="sldNum" sz="quarter" idx="5"/>
          </p:nvPr>
        </p:nvSpPr>
        <p:spPr/>
        <p:txBody>
          <a:bodyPr/>
          <a:lstStyle/>
          <a:p>
            <a:fld id="{5CA9C615-57D3-41E5-8D71-CFA01CB05A09}" type="slidenum">
              <a:rPr lang="en-US" smtClean="0"/>
              <a:t>1</a:t>
            </a:fld>
            <a:endParaRPr lang="en-US"/>
          </a:p>
        </p:txBody>
      </p:sp>
    </p:spTree>
    <p:extLst>
      <p:ext uri="{BB962C8B-B14F-4D97-AF65-F5344CB8AC3E}">
        <p14:creationId xmlns:p14="http://schemas.microsoft.com/office/powerpoint/2010/main" val="2611676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091DD8-DE14-2A43-A772-2ECED6565E3E}" type="slidenum">
              <a:rPr lang="en-US" smtClean="0"/>
              <a:t>8</a:t>
            </a:fld>
            <a:endParaRPr lang="en-US"/>
          </a:p>
        </p:txBody>
      </p:sp>
    </p:spTree>
    <p:extLst>
      <p:ext uri="{BB962C8B-B14F-4D97-AF65-F5344CB8AC3E}">
        <p14:creationId xmlns:p14="http://schemas.microsoft.com/office/powerpoint/2010/main" val="3115014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F1E0-A0F8-DE66-E2B2-E9F100F80D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16B0F2-4F6C-CFC4-E963-1CA7EA6F69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278F92-AEEC-0BBE-644A-0587E060D031}"/>
              </a:ext>
            </a:extLst>
          </p:cNvPr>
          <p:cNvSpPr>
            <a:spLocks noGrp="1"/>
          </p:cNvSpPr>
          <p:nvPr>
            <p:ph type="dt" sz="half" idx="10"/>
          </p:nvPr>
        </p:nvSpPr>
        <p:spPr/>
        <p:txBody>
          <a:bodyPr/>
          <a:lstStyle/>
          <a:p>
            <a:fld id="{2796FED3-71E3-4888-A125-35A56D0215B4}" type="datetime1">
              <a:rPr lang="en-US" smtClean="0"/>
              <a:t>6/14/2026</a:t>
            </a:fld>
            <a:endParaRPr lang="en-US"/>
          </a:p>
        </p:txBody>
      </p:sp>
      <p:sp>
        <p:nvSpPr>
          <p:cNvPr id="5" name="Footer Placeholder 4">
            <a:extLst>
              <a:ext uri="{FF2B5EF4-FFF2-40B4-BE49-F238E27FC236}">
                <a16:creationId xmlns:a16="http://schemas.microsoft.com/office/drawing/2014/main" id="{B70EC8E5-ECC7-0E18-2E0F-5C675EBB8D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54E07-D81E-6C8A-301B-8A22E50EE212}"/>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295655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A7D7-68F8-B023-1E31-A6EADE816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A565F2-CAB6-8AF0-7E2F-A872267C04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8E7C4-8497-0D21-88AC-0DAC85BA9DAA}"/>
              </a:ext>
            </a:extLst>
          </p:cNvPr>
          <p:cNvSpPr>
            <a:spLocks noGrp="1"/>
          </p:cNvSpPr>
          <p:nvPr>
            <p:ph type="dt" sz="half" idx="10"/>
          </p:nvPr>
        </p:nvSpPr>
        <p:spPr/>
        <p:txBody>
          <a:bodyPr/>
          <a:lstStyle/>
          <a:p>
            <a:fld id="{ED0A8F69-E2F0-4E1B-947A-C8B682EB10B7}" type="datetime1">
              <a:rPr lang="en-US" smtClean="0"/>
              <a:t>6/14/2026</a:t>
            </a:fld>
            <a:endParaRPr lang="en-US"/>
          </a:p>
        </p:txBody>
      </p:sp>
      <p:sp>
        <p:nvSpPr>
          <p:cNvPr id="5" name="Footer Placeholder 4">
            <a:extLst>
              <a:ext uri="{FF2B5EF4-FFF2-40B4-BE49-F238E27FC236}">
                <a16:creationId xmlns:a16="http://schemas.microsoft.com/office/drawing/2014/main" id="{08FA9E8A-8867-85A9-8273-7E9E8293B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83F327-D727-3459-4A41-F4AA86BDD8BD}"/>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424854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9181-4177-EFC1-D3FD-20626E5F8F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009D9D-6B07-5E87-F6B6-39BBC58C6F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3DEC0E-CC06-EAFB-1ACF-07498200B1FC}"/>
              </a:ext>
            </a:extLst>
          </p:cNvPr>
          <p:cNvSpPr>
            <a:spLocks noGrp="1"/>
          </p:cNvSpPr>
          <p:nvPr>
            <p:ph type="dt" sz="half" idx="10"/>
          </p:nvPr>
        </p:nvSpPr>
        <p:spPr/>
        <p:txBody>
          <a:bodyPr/>
          <a:lstStyle/>
          <a:p>
            <a:fld id="{73CC7E14-E855-458D-9E94-E98D2DE4C7EA}" type="datetime1">
              <a:rPr lang="en-US" smtClean="0"/>
              <a:t>6/14/2026</a:t>
            </a:fld>
            <a:endParaRPr lang="en-US"/>
          </a:p>
        </p:txBody>
      </p:sp>
      <p:sp>
        <p:nvSpPr>
          <p:cNvPr id="5" name="Footer Placeholder 4">
            <a:extLst>
              <a:ext uri="{FF2B5EF4-FFF2-40B4-BE49-F238E27FC236}">
                <a16:creationId xmlns:a16="http://schemas.microsoft.com/office/drawing/2014/main" id="{A34F9EE9-4366-A5D1-D02F-D96D7C6AB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C46A54-27A5-443F-CA69-8B83C6B6BA84}"/>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772254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74187-BC1F-0CA6-82F4-17F039DDAC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0594EB-0644-D9EB-A40A-197CC9E2F0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A5C20C-8305-3894-D968-4205611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5BE0BC-CAB3-743D-1375-9434F7204116}"/>
              </a:ext>
            </a:extLst>
          </p:cNvPr>
          <p:cNvSpPr>
            <a:spLocks noGrp="1"/>
          </p:cNvSpPr>
          <p:nvPr>
            <p:ph type="dt" sz="half" idx="10"/>
          </p:nvPr>
        </p:nvSpPr>
        <p:spPr/>
        <p:txBody>
          <a:bodyPr/>
          <a:lstStyle/>
          <a:p>
            <a:fld id="{7024FBBA-640C-4A37-ABC3-25C5D056E5E2}" type="datetime1">
              <a:rPr lang="en-US" smtClean="0"/>
              <a:t>6/14/2026</a:t>
            </a:fld>
            <a:endParaRPr lang="en-US"/>
          </a:p>
        </p:txBody>
      </p:sp>
      <p:sp>
        <p:nvSpPr>
          <p:cNvPr id="6" name="Footer Placeholder 5">
            <a:extLst>
              <a:ext uri="{FF2B5EF4-FFF2-40B4-BE49-F238E27FC236}">
                <a16:creationId xmlns:a16="http://schemas.microsoft.com/office/drawing/2014/main" id="{82C7D388-29C3-B0B1-2C2E-6561AD4E7B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993AE2-8A84-2B24-F553-F0D57B40F576}"/>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3643001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F0DA7-3E3C-3574-A982-B8F59CD723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F365B4-4A31-A5B4-CE38-752E6727E0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5C4CF-C7A6-EDFB-3C00-4BB34A3F27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29759F-7BD8-CAEC-74B9-5397205679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3547C1-D4FE-29F8-B35A-7E65E5F81E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51A736-4A00-F9B5-7328-2DC847FB424B}"/>
              </a:ext>
            </a:extLst>
          </p:cNvPr>
          <p:cNvSpPr>
            <a:spLocks noGrp="1"/>
          </p:cNvSpPr>
          <p:nvPr>
            <p:ph type="dt" sz="half" idx="10"/>
          </p:nvPr>
        </p:nvSpPr>
        <p:spPr/>
        <p:txBody>
          <a:bodyPr/>
          <a:lstStyle/>
          <a:p>
            <a:fld id="{C47651C2-7595-4A94-BD48-D04DDE306099}" type="datetime1">
              <a:rPr lang="en-US" smtClean="0"/>
              <a:t>6/14/2026</a:t>
            </a:fld>
            <a:endParaRPr lang="en-US"/>
          </a:p>
        </p:txBody>
      </p:sp>
      <p:sp>
        <p:nvSpPr>
          <p:cNvPr id="8" name="Footer Placeholder 7">
            <a:extLst>
              <a:ext uri="{FF2B5EF4-FFF2-40B4-BE49-F238E27FC236}">
                <a16:creationId xmlns:a16="http://schemas.microsoft.com/office/drawing/2014/main" id="{73A29605-7CDE-401C-927C-877BFE8D65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C5F5C7-F6DB-53BB-7168-5FCF888DCF52}"/>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2887004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1DD5-269B-AAB3-27A0-00922E196D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A2B373-17C4-4D0E-E9F2-5CCA9642CE0F}"/>
              </a:ext>
            </a:extLst>
          </p:cNvPr>
          <p:cNvSpPr>
            <a:spLocks noGrp="1"/>
          </p:cNvSpPr>
          <p:nvPr>
            <p:ph type="dt" sz="half" idx="10"/>
          </p:nvPr>
        </p:nvSpPr>
        <p:spPr/>
        <p:txBody>
          <a:bodyPr/>
          <a:lstStyle/>
          <a:p>
            <a:fld id="{53FA52EC-B128-490E-A6A1-7DFF1B6BA941}" type="datetime1">
              <a:rPr lang="en-US" smtClean="0"/>
              <a:t>6/14/2026</a:t>
            </a:fld>
            <a:endParaRPr lang="en-US"/>
          </a:p>
        </p:txBody>
      </p:sp>
      <p:sp>
        <p:nvSpPr>
          <p:cNvPr id="4" name="Footer Placeholder 3">
            <a:extLst>
              <a:ext uri="{FF2B5EF4-FFF2-40B4-BE49-F238E27FC236}">
                <a16:creationId xmlns:a16="http://schemas.microsoft.com/office/drawing/2014/main" id="{1E0280AF-FB48-0E97-EABB-5AAC94E628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86CD9B-E7B0-246E-9B71-98B0DC09D29D}"/>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2240260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026B50-FC36-254A-E8F0-15F069961316}"/>
              </a:ext>
            </a:extLst>
          </p:cNvPr>
          <p:cNvSpPr>
            <a:spLocks noGrp="1"/>
          </p:cNvSpPr>
          <p:nvPr>
            <p:ph type="dt" sz="half" idx="10"/>
          </p:nvPr>
        </p:nvSpPr>
        <p:spPr/>
        <p:txBody>
          <a:bodyPr/>
          <a:lstStyle/>
          <a:p>
            <a:fld id="{3E76A24B-124F-4174-AAEF-3B367DEF64FA}" type="datetime1">
              <a:rPr lang="en-US" smtClean="0"/>
              <a:t>6/14/2026</a:t>
            </a:fld>
            <a:endParaRPr lang="en-US"/>
          </a:p>
        </p:txBody>
      </p:sp>
      <p:sp>
        <p:nvSpPr>
          <p:cNvPr id="3" name="Footer Placeholder 2">
            <a:extLst>
              <a:ext uri="{FF2B5EF4-FFF2-40B4-BE49-F238E27FC236}">
                <a16:creationId xmlns:a16="http://schemas.microsoft.com/office/drawing/2014/main" id="{E05F8AAE-5BF3-F980-1304-8E7903728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D555EC-6BA7-ED43-D001-67E5999722FD}"/>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1451025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0F8E6-7E73-83FA-E8B2-B72CC3CC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0B4CE3-13D8-1BB9-BA50-DF7F16798B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FA92E2-031B-C2BD-A883-C946F94587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8EA12-61E2-5D0A-9ED8-2BCD018B0E24}"/>
              </a:ext>
            </a:extLst>
          </p:cNvPr>
          <p:cNvSpPr>
            <a:spLocks noGrp="1"/>
          </p:cNvSpPr>
          <p:nvPr>
            <p:ph type="dt" sz="half" idx="10"/>
          </p:nvPr>
        </p:nvSpPr>
        <p:spPr/>
        <p:txBody>
          <a:bodyPr/>
          <a:lstStyle/>
          <a:p>
            <a:fld id="{3FFD101C-CC8C-4DFF-A5DE-29B0BC0E2787}" type="datetime1">
              <a:rPr lang="en-US" smtClean="0"/>
              <a:t>6/14/2026</a:t>
            </a:fld>
            <a:endParaRPr lang="en-US"/>
          </a:p>
        </p:txBody>
      </p:sp>
      <p:sp>
        <p:nvSpPr>
          <p:cNvPr id="6" name="Footer Placeholder 5">
            <a:extLst>
              <a:ext uri="{FF2B5EF4-FFF2-40B4-BE49-F238E27FC236}">
                <a16:creationId xmlns:a16="http://schemas.microsoft.com/office/drawing/2014/main" id="{96B67B4E-D71E-1633-79E3-F009E281AD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E96E34-C793-5152-377C-BAEFDFA66BFB}"/>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7097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29294-36A3-86E4-3C14-1040D3920A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F44878-F509-CBEE-5926-8844C85049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1FEF14-2124-8622-2900-A3914CE4A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BA6FF8-FEA6-AFC6-004F-D575AF24C7BF}"/>
              </a:ext>
            </a:extLst>
          </p:cNvPr>
          <p:cNvSpPr>
            <a:spLocks noGrp="1"/>
          </p:cNvSpPr>
          <p:nvPr>
            <p:ph type="dt" sz="half" idx="10"/>
          </p:nvPr>
        </p:nvSpPr>
        <p:spPr/>
        <p:txBody>
          <a:bodyPr/>
          <a:lstStyle/>
          <a:p>
            <a:fld id="{48AAD59F-EF71-48EB-9982-C6C9996D7890}" type="datetime1">
              <a:rPr lang="en-US" smtClean="0"/>
              <a:t>6/14/2026</a:t>
            </a:fld>
            <a:endParaRPr lang="en-US"/>
          </a:p>
        </p:txBody>
      </p:sp>
      <p:sp>
        <p:nvSpPr>
          <p:cNvPr id="6" name="Footer Placeholder 5">
            <a:extLst>
              <a:ext uri="{FF2B5EF4-FFF2-40B4-BE49-F238E27FC236}">
                <a16:creationId xmlns:a16="http://schemas.microsoft.com/office/drawing/2014/main" id="{3EDCC396-2158-F69C-0880-D770652CFF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926014-2F72-37D1-C33C-F7FBE8D0C1F8}"/>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2367149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FF996-1F9B-8319-345E-09D2A51BA2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B735F2-5793-7155-3ECC-D48F1C95B1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1C6F1F-F19F-F4A9-0447-39F7253097B6}"/>
              </a:ext>
            </a:extLst>
          </p:cNvPr>
          <p:cNvSpPr>
            <a:spLocks noGrp="1"/>
          </p:cNvSpPr>
          <p:nvPr>
            <p:ph type="dt" sz="half" idx="10"/>
          </p:nvPr>
        </p:nvSpPr>
        <p:spPr/>
        <p:txBody>
          <a:bodyPr/>
          <a:lstStyle/>
          <a:p>
            <a:fld id="{35739EBC-054F-4727-BE51-52A62693B23E}" type="datetime1">
              <a:rPr lang="en-US" smtClean="0"/>
              <a:t>6/14/2026</a:t>
            </a:fld>
            <a:endParaRPr lang="en-US"/>
          </a:p>
        </p:txBody>
      </p:sp>
      <p:sp>
        <p:nvSpPr>
          <p:cNvPr id="5" name="Footer Placeholder 4">
            <a:extLst>
              <a:ext uri="{FF2B5EF4-FFF2-40B4-BE49-F238E27FC236}">
                <a16:creationId xmlns:a16="http://schemas.microsoft.com/office/drawing/2014/main" id="{8EFA0EC6-B2A9-936E-0182-5E66CE2342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66AB9-C313-46FC-F183-7EB47C3F435D}"/>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3604169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2BF908-E9F1-66BD-FA70-13E330BE6C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8ED6C6-0D52-05A4-0415-EE088DFE37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1FD0DB-8A29-5AAD-97D8-884FC6C28587}"/>
              </a:ext>
            </a:extLst>
          </p:cNvPr>
          <p:cNvSpPr>
            <a:spLocks noGrp="1"/>
          </p:cNvSpPr>
          <p:nvPr>
            <p:ph type="dt" sz="half" idx="10"/>
          </p:nvPr>
        </p:nvSpPr>
        <p:spPr/>
        <p:txBody>
          <a:bodyPr/>
          <a:lstStyle/>
          <a:p>
            <a:fld id="{EB12EA89-01B4-4008-8F0B-60FA0434D835}" type="datetime1">
              <a:rPr lang="en-US" smtClean="0"/>
              <a:t>6/14/2026</a:t>
            </a:fld>
            <a:endParaRPr lang="en-US"/>
          </a:p>
        </p:txBody>
      </p:sp>
      <p:sp>
        <p:nvSpPr>
          <p:cNvPr id="5" name="Footer Placeholder 4">
            <a:extLst>
              <a:ext uri="{FF2B5EF4-FFF2-40B4-BE49-F238E27FC236}">
                <a16:creationId xmlns:a16="http://schemas.microsoft.com/office/drawing/2014/main" id="{D4CD4E5A-4418-18FA-8D0E-41C0D214E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2DC0D2-A42A-F0C0-3F37-E2A5F4F7D5E5}"/>
              </a:ext>
            </a:extLst>
          </p:cNvPr>
          <p:cNvSpPr>
            <a:spLocks noGrp="1"/>
          </p:cNvSpPr>
          <p:nvPr>
            <p:ph type="sldNum" sz="quarter" idx="12"/>
          </p:nvPr>
        </p:nvSpPr>
        <p:spPr/>
        <p:txBody>
          <a:bodyPr/>
          <a:lstStyle/>
          <a:p>
            <a:fld id="{498130D5-B71B-4C87-8604-34CD1DC58366}" type="slidenum">
              <a:rPr lang="en-US" smtClean="0"/>
              <a:t>‹#›</a:t>
            </a:fld>
            <a:endParaRPr lang="en-US"/>
          </a:p>
        </p:txBody>
      </p:sp>
    </p:spTree>
    <p:extLst>
      <p:ext uri="{BB962C8B-B14F-4D97-AF65-F5344CB8AC3E}">
        <p14:creationId xmlns:p14="http://schemas.microsoft.com/office/powerpoint/2010/main" val="54618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08C09-3982-163B-95CA-1E353897B6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0ECAB9-05D8-70F4-0657-47CEE02697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EFDD9D-011C-CCF1-ECE9-14446C8508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A0FD0B-ED89-4F0A-B817-2B3D26C9B9D0}" type="datetime1">
              <a:rPr lang="en-US" smtClean="0"/>
              <a:t>6/14/2026</a:t>
            </a:fld>
            <a:endParaRPr lang="en-US"/>
          </a:p>
        </p:txBody>
      </p:sp>
      <p:sp>
        <p:nvSpPr>
          <p:cNvPr id="5" name="Footer Placeholder 4">
            <a:extLst>
              <a:ext uri="{FF2B5EF4-FFF2-40B4-BE49-F238E27FC236}">
                <a16:creationId xmlns:a16="http://schemas.microsoft.com/office/drawing/2014/main" id="{B3A80180-DF46-532E-0DE5-FF799DB97E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223CFC-BEF0-9323-3B2F-09245DED14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8130D5-B71B-4C87-8604-34CD1DC58366}" type="slidenum">
              <a:rPr lang="en-US" smtClean="0"/>
              <a:t>‹#›</a:t>
            </a:fld>
            <a:endParaRPr lang="en-US"/>
          </a:p>
        </p:txBody>
      </p:sp>
    </p:spTree>
    <p:extLst>
      <p:ext uri="{BB962C8B-B14F-4D97-AF65-F5344CB8AC3E}">
        <p14:creationId xmlns:p14="http://schemas.microsoft.com/office/powerpoint/2010/main" val="2312080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6.jpeg"/><Relationship Id="rId2" Type="http://schemas.openxmlformats.org/officeDocument/2006/relationships/image" Target="../media/image13.sv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B357C-FE4A-09AA-5949-F9E86CB097EA}"/>
              </a:ext>
            </a:extLst>
          </p:cNvPr>
          <p:cNvSpPr>
            <a:spLocks noGrp="1"/>
          </p:cNvSpPr>
          <p:nvPr>
            <p:ph type="ctrTitle"/>
          </p:nvPr>
        </p:nvSpPr>
        <p:spPr>
          <a:xfrm>
            <a:off x="225357" y="21863"/>
            <a:ext cx="11741286" cy="2546239"/>
          </a:xfrm>
        </p:spPr>
        <p:txBody>
          <a:bodyPr>
            <a:normAutofit fontScale="90000"/>
          </a:bodyPr>
          <a:lstStyle/>
          <a:p>
            <a:r>
              <a:rPr lang="en-US" b="1" dirty="0"/>
              <a:t>Time-Series Analysis of </a:t>
            </a:r>
            <a:br>
              <a:rPr lang="en-US" b="1" dirty="0"/>
            </a:br>
            <a:r>
              <a:rPr lang="en-US" b="1" dirty="0"/>
              <a:t>Heat and Heat-Related </a:t>
            </a:r>
            <a:br>
              <a:rPr lang="en-US" b="1" dirty="0"/>
            </a:br>
            <a:r>
              <a:rPr lang="en-US" b="1" dirty="0"/>
              <a:t>Emergency Department Visits </a:t>
            </a:r>
            <a:endParaRPr lang="en-US" sz="4400" b="1" dirty="0"/>
          </a:p>
        </p:txBody>
      </p:sp>
      <p:sp>
        <p:nvSpPr>
          <p:cNvPr id="3" name="Subtitle 2">
            <a:extLst>
              <a:ext uri="{FF2B5EF4-FFF2-40B4-BE49-F238E27FC236}">
                <a16:creationId xmlns:a16="http://schemas.microsoft.com/office/drawing/2014/main" id="{D1CA6A29-8987-7FC3-62FF-0B25CDED2B38}"/>
              </a:ext>
            </a:extLst>
          </p:cNvPr>
          <p:cNvSpPr>
            <a:spLocks noGrp="1"/>
          </p:cNvSpPr>
          <p:nvPr>
            <p:ph type="subTitle" idx="1"/>
          </p:nvPr>
        </p:nvSpPr>
        <p:spPr>
          <a:xfrm>
            <a:off x="1293091" y="2908120"/>
            <a:ext cx="9144000" cy="1045874"/>
          </a:xfrm>
        </p:spPr>
        <p:txBody>
          <a:bodyPr>
            <a:normAutofit/>
          </a:bodyPr>
          <a:lstStyle/>
          <a:p>
            <a:r>
              <a:rPr lang="en-US" sz="3200" dirty="0"/>
              <a:t>LA’s </a:t>
            </a:r>
            <a:r>
              <a:rPr lang="en-US" sz="3200" dirty="0" err="1"/>
              <a:t>BeST</a:t>
            </a:r>
            <a:r>
              <a:rPr lang="en-US" sz="3200" dirty="0"/>
              <a:t> data analysis project </a:t>
            </a:r>
            <a:br>
              <a:rPr lang="en-US" sz="3200" dirty="0"/>
            </a:br>
            <a:r>
              <a:rPr lang="en-US" sz="3200" dirty="0"/>
              <a:t>Summer 2026</a:t>
            </a:r>
          </a:p>
        </p:txBody>
      </p:sp>
      <p:pic>
        <p:nvPicPr>
          <p:cNvPr id="7" name="Picture 6" descr="A black and red text&#10;&#10;Description automatically generated with low confidence">
            <a:extLst>
              <a:ext uri="{FF2B5EF4-FFF2-40B4-BE49-F238E27FC236}">
                <a16:creationId xmlns:a16="http://schemas.microsoft.com/office/drawing/2014/main" id="{3BEC336F-9916-A3FF-D357-1EEC5F898B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6050" y="4950187"/>
            <a:ext cx="1885950" cy="1885950"/>
          </a:xfrm>
          <a:prstGeom prst="rect">
            <a:avLst/>
          </a:prstGeom>
        </p:spPr>
      </p:pic>
      <p:sp>
        <p:nvSpPr>
          <p:cNvPr id="6" name="TextBox 5">
            <a:extLst>
              <a:ext uri="{FF2B5EF4-FFF2-40B4-BE49-F238E27FC236}">
                <a16:creationId xmlns:a16="http://schemas.microsoft.com/office/drawing/2014/main" id="{ED565599-E352-7A42-BAF1-192846023A40}"/>
              </a:ext>
            </a:extLst>
          </p:cNvPr>
          <p:cNvSpPr txBox="1"/>
          <p:nvPr/>
        </p:nvSpPr>
        <p:spPr>
          <a:xfrm>
            <a:off x="4259960" y="5691472"/>
            <a:ext cx="5661892" cy="830997"/>
          </a:xfrm>
          <a:prstGeom prst="rect">
            <a:avLst/>
          </a:prstGeom>
          <a:noFill/>
        </p:spPr>
        <p:txBody>
          <a:bodyPr wrap="square">
            <a:spAutoFit/>
          </a:bodyPr>
          <a:lstStyle/>
          <a:p>
            <a:r>
              <a:rPr lang="en-US" sz="2400"/>
              <a:t>Erika Garcia, PhD – Environmental Health</a:t>
            </a:r>
          </a:p>
          <a:p>
            <a:r>
              <a:rPr lang="en-US" sz="2400"/>
              <a:t>Sandy Eckel, PhD – Biostatistics</a:t>
            </a:r>
            <a:endParaRPr lang="en-US" sz="2400" dirty="0"/>
          </a:p>
        </p:txBody>
      </p:sp>
      <p:pic>
        <p:nvPicPr>
          <p:cNvPr id="8" name="Picture 2" descr="Erika Garcia">
            <a:extLst>
              <a:ext uri="{FF2B5EF4-FFF2-40B4-BE49-F238E27FC236}">
                <a16:creationId xmlns:a16="http://schemas.microsoft.com/office/drawing/2014/main" id="{31F03FB1-2F80-C01C-87DF-1D30492F4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9180" y="3884978"/>
            <a:ext cx="1354870" cy="18064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D16372CC-88EE-7632-83B5-6C47B90DE8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1939" y="3884978"/>
            <a:ext cx="1354871" cy="180649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6A83F2C6-05EA-2DC9-D569-0D8EA146E8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47" y="3530845"/>
            <a:ext cx="3371850"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7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C942-1FCD-1D77-0407-33F2B1E12A31}"/>
              </a:ext>
            </a:extLst>
          </p:cNvPr>
          <p:cNvSpPr>
            <a:spLocks noGrp="1"/>
          </p:cNvSpPr>
          <p:nvPr>
            <p:ph type="title"/>
          </p:nvPr>
        </p:nvSpPr>
        <p:spPr>
          <a:xfrm>
            <a:off x="838200" y="0"/>
            <a:ext cx="10515600" cy="1325563"/>
          </a:xfrm>
        </p:spPr>
        <p:txBody>
          <a:bodyPr/>
          <a:lstStyle/>
          <a:p>
            <a:r>
              <a:rPr lang="en-US" dirty="0">
                <a:latin typeface="+mn-lt"/>
              </a:rPr>
              <a:t>Sandy Eckel - Background</a:t>
            </a:r>
          </a:p>
        </p:txBody>
      </p:sp>
      <p:sp>
        <p:nvSpPr>
          <p:cNvPr id="3" name="Content Placeholder 2">
            <a:extLst>
              <a:ext uri="{FF2B5EF4-FFF2-40B4-BE49-F238E27FC236}">
                <a16:creationId xmlns:a16="http://schemas.microsoft.com/office/drawing/2014/main" id="{BD4DC97B-FF23-605B-C668-4CE2D78DB8A6}"/>
              </a:ext>
            </a:extLst>
          </p:cNvPr>
          <p:cNvSpPr>
            <a:spLocks noGrp="1"/>
          </p:cNvSpPr>
          <p:nvPr>
            <p:ph idx="1"/>
          </p:nvPr>
        </p:nvSpPr>
        <p:spPr>
          <a:xfrm>
            <a:off x="563776" y="1044004"/>
            <a:ext cx="11241505" cy="5813996"/>
          </a:xfrm>
        </p:spPr>
        <p:txBody>
          <a:bodyPr>
            <a:normAutofit fontScale="85000" lnSpcReduction="20000"/>
          </a:bodyPr>
          <a:lstStyle/>
          <a:p>
            <a:pPr>
              <a:lnSpc>
                <a:spcPct val="107000"/>
              </a:lnSpc>
              <a:spcBef>
                <a:spcPts val="0"/>
              </a:spcBef>
              <a:buFont typeface="Wingdings" panose="05000000000000000000" pitchFamily="2"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Academic journey</a:t>
            </a:r>
          </a:p>
          <a:p>
            <a:pPr lvl="1">
              <a:lnSpc>
                <a:spcPct val="107000"/>
              </a:lnSpc>
              <a:spcBef>
                <a:spcPts val="0"/>
              </a:spcBef>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Vassar College math/French double major</a:t>
            </a:r>
          </a:p>
          <a:p>
            <a:pPr lvl="2">
              <a:lnSpc>
                <a:spcPct val="107000"/>
              </a:lnSpc>
              <a:spcBef>
                <a:spcPts val="0"/>
              </a:spcBef>
              <a:buFont typeface="Wingdings" panose="05000000000000000000" pitchFamily="2"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Junior year abroad in Paris, biostats intern</a:t>
            </a:r>
          </a:p>
          <a:p>
            <a:pPr lvl="2">
              <a:lnSpc>
                <a:spcPct val="107000"/>
              </a:lnSpc>
              <a:spcBef>
                <a:spcPts val="0"/>
              </a:spcBef>
              <a:buFont typeface="Wingdings" panose="05000000000000000000" pitchFamily="2" charset="2"/>
              <a:buChar char=""/>
            </a:pPr>
            <a:r>
              <a:rPr lang="en-US" sz="1600" dirty="0">
                <a:ea typeface="Calibri" panose="020F0502020204030204" pitchFamily="34" charset="0"/>
                <a:cs typeface="Times New Roman" panose="02020603050405020304" pitchFamily="18" charset="0"/>
              </a:rPr>
              <a:t>First learned R in 2003, installed via CD (!) </a:t>
            </a:r>
          </a:p>
          <a:p>
            <a:pPr lvl="1">
              <a:lnSpc>
                <a:spcPct val="107000"/>
              </a:lnSpc>
              <a:spcBef>
                <a:spcPts val="0"/>
              </a:spcBef>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JHSPH Biostatistics PhD</a:t>
            </a:r>
          </a:p>
          <a:p>
            <a:pPr lvl="2">
              <a:lnSpc>
                <a:spcPct val="107000"/>
              </a:lnSpc>
              <a:spcBef>
                <a:spcPts val="0"/>
              </a:spcBef>
              <a:buFont typeface="Wingdings" panose="05000000000000000000" pitchFamily="2" charset="2"/>
              <a:buChar char=""/>
            </a:pPr>
            <a:r>
              <a:rPr lang="en-US" sz="1600" dirty="0">
                <a:ea typeface="Calibri" panose="020F0502020204030204" pitchFamily="34" charset="0"/>
                <a:cs typeface="Times New Roman" panose="02020603050405020304" pitchFamily="18" charset="0"/>
              </a:rPr>
              <a:t>M</a:t>
            </a:r>
            <a:r>
              <a:rPr lang="en-US" sz="1600" dirty="0">
                <a:effectLst/>
                <a:latin typeface="Calibri" panose="020F0502020204030204" pitchFamily="34" charset="0"/>
                <a:ea typeface="Calibri" panose="020F0502020204030204" pitchFamily="34" charset="0"/>
                <a:cs typeface="Times New Roman" panose="02020603050405020304" pitchFamily="18" charset="0"/>
              </a:rPr>
              <a:t>entor: Tom Louis, and worked with: Francesca Domenici, Roger Peng</a:t>
            </a:r>
          </a:p>
          <a:p>
            <a:pPr lvl="2">
              <a:lnSpc>
                <a:spcPct val="107000"/>
              </a:lnSpc>
              <a:spcBef>
                <a:spcPts val="0"/>
              </a:spcBef>
              <a:buFont typeface="Wingdings" panose="05000000000000000000" pitchFamily="2"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Dissertation included work on NMMAPS: multi-site time-series study of air pollution health effects</a:t>
            </a:r>
          </a:p>
          <a:p>
            <a:pPr lvl="1">
              <a:lnSpc>
                <a:spcPct val="107000"/>
              </a:lnSpc>
              <a:spcBef>
                <a:spcPts val="0"/>
              </a:spcBef>
              <a:buFont typeface="Wingdings" panose="05000000000000000000" pitchFamily="2" charset="2"/>
              <a:buChar char=""/>
            </a:pPr>
            <a:r>
              <a:rPr lang="en-US" sz="2000" dirty="0">
                <a:ea typeface="Calibri" panose="020F0502020204030204" pitchFamily="34" charset="0"/>
                <a:cs typeface="Times New Roman" panose="02020603050405020304" pitchFamily="18" charset="0"/>
              </a:rPr>
              <a:t>USC postdoc, mentor: </a:t>
            </a:r>
            <a:r>
              <a:rPr lang="en-US" sz="2000" dirty="0" err="1">
                <a:ea typeface="Calibri" panose="020F0502020204030204" pitchFamily="34" charset="0"/>
                <a:cs typeface="Times New Roman" panose="02020603050405020304" pitchFamily="18" charset="0"/>
              </a:rPr>
              <a:t>Kiros</a:t>
            </a:r>
            <a:r>
              <a:rPr lang="en-US" sz="2000" dirty="0">
                <a:ea typeface="Calibri" panose="020F0502020204030204" pitchFamily="34" charset="0"/>
                <a:cs typeface="Times New Roman" panose="02020603050405020304" pitchFamily="18" charset="0"/>
              </a:rPr>
              <a:t> Berhane</a:t>
            </a:r>
          </a:p>
          <a:p>
            <a:pPr lvl="1">
              <a:lnSpc>
                <a:spcPct val="107000"/>
              </a:lnSpc>
              <a:spcBef>
                <a:spcPts val="0"/>
              </a:spcBef>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USC faculty since 2011 &amp; Director PhD Program in Biostatistics</a:t>
            </a:r>
          </a:p>
          <a:p>
            <a:pPr lvl="2">
              <a:lnSpc>
                <a:spcPct val="107000"/>
              </a:lnSpc>
              <a:spcBef>
                <a:spcPts val="0"/>
              </a:spcBef>
              <a:buFont typeface="Wingdings" panose="05000000000000000000" pitchFamily="2" charset="2"/>
              <a:buChar char=""/>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400" dirty="0"/>
              <a:t>I</a:t>
            </a:r>
            <a:r>
              <a:rPr lang="en-US" sz="2400" dirty="0">
                <a:solidFill>
                  <a:srgbClr val="C00000"/>
                </a:solidFill>
              </a:rPr>
              <a:t> </a:t>
            </a:r>
            <a:r>
              <a:rPr lang="en-US" sz="2400" b="1" i="0" dirty="0">
                <a:solidFill>
                  <a:srgbClr val="C00000"/>
                </a:solidFill>
                <a:effectLst/>
                <a:latin typeface="HelveticaNeue-CondensedBold"/>
              </a:rPr>
              <a:t>❤</a:t>
            </a:r>
            <a:r>
              <a:rPr lang="en-US" sz="2400" dirty="0">
                <a:solidFill>
                  <a:srgbClr val="C00000"/>
                </a:solidFill>
              </a:rPr>
              <a:t>  </a:t>
            </a:r>
            <a:r>
              <a:rPr lang="en-US" sz="2400" dirty="0"/>
              <a:t>teaching data analysis: PM511a (9 years) and PM511c (currently)</a:t>
            </a:r>
          </a:p>
          <a:p>
            <a:pPr>
              <a:lnSpc>
                <a:spcPct val="107000"/>
              </a:lnSpc>
              <a:spcBef>
                <a:spcPts val="0"/>
              </a:spcBef>
              <a:buFont typeface="Wingdings" panose="05000000000000000000" pitchFamily="2" charset="2"/>
              <a:buChar char=""/>
            </a:pPr>
            <a:endParaRPr lang="en-US" sz="2400" dirty="0">
              <a:cs typeface="Times New Roman" panose="02020603050405020304" pitchFamily="18" charset="0"/>
            </a:endParaRPr>
          </a:p>
          <a:p>
            <a:pPr>
              <a:lnSpc>
                <a:spcPct val="107000"/>
              </a:lnSpc>
              <a:spcBef>
                <a:spcPts val="0"/>
              </a:spcBef>
              <a:buFont typeface="Wingdings" panose="05000000000000000000" pitchFamily="2" charset="2"/>
              <a:buChar char=""/>
            </a:pPr>
            <a:r>
              <a:rPr lang="en-US" sz="2400" dirty="0">
                <a:ea typeface="Calibri" panose="020F0502020204030204" pitchFamily="34" charset="0"/>
                <a:cs typeface="Times New Roman" panose="02020603050405020304" pitchFamily="18" charset="0"/>
              </a:rPr>
              <a:t>General research area</a:t>
            </a:r>
            <a:r>
              <a:rPr lang="en-US" sz="2400" dirty="0">
                <a:effectLst/>
                <a:latin typeface="Calibri" panose="020F0502020204030204" pitchFamily="34" charset="0"/>
                <a:ea typeface="Calibri" panose="020F0502020204030204" pitchFamily="34" charset="0"/>
                <a:cs typeface="Times New Roman" panose="02020603050405020304" pitchFamily="18" charset="0"/>
              </a:rPr>
              <a:t>: stats methods and applications for air pollution health effects</a:t>
            </a:r>
          </a:p>
          <a:p>
            <a:pPr>
              <a:lnSpc>
                <a:spcPct val="107000"/>
              </a:lnSpc>
              <a:spcBef>
                <a:spcPts val="0"/>
              </a:spcBef>
              <a:buFont typeface="Wingdings" panose="05000000000000000000" pitchFamily="2" charset="2"/>
              <a:buChar char=""/>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Current research related to climate change and health:</a:t>
            </a:r>
          </a:p>
          <a:p>
            <a:pPr lvl="1">
              <a:lnSpc>
                <a:spcPct val="107000"/>
              </a:lnSpc>
              <a:spcBef>
                <a:spcPts val="0"/>
              </a:spcBef>
              <a:buFont typeface="Wingdings" panose="05000000000000000000" pitchFamily="2" charset="2"/>
              <a:buChar char=""/>
            </a:pPr>
            <a:r>
              <a:rPr lang="en-US" sz="1900" dirty="0">
                <a:latin typeface="Calibri" panose="020F0502020204030204" pitchFamily="34" charset="0"/>
                <a:ea typeface="Calibri" panose="020F0502020204030204" pitchFamily="34" charset="0"/>
                <a:cs typeface="Times New Roman" panose="02020603050405020304" pitchFamily="18" charset="0"/>
              </a:rPr>
              <a:t>Extreme heat, wildfire smoke, power outages and heart failure hospitalizations (Garcia/Eckel)</a:t>
            </a:r>
          </a:p>
          <a:p>
            <a:pPr lvl="1">
              <a:lnSpc>
                <a:spcPct val="107000"/>
              </a:lnSpc>
              <a:spcBef>
                <a:spcPts val="0"/>
              </a:spcBef>
              <a:buFont typeface="Wingdings" panose="05000000000000000000" pitchFamily="2" charset="2"/>
              <a:buChar char=""/>
            </a:pPr>
            <a:r>
              <a:rPr lang="en-US" sz="1900" dirty="0">
                <a:latin typeface="Calibri" panose="020F0502020204030204" pitchFamily="34" charset="0"/>
                <a:ea typeface="Calibri" panose="020F0502020204030204" pitchFamily="34" charset="0"/>
                <a:cs typeface="Times New Roman" panose="02020603050405020304" pitchFamily="18" charset="0"/>
              </a:rPr>
              <a:t>EV transition co-benefits (Garcia)</a:t>
            </a:r>
          </a:p>
          <a:p>
            <a:pPr lvl="1">
              <a:lnSpc>
                <a:spcPct val="107000"/>
              </a:lnSpc>
              <a:spcBef>
                <a:spcPts val="0"/>
              </a:spcBef>
              <a:buFont typeface="Wingdings" panose="05000000000000000000" pitchFamily="2" charset="2"/>
              <a:buChar char=""/>
            </a:pPr>
            <a:r>
              <a:rPr lang="en-US" sz="1900" dirty="0">
                <a:latin typeface="Calibri" panose="020F0502020204030204" pitchFamily="34" charset="0"/>
                <a:ea typeface="Calibri" panose="020F0502020204030204" pitchFamily="34" charset="0"/>
                <a:cs typeface="Times New Roman" panose="02020603050405020304" pitchFamily="18" charset="0"/>
              </a:rPr>
              <a:t>Drought: Salton sea (Johnston, Farzan)</a:t>
            </a:r>
          </a:p>
          <a:p>
            <a:pPr lvl="1">
              <a:lnSpc>
                <a:spcPct val="107000"/>
              </a:lnSpc>
              <a:spcBef>
                <a:spcPts val="0"/>
              </a:spcBef>
              <a:buFont typeface="Wingdings" panose="05000000000000000000" pitchFamily="2" charset="2"/>
              <a:buChar char=""/>
            </a:pPr>
            <a:r>
              <a:rPr lang="en-US" sz="1900" dirty="0">
                <a:latin typeface="Calibri" panose="020F0502020204030204" pitchFamily="34" charset="0"/>
                <a:ea typeface="Calibri" panose="020F0502020204030204" pitchFamily="34" charset="0"/>
                <a:cs typeface="Times New Roman" panose="02020603050405020304" pitchFamily="18" charset="0"/>
              </a:rPr>
              <a:t>Decarbonizing medicine (McConnell, Hu, </a:t>
            </a:r>
            <a:r>
              <a:rPr lang="en-US" sz="1900" b="0" i="0" dirty="0">
                <a:solidFill>
                  <a:srgbClr val="000000"/>
                </a:solidFill>
                <a:effectLst/>
                <a:latin typeface="Calibri" panose="020F0502020204030204" pitchFamily="34" charset="0"/>
              </a:rPr>
              <a:t>Sharma</a:t>
            </a:r>
            <a:r>
              <a:rPr lang="en-US" sz="1900" dirty="0">
                <a:latin typeface="Calibri" panose="020F0502020204030204" pitchFamily="34" charset="0"/>
                <a:ea typeface="Calibri" panose="020F0502020204030204" pitchFamily="34" charset="0"/>
                <a:cs typeface="Times New Roman" panose="02020603050405020304" pitchFamily="18" charset="0"/>
              </a:rPr>
              <a:t>)</a:t>
            </a:r>
            <a:br>
              <a:rPr lang="en-US" sz="1900" dirty="0">
                <a:latin typeface="Calibri" panose="020F0502020204030204" pitchFamily="34" charset="0"/>
                <a:ea typeface="Calibri" panose="020F0502020204030204" pitchFamily="34" charset="0"/>
                <a:cs typeface="Times New Roman" panose="02020603050405020304" pitchFamily="18" charset="0"/>
              </a:rPr>
            </a:b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Times New Roman" panose="02020603050405020304" pitchFamily="18" charset="0"/>
              </a:rPr>
              <a:t>Future directions of interest</a:t>
            </a:r>
          </a:p>
          <a:p>
            <a:pPr lvl="1">
              <a:lnSpc>
                <a:spcPct val="107000"/>
              </a:lnSpc>
              <a:spcBef>
                <a:spcPts val="0"/>
              </a:spcBef>
              <a:buFont typeface="Wingdings" panose="05000000000000000000" pitchFamily="2" charset="2"/>
              <a:buChar char=""/>
            </a:pPr>
            <a:r>
              <a:rPr lang="en-US" sz="2000" dirty="0">
                <a:ea typeface="Calibri" panose="020F0502020204030204" pitchFamily="34" charset="0"/>
                <a:cs typeface="Times New Roman" panose="02020603050405020304" pitchFamily="18" charset="0"/>
              </a:rPr>
              <a:t>Climate change m</a:t>
            </a:r>
            <a:r>
              <a:rPr lang="en-US" sz="2000" dirty="0">
                <a:effectLst/>
                <a:latin typeface="Calibri" panose="020F0502020204030204" pitchFamily="34" charset="0"/>
                <a:ea typeface="Calibri" panose="020F0502020204030204" pitchFamily="34" charset="0"/>
                <a:cs typeface="Times New Roman" panose="02020603050405020304" pitchFamily="18" charset="0"/>
              </a:rPr>
              <a:t>itigation co-benefits to </a:t>
            </a:r>
            <a:r>
              <a:rPr lang="en-US" sz="2000" dirty="0">
                <a:latin typeface="Calibri" panose="020F0502020204030204" pitchFamily="34" charset="0"/>
                <a:ea typeface="Calibri" panose="020F0502020204030204" pitchFamily="34" charset="0"/>
                <a:cs typeface="Times New Roman" panose="02020603050405020304" pitchFamily="18" charset="0"/>
              </a:rPr>
              <a:t>provide evidence of benefit to public health</a:t>
            </a:r>
          </a:p>
          <a:p>
            <a:pPr lvl="1">
              <a:lnSpc>
                <a:spcPct val="107000"/>
              </a:lnSpc>
              <a:spcBef>
                <a:spcPts val="0"/>
              </a:spcBef>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Times New Roman" panose="02020603050405020304" pitchFamily="18" charset="0"/>
              </a:rPr>
              <a:t>Methods for intervention studies, large administrative time-series datasets</a:t>
            </a:r>
          </a:p>
        </p:txBody>
      </p:sp>
      <p:pic>
        <p:nvPicPr>
          <p:cNvPr id="4" name="Picture 2" descr="C:\Users\eckel\Documents\My Dropbox\Photos\02 03 Paris year abroad\sandy.paris.jpg">
            <a:extLst>
              <a:ext uri="{FF2B5EF4-FFF2-40B4-BE49-F238E27FC236}">
                <a16:creationId xmlns:a16="http://schemas.microsoft.com/office/drawing/2014/main" id="{9B3656F6-F134-7870-A919-BB4E72264245}"/>
              </a:ext>
            </a:extLst>
          </p:cNvPr>
          <p:cNvPicPr>
            <a:picLocks noChangeAspect="1" noChangeArrowheads="1"/>
          </p:cNvPicPr>
          <p:nvPr/>
        </p:nvPicPr>
        <p:blipFill>
          <a:blip r:embed="rId2" cstate="print"/>
          <a:srcRect/>
          <a:stretch>
            <a:fillRect/>
          </a:stretch>
        </p:blipFill>
        <p:spPr bwMode="auto">
          <a:xfrm>
            <a:off x="8969710" y="1227547"/>
            <a:ext cx="1550709" cy="1163032"/>
          </a:xfrm>
          <a:prstGeom prst="rect">
            <a:avLst/>
          </a:prstGeom>
          <a:noFill/>
        </p:spPr>
      </p:pic>
      <p:pic>
        <p:nvPicPr>
          <p:cNvPr id="5" name="Picture 4" descr="https://encrypted-tbn1.gstatic.com/images?q=tbn:ANd9GcQN4QgjI82hxzLBdBtx7sJne-JCvy901vBDtUGa21I-EmFZj2Hw">
            <a:extLst>
              <a:ext uri="{FF2B5EF4-FFF2-40B4-BE49-F238E27FC236}">
                <a16:creationId xmlns:a16="http://schemas.microsoft.com/office/drawing/2014/main" id="{B03CD761-AA41-FF0D-026B-BFF6485AB652}"/>
              </a:ext>
            </a:extLst>
          </p:cNvPr>
          <p:cNvPicPr>
            <a:picLocks noChangeAspect="1" noChangeArrowheads="1"/>
          </p:cNvPicPr>
          <p:nvPr/>
        </p:nvPicPr>
        <p:blipFill>
          <a:blip r:embed="rId3" cstate="print"/>
          <a:srcRect/>
          <a:stretch>
            <a:fillRect/>
          </a:stretch>
        </p:blipFill>
        <p:spPr bwMode="auto">
          <a:xfrm>
            <a:off x="9884110" y="541747"/>
            <a:ext cx="1017309" cy="762000"/>
          </a:xfrm>
          <a:prstGeom prst="rect">
            <a:avLst/>
          </a:prstGeom>
          <a:noFill/>
        </p:spPr>
      </p:pic>
      <p:pic>
        <p:nvPicPr>
          <p:cNvPr id="6" name="Picture 29">
            <a:extLst>
              <a:ext uri="{FF2B5EF4-FFF2-40B4-BE49-F238E27FC236}">
                <a16:creationId xmlns:a16="http://schemas.microsoft.com/office/drawing/2014/main" id="{1394A932-58BA-2622-386D-37AB98AB1EF6}"/>
              </a:ext>
            </a:extLst>
          </p:cNvPr>
          <p:cNvPicPr>
            <a:picLocks noChangeAspect="1" noChangeArrowheads="1"/>
          </p:cNvPicPr>
          <p:nvPr/>
        </p:nvPicPr>
        <p:blipFill>
          <a:blip r:embed="rId4" cstate="print"/>
          <a:srcRect t="6856"/>
          <a:stretch>
            <a:fillRect/>
          </a:stretch>
        </p:blipFill>
        <p:spPr bwMode="auto">
          <a:xfrm>
            <a:off x="7194310" y="713203"/>
            <a:ext cx="1838161" cy="1371600"/>
          </a:xfrm>
          <a:prstGeom prst="rect">
            <a:avLst/>
          </a:prstGeom>
          <a:noFill/>
          <a:ln w="9525">
            <a:solidFill>
              <a:schemeClr val="tx1"/>
            </a:solidFill>
            <a:miter lim="800000"/>
            <a:headEnd/>
            <a:tailEnd/>
          </a:ln>
        </p:spPr>
      </p:pic>
      <p:pic>
        <p:nvPicPr>
          <p:cNvPr id="7" name="Picture 6" descr="https://encrypted-tbn0.gstatic.com/images?q=tbn:ANd9GcT4VW-lBxovag-FLvVf9A2Ue1CawtjxSgMhHUbsQZf7FUM8mvdvbA">
            <a:extLst>
              <a:ext uri="{FF2B5EF4-FFF2-40B4-BE49-F238E27FC236}">
                <a16:creationId xmlns:a16="http://schemas.microsoft.com/office/drawing/2014/main" id="{7882AFA5-7B53-017B-2485-A9247DAEEB2E}"/>
              </a:ext>
            </a:extLst>
          </p:cNvPr>
          <p:cNvPicPr>
            <a:picLocks noChangeAspect="1" noChangeArrowheads="1"/>
          </p:cNvPicPr>
          <p:nvPr/>
        </p:nvPicPr>
        <p:blipFill>
          <a:blip r:embed="rId5" cstate="print"/>
          <a:srcRect l="37818" t="34973"/>
          <a:stretch>
            <a:fillRect/>
          </a:stretch>
        </p:blipFill>
        <p:spPr bwMode="auto">
          <a:xfrm>
            <a:off x="8610536" y="465547"/>
            <a:ext cx="1300283" cy="904876"/>
          </a:xfrm>
          <a:prstGeom prst="rect">
            <a:avLst/>
          </a:prstGeom>
          <a:noFill/>
        </p:spPr>
      </p:pic>
      <p:pic>
        <p:nvPicPr>
          <p:cNvPr id="8" name="Picture 2" descr="http://profile.ak.fbcdn.net/hprofile-ak-snc6/c26.26.323.323/s160x160/207594_182981361747824_363984_n.jpg">
            <a:extLst>
              <a:ext uri="{FF2B5EF4-FFF2-40B4-BE49-F238E27FC236}">
                <a16:creationId xmlns:a16="http://schemas.microsoft.com/office/drawing/2014/main" id="{08195D6F-E642-825E-33D8-1F9C3A15B826}"/>
              </a:ext>
            </a:extLst>
          </p:cNvPr>
          <p:cNvPicPr>
            <a:picLocks noChangeAspect="1" noChangeArrowheads="1"/>
          </p:cNvPicPr>
          <p:nvPr/>
        </p:nvPicPr>
        <p:blipFill>
          <a:blip r:embed="rId6" cstate="print"/>
          <a:srcRect/>
          <a:stretch>
            <a:fillRect/>
          </a:stretch>
        </p:blipFill>
        <p:spPr bwMode="auto">
          <a:xfrm>
            <a:off x="8600432" y="1356502"/>
            <a:ext cx="457200" cy="457201"/>
          </a:xfrm>
          <a:prstGeom prst="rect">
            <a:avLst/>
          </a:prstGeom>
          <a:noFill/>
        </p:spPr>
      </p:pic>
    </p:spTree>
    <p:extLst>
      <p:ext uri="{BB962C8B-B14F-4D97-AF65-F5344CB8AC3E}">
        <p14:creationId xmlns:p14="http://schemas.microsoft.com/office/powerpoint/2010/main" val="3507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FABBA-7DD7-8FA8-A8BB-B89D711BB0A1}"/>
              </a:ext>
            </a:extLst>
          </p:cNvPr>
          <p:cNvSpPr>
            <a:spLocks noGrp="1"/>
          </p:cNvSpPr>
          <p:nvPr>
            <p:ph type="title"/>
          </p:nvPr>
        </p:nvSpPr>
        <p:spPr/>
        <p:txBody>
          <a:bodyPr/>
          <a:lstStyle/>
          <a:p>
            <a:r>
              <a:rPr lang="en-US" dirty="0">
                <a:latin typeface="+mn-lt"/>
              </a:rPr>
              <a:t>Erika Garcia – Background</a:t>
            </a:r>
          </a:p>
        </p:txBody>
      </p:sp>
      <p:sp>
        <p:nvSpPr>
          <p:cNvPr id="3" name="Content Placeholder 2">
            <a:extLst>
              <a:ext uri="{FF2B5EF4-FFF2-40B4-BE49-F238E27FC236}">
                <a16:creationId xmlns:a16="http://schemas.microsoft.com/office/drawing/2014/main" id="{AFCA7AE0-BEF2-9DDA-0677-4AB8D362A6BE}"/>
              </a:ext>
            </a:extLst>
          </p:cNvPr>
          <p:cNvSpPr>
            <a:spLocks noGrp="1"/>
          </p:cNvSpPr>
          <p:nvPr>
            <p:ph idx="1"/>
          </p:nvPr>
        </p:nvSpPr>
        <p:spPr>
          <a:xfrm>
            <a:off x="838200" y="1825625"/>
            <a:ext cx="7440929" cy="4351338"/>
          </a:xfrm>
        </p:spPr>
        <p:txBody>
          <a:bodyPr/>
          <a:lstStyle/>
          <a:p>
            <a:r>
              <a:rPr lang="en-US" dirty="0">
                <a:latin typeface="+mn-lt"/>
              </a:rPr>
              <a:t>Associate Professor of Population and Public Health Sciences (Environmental Health) at the Keck School of Medicine</a:t>
            </a:r>
          </a:p>
          <a:p>
            <a:r>
              <a:rPr lang="en-US" dirty="0">
                <a:latin typeface="+mn-lt"/>
              </a:rPr>
              <a:t>PhD in Environmental Health Sciences from </a:t>
            </a:r>
            <a:br>
              <a:rPr lang="en-US" dirty="0">
                <a:latin typeface="+mn-lt"/>
              </a:rPr>
            </a:br>
            <a:r>
              <a:rPr lang="en-US" dirty="0">
                <a:latin typeface="+mn-lt"/>
              </a:rPr>
              <a:t>UC Berkeley</a:t>
            </a:r>
          </a:p>
          <a:p>
            <a:pPr lvl="1"/>
            <a:r>
              <a:rPr lang="en-US" dirty="0">
                <a:latin typeface="+mn-lt"/>
              </a:rPr>
              <a:t>Trained as in Occupational Epidemiology but now work more broadly in Environmental Epidemiology</a:t>
            </a:r>
          </a:p>
          <a:p>
            <a:r>
              <a:rPr lang="en-US" dirty="0">
                <a:latin typeface="+mn-lt"/>
              </a:rPr>
              <a:t>Also teach PM617: </a:t>
            </a:r>
            <a:br>
              <a:rPr lang="en-US" dirty="0">
                <a:latin typeface="+mn-lt"/>
              </a:rPr>
            </a:br>
            <a:r>
              <a:rPr lang="en-US" dirty="0">
                <a:latin typeface="+mn-lt"/>
              </a:rPr>
              <a:t>Introduction to Causal Inference in Epidemiology</a:t>
            </a:r>
          </a:p>
        </p:txBody>
      </p:sp>
      <p:pic>
        <p:nvPicPr>
          <p:cNvPr id="5" name="Picture 2">
            <a:extLst>
              <a:ext uri="{FF2B5EF4-FFF2-40B4-BE49-F238E27FC236}">
                <a16:creationId xmlns:a16="http://schemas.microsoft.com/office/drawing/2014/main" id="{7889AFD4-614E-51EB-5597-4E63BB28F55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0000"/>
          <a:stretch/>
        </p:blipFill>
        <p:spPr bwMode="auto">
          <a:xfrm>
            <a:off x="9844403" y="1250950"/>
            <a:ext cx="1957544" cy="1347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descr="C:\Users\erika_garcia\Dropbox\School work\GM work\Respiratory Cancer\HWSE assessment\GM HWSE Manuscript\HWSE_ms_Figure1.tiff">
            <a:extLst>
              <a:ext uri="{FF2B5EF4-FFF2-40B4-BE49-F238E27FC236}">
                <a16:creationId xmlns:a16="http://schemas.microsoft.com/office/drawing/2014/main" id="{E419BB12-BC34-2D3B-298C-CDC1FE8897E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279130" y="2655952"/>
            <a:ext cx="2577418" cy="153616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1D5247B-973B-8CC4-595F-E8C3968854F6}"/>
              </a:ext>
            </a:extLst>
          </p:cNvPr>
          <p:cNvPicPr>
            <a:picLocks noChangeAspect="1"/>
          </p:cNvPicPr>
          <p:nvPr/>
        </p:nvPicPr>
        <p:blipFill rotWithShape="1">
          <a:blip r:embed="rId4"/>
          <a:srcRect r="49664"/>
          <a:stretch/>
        </p:blipFill>
        <p:spPr>
          <a:xfrm>
            <a:off x="9469077" y="4277091"/>
            <a:ext cx="2233532" cy="1718897"/>
          </a:xfrm>
          <a:prstGeom prst="rect">
            <a:avLst/>
          </a:prstGeom>
        </p:spPr>
      </p:pic>
      <p:pic>
        <p:nvPicPr>
          <p:cNvPr id="4" name="Picture 2" descr="Erika Garcia">
            <a:extLst>
              <a:ext uri="{FF2B5EF4-FFF2-40B4-BE49-F238E27FC236}">
                <a16:creationId xmlns:a16="http://schemas.microsoft.com/office/drawing/2014/main" id="{507832F0-3675-6719-0945-2A632B46C1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5768" y="124659"/>
            <a:ext cx="1354870" cy="1806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98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F2CB01-A00A-404B-9AD5-C6D097650B7E}"/>
              </a:ext>
            </a:extLst>
          </p:cNvPr>
          <p:cNvSpPr>
            <a:spLocks noGrp="1"/>
          </p:cNvSpPr>
          <p:nvPr>
            <p:ph idx="1"/>
          </p:nvPr>
        </p:nvSpPr>
        <p:spPr>
          <a:xfrm>
            <a:off x="413669" y="1321946"/>
            <a:ext cx="7434931" cy="4930775"/>
          </a:xfrm>
        </p:spPr>
        <p:txBody>
          <a:bodyPr>
            <a:normAutofit/>
          </a:bodyPr>
          <a:lstStyle/>
          <a:p>
            <a:pPr marL="0" indent="0">
              <a:lnSpc>
                <a:spcPct val="100000"/>
              </a:lnSpc>
              <a:spcBef>
                <a:spcPts val="0"/>
              </a:spcBef>
              <a:buNone/>
            </a:pPr>
            <a:r>
              <a:rPr lang="en-US" sz="2400" i="1" dirty="0"/>
              <a:t>Goal: provide the framework and tools to empower the next generation of data scientists to improve the future of human health in a changing climate. </a:t>
            </a:r>
          </a:p>
          <a:p>
            <a:pPr marL="0" indent="0">
              <a:lnSpc>
                <a:spcPct val="100000"/>
              </a:lnSpc>
              <a:spcBef>
                <a:spcPts val="0"/>
              </a:spcBef>
              <a:buNone/>
            </a:pPr>
            <a:endParaRPr lang="en-US" sz="2000" dirty="0"/>
          </a:p>
          <a:p>
            <a:pPr>
              <a:spcBef>
                <a:spcPts val="0"/>
              </a:spcBef>
            </a:pPr>
            <a:r>
              <a:rPr lang="en-US" sz="2000" dirty="0"/>
              <a:t>Introduce data science methods to study the impacts of climate related events on human health. </a:t>
            </a:r>
          </a:p>
          <a:p>
            <a:pPr>
              <a:spcBef>
                <a:spcPts val="0"/>
              </a:spcBef>
            </a:pPr>
            <a:endParaRPr lang="en-US" sz="2000" dirty="0"/>
          </a:p>
          <a:p>
            <a:pPr>
              <a:spcBef>
                <a:spcPts val="0"/>
              </a:spcBef>
            </a:pPr>
            <a:r>
              <a:rPr lang="en-US" sz="2000" dirty="0"/>
              <a:t>Study methods to evaluate evidence for adaptation, co-benefits of mitigation, vulnerability, and attribution.</a:t>
            </a:r>
            <a:br>
              <a:rPr lang="en-US" sz="2000" dirty="0"/>
            </a:br>
            <a:endParaRPr lang="en-US" sz="2000" dirty="0"/>
          </a:p>
        </p:txBody>
      </p:sp>
      <p:sp>
        <p:nvSpPr>
          <p:cNvPr id="2" name="Title 1">
            <a:extLst>
              <a:ext uri="{FF2B5EF4-FFF2-40B4-BE49-F238E27FC236}">
                <a16:creationId xmlns:a16="http://schemas.microsoft.com/office/drawing/2014/main" id="{4D88C4F1-300B-4295-9757-3C4E28A4C95F}"/>
              </a:ext>
            </a:extLst>
          </p:cNvPr>
          <p:cNvSpPr>
            <a:spLocks noGrp="1"/>
          </p:cNvSpPr>
          <p:nvPr>
            <p:ph type="title"/>
          </p:nvPr>
        </p:nvSpPr>
        <p:spPr>
          <a:xfrm>
            <a:off x="228600" y="43530"/>
            <a:ext cx="11773264" cy="1325563"/>
          </a:xfrm>
        </p:spPr>
        <p:txBody>
          <a:bodyPr/>
          <a:lstStyle/>
          <a:p>
            <a:pPr algn="l"/>
            <a:r>
              <a:rPr lang="en-US" sz="2900" dirty="0">
                <a:solidFill>
                  <a:srgbClr val="699CA3"/>
                </a:solidFill>
              </a:rPr>
              <a:t>Class: Data Science </a:t>
            </a:r>
            <a:r>
              <a:rPr lang="en-US" sz="2900" b="1" dirty="0">
                <a:solidFill>
                  <a:srgbClr val="699CA3"/>
                </a:solidFill>
              </a:rPr>
              <a:t>Methods</a:t>
            </a:r>
            <a:r>
              <a:rPr lang="en-US" sz="2900" dirty="0">
                <a:solidFill>
                  <a:srgbClr val="699CA3"/>
                </a:solidFill>
              </a:rPr>
              <a:t> for Climate Change </a:t>
            </a:r>
            <a:r>
              <a:rPr lang="en-US" sz="2900" b="1" dirty="0">
                <a:solidFill>
                  <a:srgbClr val="699CA3"/>
                </a:solidFill>
              </a:rPr>
              <a:t>Health</a:t>
            </a:r>
            <a:r>
              <a:rPr lang="en-US" sz="2900" dirty="0">
                <a:solidFill>
                  <a:srgbClr val="699CA3"/>
                </a:solidFill>
              </a:rPr>
              <a:t> Research</a:t>
            </a:r>
            <a:br>
              <a:rPr lang="en-US" sz="2800" dirty="0">
                <a:solidFill>
                  <a:schemeClr val="tx1"/>
                </a:solidFill>
              </a:rPr>
            </a:br>
            <a:r>
              <a:rPr lang="en-US" sz="2400" b="0" i="1" dirty="0">
                <a:solidFill>
                  <a:schemeClr val="tx1"/>
                </a:solidFill>
              </a:rPr>
              <a:t>PM619/GEOL619</a:t>
            </a:r>
            <a:endParaRPr lang="en-US" b="0" i="1" dirty="0">
              <a:solidFill>
                <a:schemeClr val="tx1"/>
              </a:solidFill>
            </a:endParaRPr>
          </a:p>
        </p:txBody>
      </p:sp>
      <p:grpSp>
        <p:nvGrpSpPr>
          <p:cNvPr id="6" name="Group 5">
            <a:extLst>
              <a:ext uri="{FF2B5EF4-FFF2-40B4-BE49-F238E27FC236}">
                <a16:creationId xmlns:a16="http://schemas.microsoft.com/office/drawing/2014/main" id="{15894D94-022C-D81E-0A33-26D4D17CE430}"/>
              </a:ext>
            </a:extLst>
          </p:cNvPr>
          <p:cNvGrpSpPr/>
          <p:nvPr/>
        </p:nvGrpSpPr>
        <p:grpSpPr>
          <a:xfrm>
            <a:off x="5080249" y="5735166"/>
            <a:ext cx="4489598" cy="914400"/>
            <a:chOff x="5996725" y="5725373"/>
            <a:chExt cx="4489598" cy="914400"/>
          </a:xfrm>
        </p:grpSpPr>
        <p:pic>
          <p:nvPicPr>
            <p:cNvPr id="9" name="Graphic 8" descr="Ribbon with solid fill">
              <a:extLst>
                <a:ext uri="{FF2B5EF4-FFF2-40B4-BE49-F238E27FC236}">
                  <a16:creationId xmlns:a16="http://schemas.microsoft.com/office/drawing/2014/main" id="{8EE588A9-36F4-94E1-114A-3969EA5BF9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96725" y="5725373"/>
              <a:ext cx="914400" cy="914400"/>
            </a:xfrm>
            <a:prstGeom prst="rect">
              <a:avLst/>
            </a:prstGeom>
          </p:spPr>
        </p:pic>
        <p:sp>
          <p:nvSpPr>
            <p:cNvPr id="21" name="TextBox 20">
              <a:extLst>
                <a:ext uri="{FF2B5EF4-FFF2-40B4-BE49-F238E27FC236}">
                  <a16:creationId xmlns:a16="http://schemas.microsoft.com/office/drawing/2014/main" id="{00BB1331-F8B1-E816-5DCC-B98A02ED9242}"/>
                </a:ext>
              </a:extLst>
            </p:cNvPr>
            <p:cNvSpPr txBox="1"/>
            <p:nvPr/>
          </p:nvSpPr>
          <p:spPr>
            <a:xfrm>
              <a:off x="6815171" y="5781465"/>
              <a:ext cx="3671152" cy="646331"/>
            </a:xfrm>
            <a:prstGeom prst="rect">
              <a:avLst/>
            </a:prstGeom>
            <a:noFill/>
          </p:spPr>
          <p:txBody>
            <a:bodyPr wrap="square" rtlCol="0">
              <a:spAutoFit/>
            </a:bodyPr>
            <a:lstStyle/>
            <a:p>
              <a:r>
                <a:rPr lang="en-US" dirty="0"/>
                <a:t>2023 DPPHS Chair’s Citation on Pedagogical Excellence Award</a:t>
              </a:r>
            </a:p>
          </p:txBody>
        </p:sp>
      </p:grpSp>
      <p:pic>
        <p:nvPicPr>
          <p:cNvPr id="24" name="Picture 2" descr="Erika Garcia">
            <a:extLst>
              <a:ext uri="{FF2B5EF4-FFF2-40B4-BE49-F238E27FC236}">
                <a16:creationId xmlns:a16="http://schemas.microsoft.com/office/drawing/2014/main" id="{DF3AB963-52EE-FC0A-5A0F-25CE72AF22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0456" y="4882731"/>
            <a:ext cx="876137" cy="116818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a:extLst>
              <a:ext uri="{FF2B5EF4-FFF2-40B4-BE49-F238E27FC236}">
                <a16:creationId xmlns:a16="http://schemas.microsoft.com/office/drawing/2014/main" id="{373E802B-1CFF-5B70-9679-E313B7BEF6C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6879" y="4887550"/>
            <a:ext cx="876137" cy="116818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DD62599E-2FEC-0144-0EA0-1244E7EEE8C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055" r="11945"/>
          <a:stretch/>
        </p:blipFill>
        <p:spPr bwMode="auto">
          <a:xfrm>
            <a:off x="3015018" y="4891890"/>
            <a:ext cx="876136" cy="1168181"/>
          </a:xfrm>
          <a:prstGeom prst="rect">
            <a:avLst/>
          </a:prstGeom>
          <a:noFill/>
          <a:ln>
            <a:solidFill>
              <a:schemeClr val="accent3">
                <a:lumMod val="75000"/>
              </a:schemeClr>
            </a:solidFill>
          </a:ln>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56C2111F-7C98-DCCA-7576-E8EBCA04F202}"/>
              </a:ext>
            </a:extLst>
          </p:cNvPr>
          <p:cNvSpPr txBox="1"/>
          <p:nvPr/>
        </p:nvSpPr>
        <p:spPr>
          <a:xfrm>
            <a:off x="1010109" y="6018535"/>
            <a:ext cx="1006408" cy="415498"/>
          </a:xfrm>
          <a:prstGeom prst="rect">
            <a:avLst/>
          </a:prstGeom>
          <a:noFill/>
        </p:spPr>
        <p:txBody>
          <a:bodyPr wrap="square">
            <a:spAutoFit/>
          </a:bodyPr>
          <a:lstStyle/>
          <a:p>
            <a:r>
              <a:rPr lang="en-US" sz="1050" b="1" i="0" u="none" strike="noStrike" dirty="0">
                <a:solidFill>
                  <a:srgbClr val="201F1E"/>
                </a:solidFill>
                <a:effectLst/>
                <a:latin typeface="Arial" panose="020B0604020202020204" pitchFamily="34" charset="0"/>
              </a:rPr>
              <a:t>Sandy Eckel </a:t>
            </a:r>
            <a:br>
              <a:rPr lang="en-US" sz="1050" b="1" i="0" u="none" strike="noStrike" dirty="0">
                <a:solidFill>
                  <a:srgbClr val="201F1E"/>
                </a:solidFill>
                <a:effectLst/>
                <a:latin typeface="Arial" panose="020B0604020202020204" pitchFamily="34" charset="0"/>
              </a:rPr>
            </a:br>
            <a:r>
              <a:rPr lang="en-US" sz="1050" b="1" i="0" u="none" strike="noStrike" dirty="0">
                <a:solidFill>
                  <a:srgbClr val="201F1E"/>
                </a:solidFill>
                <a:effectLst/>
                <a:latin typeface="Arial" panose="020B0604020202020204" pitchFamily="34" charset="0"/>
              </a:rPr>
              <a:t>Biostatistics</a:t>
            </a:r>
            <a:endParaRPr lang="en-US" sz="1050" dirty="0"/>
          </a:p>
        </p:txBody>
      </p:sp>
      <p:sp>
        <p:nvSpPr>
          <p:cNvPr id="28" name="TextBox 27">
            <a:extLst>
              <a:ext uri="{FF2B5EF4-FFF2-40B4-BE49-F238E27FC236}">
                <a16:creationId xmlns:a16="http://schemas.microsoft.com/office/drawing/2014/main" id="{C0779B76-7BEE-E857-59D8-90A3E44D3766}"/>
              </a:ext>
            </a:extLst>
          </p:cNvPr>
          <p:cNvSpPr txBox="1"/>
          <p:nvPr/>
        </p:nvSpPr>
        <p:spPr>
          <a:xfrm>
            <a:off x="1943016" y="6031154"/>
            <a:ext cx="1254842" cy="415498"/>
          </a:xfrm>
          <a:prstGeom prst="rect">
            <a:avLst/>
          </a:prstGeom>
          <a:noFill/>
        </p:spPr>
        <p:txBody>
          <a:bodyPr wrap="square">
            <a:spAutoFit/>
          </a:bodyPr>
          <a:lstStyle/>
          <a:p>
            <a:r>
              <a:rPr lang="en-US" sz="1050" b="1" i="0" u="none" strike="noStrike" dirty="0">
                <a:solidFill>
                  <a:srgbClr val="201F1E"/>
                </a:solidFill>
                <a:effectLst/>
                <a:latin typeface="Arial" panose="020B0604020202020204" pitchFamily="34" charset="0"/>
              </a:rPr>
              <a:t>Erika Garcia </a:t>
            </a:r>
            <a:br>
              <a:rPr lang="en-US" sz="1050" b="1" i="0" u="none" strike="noStrike" dirty="0">
                <a:solidFill>
                  <a:srgbClr val="201F1E"/>
                </a:solidFill>
                <a:effectLst/>
                <a:latin typeface="Arial" panose="020B0604020202020204" pitchFamily="34" charset="0"/>
              </a:rPr>
            </a:br>
            <a:r>
              <a:rPr lang="en-US" sz="1050" b="1" i="0" u="none" strike="noStrike" dirty="0">
                <a:solidFill>
                  <a:srgbClr val="201F1E"/>
                </a:solidFill>
                <a:effectLst/>
                <a:latin typeface="Arial" panose="020B0604020202020204" pitchFamily="34" charset="0"/>
              </a:rPr>
              <a:t>Environ Health</a:t>
            </a:r>
            <a:endParaRPr lang="en-US" sz="1050" dirty="0"/>
          </a:p>
        </p:txBody>
      </p:sp>
      <p:sp>
        <p:nvSpPr>
          <p:cNvPr id="29" name="TextBox 28">
            <a:extLst>
              <a:ext uri="{FF2B5EF4-FFF2-40B4-BE49-F238E27FC236}">
                <a16:creationId xmlns:a16="http://schemas.microsoft.com/office/drawing/2014/main" id="{E46DF385-DEC3-4140-F378-2943069E0D28}"/>
              </a:ext>
            </a:extLst>
          </p:cNvPr>
          <p:cNvSpPr txBox="1"/>
          <p:nvPr/>
        </p:nvSpPr>
        <p:spPr>
          <a:xfrm>
            <a:off x="2932254" y="6042128"/>
            <a:ext cx="1535811" cy="415498"/>
          </a:xfrm>
          <a:prstGeom prst="rect">
            <a:avLst/>
          </a:prstGeom>
          <a:noFill/>
        </p:spPr>
        <p:txBody>
          <a:bodyPr wrap="square">
            <a:spAutoFit/>
          </a:bodyPr>
          <a:lstStyle/>
          <a:p>
            <a:r>
              <a:rPr lang="en-US" sz="1050" b="1" i="0" u="none" strike="noStrike" dirty="0">
                <a:solidFill>
                  <a:srgbClr val="201F1E"/>
                </a:solidFill>
                <a:effectLst/>
                <a:latin typeface="Arial" panose="020B0604020202020204" pitchFamily="34" charset="0"/>
              </a:rPr>
              <a:t>Sam Silva </a:t>
            </a:r>
            <a:br>
              <a:rPr lang="en-US" sz="1050" b="1" i="0" u="none" strike="noStrike" dirty="0">
                <a:solidFill>
                  <a:srgbClr val="201F1E"/>
                </a:solidFill>
                <a:effectLst/>
                <a:latin typeface="Arial" panose="020B0604020202020204" pitchFamily="34" charset="0"/>
              </a:rPr>
            </a:br>
            <a:r>
              <a:rPr lang="en-US" sz="1050" b="1" dirty="0">
                <a:solidFill>
                  <a:srgbClr val="201F1E"/>
                </a:solidFill>
                <a:latin typeface="Arial" panose="020B0604020202020204" pitchFamily="34" charset="0"/>
              </a:rPr>
              <a:t>Dept Earth Sciences</a:t>
            </a:r>
          </a:p>
        </p:txBody>
      </p:sp>
      <p:sp>
        <p:nvSpPr>
          <p:cNvPr id="31" name="TextBox 30">
            <a:extLst>
              <a:ext uri="{FF2B5EF4-FFF2-40B4-BE49-F238E27FC236}">
                <a16:creationId xmlns:a16="http://schemas.microsoft.com/office/drawing/2014/main" id="{929868F4-2F65-7A6E-325C-3AADC06A88FE}"/>
              </a:ext>
            </a:extLst>
          </p:cNvPr>
          <p:cNvSpPr txBox="1"/>
          <p:nvPr/>
        </p:nvSpPr>
        <p:spPr>
          <a:xfrm>
            <a:off x="770345" y="4522558"/>
            <a:ext cx="3748845" cy="369332"/>
          </a:xfrm>
          <a:prstGeom prst="rect">
            <a:avLst/>
          </a:prstGeom>
          <a:noFill/>
        </p:spPr>
        <p:txBody>
          <a:bodyPr wrap="square">
            <a:spAutoFit/>
          </a:bodyPr>
          <a:lstStyle/>
          <a:p>
            <a:r>
              <a:rPr lang="en-US" b="0" kern="0" dirty="0">
                <a:solidFill>
                  <a:schemeClr val="tx1"/>
                </a:solidFill>
              </a:rPr>
              <a:t>Interdisciplinary Instructional Team</a:t>
            </a:r>
          </a:p>
        </p:txBody>
      </p:sp>
      <p:pic>
        <p:nvPicPr>
          <p:cNvPr id="8" name="Picture 1" descr="page1image18748912">
            <a:extLst>
              <a:ext uri="{FF2B5EF4-FFF2-40B4-BE49-F238E27FC236}">
                <a16:creationId xmlns:a16="http://schemas.microsoft.com/office/drawing/2014/main" id="{F01859D9-7399-725A-A9D9-B4657F957C3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32669" y="1061461"/>
            <a:ext cx="4157562" cy="3971403"/>
          </a:xfrm>
          <a:prstGeom prst="rect">
            <a:avLst/>
          </a:prstGeom>
          <a:solidFill>
            <a:srgbClr val="173840"/>
          </a:solidFill>
        </p:spPr>
      </p:pic>
      <p:grpSp>
        <p:nvGrpSpPr>
          <p:cNvPr id="4" name="Group 3">
            <a:extLst>
              <a:ext uri="{FF2B5EF4-FFF2-40B4-BE49-F238E27FC236}">
                <a16:creationId xmlns:a16="http://schemas.microsoft.com/office/drawing/2014/main" id="{771631DA-301C-A0B6-7F93-E65F1C190454}"/>
              </a:ext>
            </a:extLst>
          </p:cNvPr>
          <p:cNvGrpSpPr/>
          <p:nvPr/>
        </p:nvGrpSpPr>
        <p:grpSpPr>
          <a:xfrm>
            <a:off x="5080249" y="4781790"/>
            <a:ext cx="4181066" cy="914400"/>
            <a:chOff x="714154" y="5804363"/>
            <a:chExt cx="4181066" cy="914400"/>
          </a:xfrm>
        </p:grpSpPr>
        <p:sp>
          <p:nvSpPr>
            <p:cNvPr id="20" name="TextBox 19">
              <a:extLst>
                <a:ext uri="{FF2B5EF4-FFF2-40B4-BE49-F238E27FC236}">
                  <a16:creationId xmlns:a16="http://schemas.microsoft.com/office/drawing/2014/main" id="{8DFF6D1C-75D7-A12D-CEB9-98D0F00EC9B0}"/>
                </a:ext>
              </a:extLst>
            </p:cNvPr>
            <p:cNvSpPr txBox="1"/>
            <p:nvPr/>
          </p:nvSpPr>
          <p:spPr>
            <a:xfrm>
              <a:off x="1460105" y="5835274"/>
              <a:ext cx="3435115" cy="646331"/>
            </a:xfrm>
            <a:prstGeom prst="rect">
              <a:avLst/>
            </a:prstGeom>
            <a:noFill/>
          </p:spPr>
          <p:txBody>
            <a:bodyPr wrap="square" rtlCol="0">
              <a:spAutoFit/>
            </a:bodyPr>
            <a:lstStyle/>
            <a:p>
              <a:r>
                <a:rPr lang="en-US" dirty="0"/>
                <a:t>2023 Sustainability Across the Curriculum New Course Award</a:t>
              </a:r>
            </a:p>
          </p:txBody>
        </p:sp>
        <p:pic>
          <p:nvPicPr>
            <p:cNvPr id="22" name="Graphic 21" descr="Ribbon with solid fill">
              <a:extLst>
                <a:ext uri="{FF2B5EF4-FFF2-40B4-BE49-F238E27FC236}">
                  <a16:creationId xmlns:a16="http://schemas.microsoft.com/office/drawing/2014/main" id="{05B8FB05-E38C-EDD4-051E-566860E11D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4154" y="5804363"/>
              <a:ext cx="914400" cy="914400"/>
            </a:xfrm>
            <a:prstGeom prst="rect">
              <a:avLst/>
            </a:prstGeom>
          </p:spPr>
        </p:pic>
      </p:grpSp>
      <p:pic>
        <p:nvPicPr>
          <p:cNvPr id="2050" name="Picture 2">
            <a:extLst>
              <a:ext uri="{FF2B5EF4-FFF2-40B4-BE49-F238E27FC236}">
                <a16:creationId xmlns:a16="http://schemas.microsoft.com/office/drawing/2014/main" id="{3EB5D4BB-C0AB-E25C-4828-2704A117A9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5077" y="4154967"/>
            <a:ext cx="3547235" cy="2659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29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FED5F2-732B-5E6B-209A-DD9AE5F11B05}"/>
              </a:ext>
            </a:extLst>
          </p:cNvPr>
          <p:cNvSpPr>
            <a:spLocks noGrp="1"/>
          </p:cNvSpPr>
          <p:nvPr>
            <p:ph type="title"/>
          </p:nvPr>
        </p:nvSpPr>
        <p:spPr/>
        <p:txBody>
          <a:bodyPr/>
          <a:lstStyle/>
          <a:p>
            <a:r>
              <a:rPr lang="en-US" b="1" dirty="0"/>
              <a:t>Climate Change and Health</a:t>
            </a:r>
          </a:p>
        </p:txBody>
      </p:sp>
      <p:sp>
        <p:nvSpPr>
          <p:cNvPr id="5" name="Text Placeholder 4">
            <a:extLst>
              <a:ext uri="{FF2B5EF4-FFF2-40B4-BE49-F238E27FC236}">
                <a16:creationId xmlns:a16="http://schemas.microsoft.com/office/drawing/2014/main" id="{4033A73A-9333-48C4-094B-D0C5AF6CC3E2}"/>
              </a:ext>
            </a:extLst>
          </p:cNvPr>
          <p:cNvSpPr>
            <a:spLocks noGrp="1"/>
          </p:cNvSpPr>
          <p:nvPr>
            <p:ph type="body" idx="1"/>
          </p:nvPr>
        </p:nvSpPr>
        <p:spPr/>
        <p:txBody>
          <a:bodyPr>
            <a:normAutofit/>
          </a:bodyPr>
          <a:lstStyle/>
          <a:p>
            <a:r>
              <a:rPr lang="en-US" sz="3200" i="1" dirty="0">
                <a:solidFill>
                  <a:srgbClr val="83ADB3"/>
                </a:solidFill>
              </a:rPr>
              <a:t>Broad context for this project </a:t>
            </a:r>
            <a:endParaRPr lang="en-US" sz="3200" i="1" dirty="0"/>
          </a:p>
        </p:txBody>
      </p:sp>
    </p:spTree>
    <p:extLst>
      <p:ext uri="{BB962C8B-B14F-4D97-AF65-F5344CB8AC3E}">
        <p14:creationId xmlns:p14="http://schemas.microsoft.com/office/powerpoint/2010/main" val="2923227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C6004C-9F84-DAE5-3B75-5FF5BA7534F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32439FF-8E37-5144-849E-CBD3715626A5}"/>
              </a:ext>
            </a:extLst>
          </p:cNvPr>
          <p:cNvPicPr>
            <a:picLocks noChangeAspect="1"/>
          </p:cNvPicPr>
          <p:nvPr/>
        </p:nvPicPr>
        <p:blipFill>
          <a:blip r:embed="rId2"/>
          <a:stretch>
            <a:fillRect/>
          </a:stretch>
        </p:blipFill>
        <p:spPr>
          <a:xfrm>
            <a:off x="733424" y="432011"/>
            <a:ext cx="11305953" cy="5744952"/>
          </a:xfrm>
          <a:prstGeom prst="rect">
            <a:avLst/>
          </a:prstGeom>
        </p:spPr>
      </p:pic>
      <p:sp>
        <p:nvSpPr>
          <p:cNvPr id="7" name="TextBox 6">
            <a:extLst>
              <a:ext uri="{FF2B5EF4-FFF2-40B4-BE49-F238E27FC236}">
                <a16:creationId xmlns:a16="http://schemas.microsoft.com/office/drawing/2014/main" id="{9AF5A6F8-9947-5B63-A7BF-805F63324B6C}"/>
              </a:ext>
            </a:extLst>
          </p:cNvPr>
          <p:cNvSpPr txBox="1"/>
          <p:nvPr/>
        </p:nvSpPr>
        <p:spPr>
          <a:xfrm>
            <a:off x="489527" y="6169709"/>
            <a:ext cx="11212946" cy="646331"/>
          </a:xfrm>
          <a:prstGeom prst="rect">
            <a:avLst/>
          </a:prstGeom>
          <a:noFill/>
        </p:spPr>
        <p:txBody>
          <a:bodyPr wrap="square">
            <a:spAutoFit/>
          </a:bodyPr>
          <a:lstStyle/>
          <a:p>
            <a:r>
              <a:rPr lang="en-US" b="0" i="0" err="1">
                <a:solidFill>
                  <a:srgbClr val="222222"/>
                </a:solidFill>
                <a:effectLst/>
                <a:latin typeface="Arial" panose="020B0604020202020204" pitchFamily="34" charset="0"/>
              </a:rPr>
              <a:t>Chinthrajah</a:t>
            </a:r>
            <a:r>
              <a:rPr lang="en-US" b="0" i="0">
                <a:solidFill>
                  <a:srgbClr val="222222"/>
                </a:solidFill>
                <a:effectLst/>
                <a:latin typeface="Arial" panose="020B0604020202020204" pitchFamily="34" charset="0"/>
              </a:rPr>
              <a:t> S, </a:t>
            </a:r>
            <a:r>
              <a:rPr lang="en-US" b="1" i="0">
                <a:solidFill>
                  <a:srgbClr val="83ADB3"/>
                </a:solidFill>
                <a:effectLst/>
                <a:latin typeface="Arial" panose="020B0604020202020204" pitchFamily="34" charset="0"/>
              </a:rPr>
              <a:t>Garcia E</a:t>
            </a:r>
            <a:r>
              <a:rPr lang="en-US" b="0" i="0">
                <a:solidFill>
                  <a:srgbClr val="222222"/>
                </a:solidFill>
                <a:effectLst/>
                <a:latin typeface="Arial" panose="020B0604020202020204" pitchFamily="34" charset="0"/>
              </a:rPr>
              <a:t>, Hasan Z, Hy A, Wong L. Climate Change Health Effects and What You Can Do. American Journal of Respiratory and Critical Care Medicine. 2022 Jan 1;205(1):P1-2.</a:t>
            </a:r>
            <a:endParaRPr lang="en-US"/>
          </a:p>
        </p:txBody>
      </p:sp>
    </p:spTree>
    <p:extLst>
      <p:ext uri="{BB962C8B-B14F-4D97-AF65-F5344CB8AC3E}">
        <p14:creationId xmlns:p14="http://schemas.microsoft.com/office/powerpoint/2010/main" val="1391249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9E9AB-7D72-44F3-BC21-7D7FBEEDB7B8}"/>
              </a:ext>
            </a:extLst>
          </p:cNvPr>
          <p:cNvSpPr>
            <a:spLocks noGrp="1"/>
          </p:cNvSpPr>
          <p:nvPr>
            <p:ph type="title"/>
          </p:nvPr>
        </p:nvSpPr>
        <p:spPr>
          <a:xfrm>
            <a:off x="838200" y="6079385"/>
            <a:ext cx="10515600" cy="776075"/>
          </a:xfrm>
        </p:spPr>
        <p:txBody>
          <a:bodyPr>
            <a:normAutofit/>
          </a:bodyPr>
          <a:lstStyle/>
          <a:p>
            <a:r>
              <a:rPr lang="en-US" sz="2000" b="0"/>
              <a:t>https://www.ipcc.ch/report/ar6/wg2/downloads/report/IPCC_AR6_WGII_Chapter07.pdf</a:t>
            </a:r>
          </a:p>
        </p:txBody>
      </p:sp>
      <p:pic>
        <p:nvPicPr>
          <p:cNvPr id="5" name="Picture 4">
            <a:extLst>
              <a:ext uri="{FF2B5EF4-FFF2-40B4-BE49-F238E27FC236}">
                <a16:creationId xmlns:a16="http://schemas.microsoft.com/office/drawing/2014/main" id="{86F4D17B-758C-9FCF-C126-405C85E2B43B}"/>
              </a:ext>
            </a:extLst>
          </p:cNvPr>
          <p:cNvPicPr>
            <a:picLocks noChangeAspect="1"/>
          </p:cNvPicPr>
          <p:nvPr/>
        </p:nvPicPr>
        <p:blipFill>
          <a:blip r:embed="rId2"/>
          <a:stretch>
            <a:fillRect/>
          </a:stretch>
        </p:blipFill>
        <p:spPr>
          <a:xfrm>
            <a:off x="3048000" y="1006480"/>
            <a:ext cx="5575300" cy="5549842"/>
          </a:xfrm>
          <a:prstGeom prst="rect">
            <a:avLst/>
          </a:prstGeom>
        </p:spPr>
      </p:pic>
      <p:sp>
        <p:nvSpPr>
          <p:cNvPr id="6" name="Title 3">
            <a:extLst>
              <a:ext uri="{FF2B5EF4-FFF2-40B4-BE49-F238E27FC236}">
                <a16:creationId xmlns:a16="http://schemas.microsoft.com/office/drawing/2014/main" id="{E06ED858-53B4-6448-150F-2DA77F7FC31C}"/>
              </a:ext>
            </a:extLst>
          </p:cNvPr>
          <p:cNvSpPr txBox="1">
            <a:spLocks/>
          </p:cNvSpPr>
          <p:nvPr/>
        </p:nvSpPr>
        <p:spPr>
          <a:xfrm>
            <a:off x="838200" y="38916"/>
            <a:ext cx="10515600" cy="967564"/>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6000" b="1" kern="1200">
                <a:solidFill>
                  <a:srgbClr val="29495D"/>
                </a:solidFill>
                <a:latin typeface="+mj-lt"/>
                <a:ea typeface="+mj-ea"/>
                <a:cs typeface="+mj-cs"/>
              </a:defRPr>
            </a:lvl1pPr>
          </a:lstStyle>
          <a:p>
            <a:r>
              <a:rPr lang="en-US" sz="5400" dirty="0"/>
              <a:t>Climate change acts like a </a:t>
            </a:r>
            <a:r>
              <a:rPr lang="en-US" sz="5400" b="1" dirty="0">
                <a:solidFill>
                  <a:srgbClr val="C00000"/>
                </a:solidFill>
              </a:rPr>
              <a:t>stress multiplier</a:t>
            </a:r>
            <a:endParaRPr lang="en-US" sz="5400" dirty="0"/>
          </a:p>
        </p:txBody>
      </p:sp>
      <p:sp>
        <p:nvSpPr>
          <p:cNvPr id="7" name="TextBox 6">
            <a:extLst>
              <a:ext uri="{FF2B5EF4-FFF2-40B4-BE49-F238E27FC236}">
                <a16:creationId xmlns:a16="http://schemas.microsoft.com/office/drawing/2014/main" id="{38D5DC4A-CDBC-FF8E-3C52-3A56359F88F3}"/>
              </a:ext>
            </a:extLst>
          </p:cNvPr>
          <p:cNvSpPr txBox="1"/>
          <p:nvPr/>
        </p:nvSpPr>
        <p:spPr>
          <a:xfrm>
            <a:off x="8954526" y="2442573"/>
            <a:ext cx="2879408" cy="2677656"/>
          </a:xfrm>
          <a:prstGeom prst="rect">
            <a:avLst/>
          </a:prstGeom>
          <a:noFill/>
        </p:spPr>
        <p:txBody>
          <a:bodyPr wrap="square">
            <a:spAutoFit/>
          </a:bodyPr>
          <a:lstStyle/>
          <a:p>
            <a:pPr marL="0" indent="0">
              <a:buNone/>
            </a:pPr>
            <a:r>
              <a:rPr lang="en-US" sz="2400" dirty="0">
                <a:latin typeface="+mn-lt"/>
              </a:rPr>
              <a:t>2015 Lancet Commission: </a:t>
            </a:r>
          </a:p>
          <a:p>
            <a:pPr marL="0" indent="0">
              <a:buNone/>
            </a:pPr>
            <a:r>
              <a:rPr lang="en-US" sz="2400" b="0" i="0" dirty="0">
                <a:effectLst/>
                <a:latin typeface="+mn-lt"/>
              </a:rPr>
              <a:t>“Climate change is the </a:t>
            </a:r>
            <a:r>
              <a:rPr lang="en-US" sz="2400" b="1" i="0" dirty="0">
                <a:solidFill>
                  <a:srgbClr val="C00000"/>
                </a:solidFill>
                <a:effectLst/>
                <a:latin typeface="+mn-lt"/>
              </a:rPr>
              <a:t>greatest global health threat</a:t>
            </a:r>
            <a:r>
              <a:rPr lang="en-US" sz="2400" b="0" i="0" dirty="0">
                <a:solidFill>
                  <a:srgbClr val="C00000"/>
                </a:solidFill>
                <a:effectLst/>
                <a:latin typeface="+mn-lt"/>
              </a:rPr>
              <a:t> </a:t>
            </a:r>
            <a:br>
              <a:rPr lang="en-US" sz="2400" b="0" i="0" dirty="0">
                <a:solidFill>
                  <a:srgbClr val="C00000"/>
                </a:solidFill>
                <a:effectLst/>
                <a:latin typeface="+mn-lt"/>
              </a:rPr>
            </a:br>
            <a:r>
              <a:rPr lang="en-US" sz="2400" b="0" i="0" dirty="0">
                <a:effectLst/>
                <a:latin typeface="+mn-lt"/>
              </a:rPr>
              <a:t>facing the world in the 21st century…” </a:t>
            </a:r>
            <a:endParaRPr lang="en-US" sz="2400" dirty="0"/>
          </a:p>
        </p:txBody>
      </p:sp>
    </p:spTree>
    <p:extLst>
      <p:ext uri="{BB962C8B-B14F-4D97-AF65-F5344CB8AC3E}">
        <p14:creationId xmlns:p14="http://schemas.microsoft.com/office/powerpoint/2010/main" val="3921186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517E59-F35D-4F27-B4BF-86117F04AD59}"/>
              </a:ext>
            </a:extLst>
          </p:cNvPr>
          <p:cNvSpPr>
            <a:spLocks noGrp="1"/>
          </p:cNvSpPr>
          <p:nvPr>
            <p:ph type="title"/>
          </p:nvPr>
        </p:nvSpPr>
        <p:spPr>
          <a:xfrm>
            <a:off x="831850" y="206377"/>
            <a:ext cx="10515600" cy="2523826"/>
          </a:xfrm>
        </p:spPr>
        <p:txBody>
          <a:bodyPr>
            <a:normAutofit fontScale="90000"/>
          </a:bodyPr>
          <a:lstStyle/>
          <a:p>
            <a:r>
              <a:rPr lang="en-US" dirty="0"/>
              <a:t>“…tackling climate change could be the </a:t>
            </a:r>
            <a:r>
              <a:rPr lang="en-US" b="1" dirty="0"/>
              <a:t>greatest global health opportunity</a:t>
            </a:r>
            <a:r>
              <a:rPr lang="en-US" dirty="0"/>
              <a:t> of the 21st century”</a:t>
            </a:r>
          </a:p>
        </p:txBody>
      </p:sp>
      <p:sp>
        <p:nvSpPr>
          <p:cNvPr id="5" name="Text Placeholder 4">
            <a:extLst>
              <a:ext uri="{FF2B5EF4-FFF2-40B4-BE49-F238E27FC236}">
                <a16:creationId xmlns:a16="http://schemas.microsoft.com/office/drawing/2014/main" id="{2D3A0BA1-4D1C-4872-B394-44BE96180030}"/>
              </a:ext>
            </a:extLst>
          </p:cNvPr>
          <p:cNvSpPr>
            <a:spLocks noGrp="1"/>
          </p:cNvSpPr>
          <p:nvPr>
            <p:ph type="body" idx="1"/>
          </p:nvPr>
        </p:nvSpPr>
        <p:spPr>
          <a:xfrm>
            <a:off x="844550" y="2918047"/>
            <a:ext cx="10798810" cy="2828779"/>
          </a:xfrm>
        </p:spPr>
        <p:txBody>
          <a:bodyPr>
            <a:normAutofit fontScale="92500" lnSpcReduction="10000"/>
          </a:bodyPr>
          <a:lstStyle/>
          <a:p>
            <a:r>
              <a:rPr lang="en-US" sz="2800" dirty="0">
                <a:solidFill>
                  <a:srgbClr val="83ADB3"/>
                </a:solidFill>
              </a:rPr>
              <a:t>“Many </a:t>
            </a:r>
            <a:r>
              <a:rPr lang="en-US" sz="2800" b="1" u="sng" dirty="0">
                <a:solidFill>
                  <a:srgbClr val="83ADB3"/>
                </a:solidFill>
              </a:rPr>
              <a:t>mitigation</a:t>
            </a:r>
            <a:r>
              <a:rPr lang="en-US" sz="2800" dirty="0">
                <a:solidFill>
                  <a:srgbClr val="83ADB3"/>
                </a:solidFill>
              </a:rPr>
              <a:t> and </a:t>
            </a:r>
            <a:r>
              <a:rPr lang="en-US" sz="2800" b="1" u="sng" dirty="0">
                <a:solidFill>
                  <a:srgbClr val="83ADB3"/>
                </a:solidFill>
              </a:rPr>
              <a:t>adaptation</a:t>
            </a:r>
            <a:r>
              <a:rPr lang="en-US" sz="2800" dirty="0">
                <a:solidFill>
                  <a:srgbClr val="83ADB3"/>
                </a:solidFill>
              </a:rPr>
              <a:t> responses to climate change are </a:t>
            </a:r>
            <a:br>
              <a:rPr lang="en-US" sz="2800" dirty="0">
                <a:solidFill>
                  <a:srgbClr val="83ADB3"/>
                </a:solidFill>
              </a:rPr>
            </a:br>
            <a:r>
              <a:rPr lang="en-US" sz="2800" dirty="0">
                <a:solidFill>
                  <a:srgbClr val="83ADB3"/>
                </a:solidFill>
              </a:rPr>
              <a:t>“no-regret” options, which lead to direct reductions in the burden of ill-health, enhance community resilience, alleviate poverty, and address global inequity. Benefits are </a:t>
            </a:r>
            <a:r>
              <a:rPr lang="en-US" sz="2800" dirty="0" err="1">
                <a:solidFill>
                  <a:srgbClr val="83ADB3"/>
                </a:solidFill>
              </a:rPr>
              <a:t>realised</a:t>
            </a:r>
            <a:r>
              <a:rPr lang="en-US" sz="2800" dirty="0">
                <a:solidFill>
                  <a:srgbClr val="83ADB3"/>
                </a:solidFill>
              </a:rPr>
              <a:t> by ensuring that countries are unconstrained by climate change, enabling them to achieve better health and wellbeing for their populations. These strategies will also reduce pressures on national health budgets, delivering potentially large cost savings, and enable investments in stronger, more resilient health systems.”</a:t>
            </a:r>
          </a:p>
        </p:txBody>
      </p:sp>
      <p:sp>
        <p:nvSpPr>
          <p:cNvPr id="9" name="TextBox 8">
            <a:extLst>
              <a:ext uri="{FF2B5EF4-FFF2-40B4-BE49-F238E27FC236}">
                <a16:creationId xmlns:a16="http://schemas.microsoft.com/office/drawing/2014/main" id="{7378C7B9-5AD8-4F9F-9D3F-C84983F1A570}"/>
              </a:ext>
            </a:extLst>
          </p:cNvPr>
          <p:cNvSpPr txBox="1"/>
          <p:nvPr/>
        </p:nvSpPr>
        <p:spPr>
          <a:xfrm>
            <a:off x="639806" y="5934670"/>
            <a:ext cx="10720344" cy="923330"/>
          </a:xfrm>
          <a:prstGeom prst="rect">
            <a:avLst/>
          </a:prstGeom>
          <a:noFill/>
        </p:spPr>
        <p:txBody>
          <a:bodyPr wrap="square">
            <a:spAutoFit/>
          </a:bodyPr>
          <a:lstStyle/>
          <a:p>
            <a:r>
              <a:rPr lang="en-US" b="0" i="0">
                <a:solidFill>
                  <a:srgbClr val="222222"/>
                </a:solidFill>
                <a:effectLst/>
                <a:latin typeface="Arial" panose="020B0604020202020204" pitchFamily="34" charset="0"/>
              </a:rPr>
              <a:t>Watts N, </a:t>
            </a:r>
            <a:r>
              <a:rPr lang="en-US" b="0" i="0" err="1">
                <a:solidFill>
                  <a:srgbClr val="222222"/>
                </a:solidFill>
                <a:effectLst/>
                <a:latin typeface="Arial" panose="020B0604020202020204" pitchFamily="34" charset="0"/>
              </a:rPr>
              <a:t>Adger</a:t>
            </a:r>
            <a:r>
              <a:rPr lang="en-US" b="0" i="0">
                <a:solidFill>
                  <a:srgbClr val="222222"/>
                </a:solidFill>
                <a:effectLst/>
                <a:latin typeface="Arial" panose="020B0604020202020204" pitchFamily="34" charset="0"/>
              </a:rPr>
              <a:t> WN, </a:t>
            </a:r>
            <a:r>
              <a:rPr lang="en-US" b="0" i="0" err="1">
                <a:solidFill>
                  <a:srgbClr val="222222"/>
                </a:solidFill>
                <a:effectLst/>
                <a:latin typeface="Arial" panose="020B0604020202020204" pitchFamily="34" charset="0"/>
              </a:rPr>
              <a:t>Agnolucci</a:t>
            </a:r>
            <a:r>
              <a:rPr lang="en-US" b="0" i="0">
                <a:solidFill>
                  <a:srgbClr val="222222"/>
                </a:solidFill>
                <a:effectLst/>
                <a:latin typeface="Arial" panose="020B0604020202020204" pitchFamily="34" charset="0"/>
              </a:rPr>
              <a:t> P, Blackstock J, </a:t>
            </a:r>
            <a:r>
              <a:rPr lang="en-US" b="0" i="0" err="1">
                <a:solidFill>
                  <a:srgbClr val="222222"/>
                </a:solidFill>
                <a:effectLst/>
                <a:latin typeface="Arial" panose="020B0604020202020204" pitchFamily="34" charset="0"/>
              </a:rPr>
              <a:t>Byass</a:t>
            </a:r>
            <a:r>
              <a:rPr lang="en-US" b="0" i="0">
                <a:solidFill>
                  <a:srgbClr val="222222"/>
                </a:solidFill>
                <a:effectLst/>
                <a:latin typeface="Arial" panose="020B0604020202020204" pitchFamily="34" charset="0"/>
              </a:rPr>
              <a:t> P, Cai W, </a:t>
            </a:r>
            <a:r>
              <a:rPr lang="en-US" b="0" i="0" err="1">
                <a:solidFill>
                  <a:srgbClr val="222222"/>
                </a:solidFill>
                <a:effectLst/>
                <a:latin typeface="Arial" panose="020B0604020202020204" pitchFamily="34" charset="0"/>
              </a:rPr>
              <a:t>Chaytor</a:t>
            </a:r>
            <a:r>
              <a:rPr lang="en-US" b="0" i="0">
                <a:solidFill>
                  <a:srgbClr val="222222"/>
                </a:solidFill>
                <a:effectLst/>
                <a:latin typeface="Arial" panose="020B0604020202020204" pitchFamily="34" charset="0"/>
              </a:rPr>
              <a:t> S, Colbourn T, Collins M, Cooper A, Cox PM. Health and climate change: policy responses to protect public health. The Lancet. 2015 Nov 7;386(10006):1861-914.</a:t>
            </a:r>
            <a:endParaRPr lang="en-US"/>
          </a:p>
        </p:txBody>
      </p:sp>
    </p:spTree>
    <p:extLst>
      <p:ext uri="{BB962C8B-B14F-4D97-AF65-F5344CB8AC3E}">
        <p14:creationId xmlns:p14="http://schemas.microsoft.com/office/powerpoint/2010/main" val="1030011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hart&#10;&#10;Description automatically generated">
            <a:extLst>
              <a:ext uri="{FF2B5EF4-FFF2-40B4-BE49-F238E27FC236}">
                <a16:creationId xmlns:a16="http://schemas.microsoft.com/office/drawing/2014/main" id="{CDE08CD3-953D-47F2-07B4-615B2CB381A0}"/>
              </a:ext>
            </a:extLst>
          </p:cNvPr>
          <p:cNvPicPr>
            <a:picLocks noChangeAspect="1"/>
          </p:cNvPicPr>
          <p:nvPr/>
        </p:nvPicPr>
        <p:blipFill rotWithShape="1">
          <a:blip r:embed="rId2">
            <a:extLst>
              <a:ext uri="{28A0092B-C50C-407E-A947-70E740481C1C}">
                <a14:useLocalDpi xmlns:a14="http://schemas.microsoft.com/office/drawing/2010/main" val="0"/>
              </a:ext>
            </a:extLst>
          </a:blip>
          <a:srcRect l="20106" t="29504" r="24761" b="25106"/>
          <a:stretch/>
        </p:blipFill>
        <p:spPr>
          <a:xfrm>
            <a:off x="2185569" y="2097110"/>
            <a:ext cx="6721813" cy="3112852"/>
          </a:xfrm>
          <a:prstGeom prst="rect">
            <a:avLst/>
          </a:prstGeom>
        </p:spPr>
      </p:pic>
      <p:sp>
        <p:nvSpPr>
          <p:cNvPr id="2" name="Title 1">
            <a:extLst>
              <a:ext uri="{FF2B5EF4-FFF2-40B4-BE49-F238E27FC236}">
                <a16:creationId xmlns:a16="http://schemas.microsoft.com/office/drawing/2014/main" id="{24AD8CAA-A8AA-844A-F756-6C6532E5D286}"/>
              </a:ext>
            </a:extLst>
          </p:cNvPr>
          <p:cNvSpPr>
            <a:spLocks noGrp="1"/>
          </p:cNvSpPr>
          <p:nvPr>
            <p:ph type="title"/>
          </p:nvPr>
        </p:nvSpPr>
        <p:spPr/>
        <p:txBody>
          <a:bodyPr/>
          <a:lstStyle/>
          <a:p>
            <a:r>
              <a:rPr lang="en-US" dirty="0"/>
              <a:t>Why are we talking about heat?</a:t>
            </a:r>
            <a:br>
              <a:rPr lang="en-US" dirty="0"/>
            </a:br>
            <a:r>
              <a:rPr lang="en-US" sz="2800" i="1" dirty="0"/>
              <a:t>Northern Hemisphere, summer</a:t>
            </a:r>
            <a:endParaRPr lang="en-US" i="1" dirty="0"/>
          </a:p>
        </p:txBody>
      </p:sp>
      <p:sp>
        <p:nvSpPr>
          <p:cNvPr id="3" name="Content Placeholder 2">
            <a:extLst>
              <a:ext uri="{FF2B5EF4-FFF2-40B4-BE49-F238E27FC236}">
                <a16:creationId xmlns:a16="http://schemas.microsoft.com/office/drawing/2014/main" id="{DFCDDC18-180B-1A78-C571-03AE377F0990}"/>
              </a:ext>
            </a:extLst>
          </p:cNvPr>
          <p:cNvSpPr>
            <a:spLocks noGrp="1"/>
          </p:cNvSpPr>
          <p:nvPr>
            <p:ph idx="1"/>
          </p:nvPr>
        </p:nvSpPr>
        <p:spPr>
          <a:xfrm>
            <a:off x="964035" y="6153710"/>
            <a:ext cx="10515600" cy="339165"/>
          </a:xfrm>
        </p:spPr>
        <p:txBody>
          <a:bodyPr>
            <a:normAutofit fontScale="55000" lnSpcReduction="20000"/>
          </a:bodyPr>
          <a:lstStyle/>
          <a:p>
            <a:pPr marL="0" indent="0">
              <a:buNone/>
            </a:pPr>
            <a:r>
              <a:rPr lang="en-US"/>
              <a:t>https://www.nytimes.com/2019/02/28/learning/teach-about-climate-change-with-these-24-new-york-times-graphs.html</a:t>
            </a:r>
          </a:p>
        </p:txBody>
      </p:sp>
      <p:pic>
        <p:nvPicPr>
          <p:cNvPr id="9" name="Picture 8" descr="Chart&#10;&#10;Description automatically generated with medium confidence">
            <a:extLst>
              <a:ext uri="{FF2B5EF4-FFF2-40B4-BE49-F238E27FC236}">
                <a16:creationId xmlns:a16="http://schemas.microsoft.com/office/drawing/2014/main" id="{5EA7CC85-F37E-C82A-D251-8D44B17D77EB}"/>
              </a:ext>
            </a:extLst>
          </p:cNvPr>
          <p:cNvPicPr>
            <a:picLocks noChangeAspect="1"/>
          </p:cNvPicPr>
          <p:nvPr/>
        </p:nvPicPr>
        <p:blipFill rotWithShape="1">
          <a:blip r:embed="rId3">
            <a:extLst>
              <a:ext uri="{28A0092B-C50C-407E-A947-70E740481C1C}">
                <a14:useLocalDpi xmlns:a14="http://schemas.microsoft.com/office/drawing/2010/main" val="0"/>
              </a:ext>
            </a:extLst>
          </a:blip>
          <a:srcRect l="20505" t="29929" r="20612" b="25816"/>
          <a:stretch/>
        </p:blipFill>
        <p:spPr>
          <a:xfrm>
            <a:off x="2216373" y="2147432"/>
            <a:ext cx="7179013" cy="3035030"/>
          </a:xfrm>
          <a:prstGeom prst="rect">
            <a:avLst/>
          </a:prstGeom>
        </p:spPr>
      </p:pic>
      <p:pic>
        <p:nvPicPr>
          <p:cNvPr id="11" name="Picture 10" descr="Chart&#10;&#10;Description automatically generated">
            <a:extLst>
              <a:ext uri="{FF2B5EF4-FFF2-40B4-BE49-F238E27FC236}">
                <a16:creationId xmlns:a16="http://schemas.microsoft.com/office/drawing/2014/main" id="{5625460C-457B-0D29-BD1F-34D15458A6B1}"/>
              </a:ext>
            </a:extLst>
          </p:cNvPr>
          <p:cNvPicPr>
            <a:picLocks noChangeAspect="1"/>
          </p:cNvPicPr>
          <p:nvPr/>
        </p:nvPicPr>
        <p:blipFill rotWithShape="1">
          <a:blip r:embed="rId4">
            <a:extLst>
              <a:ext uri="{28A0092B-C50C-407E-A947-70E740481C1C}">
                <a14:useLocalDpi xmlns:a14="http://schemas.microsoft.com/office/drawing/2010/main" val="0"/>
              </a:ext>
            </a:extLst>
          </a:blip>
          <a:srcRect l="21303" t="30071" r="23564" b="27376"/>
          <a:stretch/>
        </p:blipFill>
        <p:spPr>
          <a:xfrm>
            <a:off x="2297912" y="2165204"/>
            <a:ext cx="6721813" cy="2918298"/>
          </a:xfrm>
          <a:prstGeom prst="rect">
            <a:avLst/>
          </a:prstGeom>
        </p:spPr>
      </p:pic>
      <p:pic>
        <p:nvPicPr>
          <p:cNvPr id="5" name="Picture 4">
            <a:extLst>
              <a:ext uri="{FF2B5EF4-FFF2-40B4-BE49-F238E27FC236}">
                <a16:creationId xmlns:a16="http://schemas.microsoft.com/office/drawing/2014/main" id="{AA557003-8CAF-7207-D038-977DBF4BA05F}"/>
              </a:ext>
            </a:extLst>
          </p:cNvPr>
          <p:cNvPicPr>
            <a:picLocks noChangeAspect="1"/>
          </p:cNvPicPr>
          <p:nvPr/>
        </p:nvPicPr>
        <p:blipFill rotWithShape="1">
          <a:blip r:embed="rId5"/>
          <a:srcRect l="20821" t="29327" r="21892" b="27128"/>
          <a:stretch/>
        </p:blipFill>
        <p:spPr>
          <a:xfrm>
            <a:off x="2216373" y="2147432"/>
            <a:ext cx="6984460" cy="2986392"/>
          </a:xfrm>
          <a:prstGeom prst="rect">
            <a:avLst/>
          </a:prstGeom>
        </p:spPr>
      </p:pic>
      <p:sp>
        <p:nvSpPr>
          <p:cNvPr id="4" name="Slide Number Placeholder 3">
            <a:extLst>
              <a:ext uri="{FF2B5EF4-FFF2-40B4-BE49-F238E27FC236}">
                <a16:creationId xmlns:a16="http://schemas.microsoft.com/office/drawing/2014/main" id="{0B63132A-2F53-A049-3013-B1F9B1C88EAB}"/>
              </a:ext>
            </a:extLst>
          </p:cNvPr>
          <p:cNvSpPr>
            <a:spLocks noGrp="1"/>
          </p:cNvSpPr>
          <p:nvPr>
            <p:ph type="sldNum" sz="quarter" idx="12"/>
          </p:nvPr>
        </p:nvSpPr>
        <p:spPr>
          <a:xfrm>
            <a:off x="8610600" y="6356350"/>
            <a:ext cx="2743200" cy="365125"/>
          </a:xfrm>
        </p:spPr>
        <p:txBody>
          <a:bodyPr/>
          <a:lstStyle/>
          <a:p>
            <a:fld id="{F6F8042C-985E-034B-BB41-2A1F3109AE7A}" type="slidenum">
              <a:rPr lang="en-US" smtClean="0"/>
              <a:t>9</a:t>
            </a:fld>
            <a:endParaRPr lang="en-US"/>
          </a:p>
        </p:txBody>
      </p:sp>
    </p:spTree>
    <p:extLst>
      <p:ext uri="{BB962C8B-B14F-4D97-AF65-F5344CB8AC3E}">
        <p14:creationId xmlns:p14="http://schemas.microsoft.com/office/powerpoint/2010/main" val="117353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C0B99-073F-B41F-1E34-E43B0DCB656D}"/>
              </a:ext>
            </a:extLst>
          </p:cNvPr>
          <p:cNvSpPr>
            <a:spLocks noGrp="1"/>
          </p:cNvSpPr>
          <p:nvPr>
            <p:ph type="title"/>
          </p:nvPr>
        </p:nvSpPr>
        <p:spPr>
          <a:xfrm>
            <a:off x="838200" y="365125"/>
            <a:ext cx="9157447" cy="1325563"/>
          </a:xfrm>
        </p:spPr>
        <p:txBody>
          <a:bodyPr/>
          <a:lstStyle/>
          <a:p>
            <a:r>
              <a:rPr lang="en-US"/>
              <a:t>Wide range of health impacts from hot temperatures and heatwaves</a:t>
            </a:r>
          </a:p>
        </p:txBody>
      </p:sp>
      <p:sp>
        <p:nvSpPr>
          <p:cNvPr id="3" name="Content Placeholder 2">
            <a:extLst>
              <a:ext uri="{FF2B5EF4-FFF2-40B4-BE49-F238E27FC236}">
                <a16:creationId xmlns:a16="http://schemas.microsoft.com/office/drawing/2014/main" id="{A3DDD9E6-C537-1ECA-464F-8B9E5D8AF140}"/>
              </a:ext>
            </a:extLst>
          </p:cNvPr>
          <p:cNvSpPr>
            <a:spLocks noGrp="1"/>
          </p:cNvSpPr>
          <p:nvPr>
            <p:ph idx="1"/>
          </p:nvPr>
        </p:nvSpPr>
        <p:spPr>
          <a:xfrm>
            <a:off x="838200" y="1825625"/>
            <a:ext cx="4961965" cy="2791199"/>
          </a:xfrm>
        </p:spPr>
        <p:txBody>
          <a:bodyPr>
            <a:normAutofit fontScale="85000" lnSpcReduction="20000"/>
          </a:bodyPr>
          <a:lstStyle/>
          <a:p>
            <a:r>
              <a:rPr lang="en-US" sz="2400"/>
              <a:t>Heat illness: dehydration, heat cramps, heat stroke</a:t>
            </a:r>
          </a:p>
          <a:p>
            <a:r>
              <a:rPr lang="en-US" sz="2400"/>
              <a:t>ER visits, hospitalizations: cardiovascular, respiratory, diabetes, stroke, mental health, renal disease </a:t>
            </a:r>
          </a:p>
          <a:p>
            <a:r>
              <a:rPr lang="en-US" sz="2400"/>
              <a:t>Adverse pregnancy and birth outcomes</a:t>
            </a:r>
          </a:p>
          <a:p>
            <a:r>
              <a:rPr lang="en-US" sz="2400"/>
              <a:t>Mortality: cardiovascular, respiratory, mental health, renal disease</a:t>
            </a:r>
          </a:p>
          <a:p>
            <a:pPr lvl="1">
              <a:buFont typeface="Wingdings" panose="05000000000000000000" pitchFamily="2" charset="2"/>
              <a:buChar char="Ø"/>
            </a:pPr>
            <a:r>
              <a:rPr lang="en-US" sz="2000"/>
              <a:t>Heat is one of the largest weather-related causes of death in high-income countries</a:t>
            </a:r>
          </a:p>
          <a:p>
            <a:endParaRPr lang="en-US" sz="2400"/>
          </a:p>
          <a:p>
            <a:endParaRPr lang="en-US" sz="2400"/>
          </a:p>
        </p:txBody>
      </p:sp>
      <p:sp>
        <p:nvSpPr>
          <p:cNvPr id="4" name="Slide Number Placeholder 3">
            <a:extLst>
              <a:ext uri="{FF2B5EF4-FFF2-40B4-BE49-F238E27FC236}">
                <a16:creationId xmlns:a16="http://schemas.microsoft.com/office/drawing/2014/main" id="{FB122913-95D4-B202-AFA8-926FC28DF4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90B7EB-210A-FA48-A29E-691CB0FEBD0B}" type="slidenum">
              <a:rPr kumimoji="0" lang="en-US" sz="1200" b="0" i="0" u="none" strike="noStrike" kern="1200" cap="none" spc="0" normalizeH="0" baseline="0" noProof="0" smtClean="0">
                <a:ln>
                  <a:noFill/>
                </a:ln>
                <a:solidFill>
                  <a:srgbClr val="173840"/>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173840"/>
              </a:solidFill>
              <a:effectLst/>
              <a:uLnTx/>
              <a:uFillTx/>
              <a:latin typeface="Calibri" panose="020F0502020204030204" pitchFamily="34" charset="0"/>
              <a:ea typeface="+mn-ea"/>
              <a:cs typeface="Calibri" panose="020F0502020204030204" pitchFamily="34" charset="0"/>
            </a:endParaRPr>
          </a:p>
        </p:txBody>
      </p:sp>
      <p:pic>
        <p:nvPicPr>
          <p:cNvPr id="13" name="Picture 12">
            <a:extLst>
              <a:ext uri="{FF2B5EF4-FFF2-40B4-BE49-F238E27FC236}">
                <a16:creationId xmlns:a16="http://schemas.microsoft.com/office/drawing/2014/main" id="{EF7D85AC-2A59-293A-137C-8D00F8B7EDCB}"/>
              </a:ext>
            </a:extLst>
          </p:cNvPr>
          <p:cNvPicPr>
            <a:picLocks noChangeAspect="1"/>
          </p:cNvPicPr>
          <p:nvPr/>
        </p:nvPicPr>
        <p:blipFill>
          <a:blip r:embed="rId2"/>
          <a:stretch>
            <a:fillRect/>
          </a:stretch>
        </p:blipFill>
        <p:spPr>
          <a:xfrm>
            <a:off x="6194613" y="1825625"/>
            <a:ext cx="5344619" cy="2452941"/>
          </a:xfrm>
          <a:prstGeom prst="rect">
            <a:avLst/>
          </a:prstGeom>
        </p:spPr>
      </p:pic>
      <p:sp>
        <p:nvSpPr>
          <p:cNvPr id="14" name="TextBox 13">
            <a:extLst>
              <a:ext uri="{FF2B5EF4-FFF2-40B4-BE49-F238E27FC236}">
                <a16:creationId xmlns:a16="http://schemas.microsoft.com/office/drawing/2014/main" id="{D2D2F5D1-3EFD-D491-C9FE-A59B98D6A21C}"/>
              </a:ext>
            </a:extLst>
          </p:cNvPr>
          <p:cNvSpPr txBox="1"/>
          <p:nvPr/>
        </p:nvSpPr>
        <p:spPr>
          <a:xfrm>
            <a:off x="8926786" y="4140066"/>
            <a:ext cx="2612446" cy="276999"/>
          </a:xfrm>
          <a:prstGeom prst="rect">
            <a:avLst/>
          </a:prstGeom>
          <a:noFill/>
        </p:spPr>
        <p:txBody>
          <a:bodyPr wrap="none" rtlCol="0">
            <a:spAutoFit/>
          </a:bodyPr>
          <a:lstStyle/>
          <a:p>
            <a:r>
              <a:rPr lang="en-US" sz="1200"/>
              <a:t> NOAA National Weather Service, 2016</a:t>
            </a:r>
          </a:p>
        </p:txBody>
      </p:sp>
      <p:sp>
        <p:nvSpPr>
          <p:cNvPr id="16" name="TextBox 15">
            <a:extLst>
              <a:ext uri="{FF2B5EF4-FFF2-40B4-BE49-F238E27FC236}">
                <a16:creationId xmlns:a16="http://schemas.microsoft.com/office/drawing/2014/main" id="{472DA83A-2163-D7BB-04A8-FDBA24AC34D9}"/>
              </a:ext>
            </a:extLst>
          </p:cNvPr>
          <p:cNvSpPr txBox="1"/>
          <p:nvPr/>
        </p:nvSpPr>
        <p:spPr>
          <a:xfrm>
            <a:off x="8804167" y="1799130"/>
            <a:ext cx="1766047" cy="307777"/>
          </a:xfrm>
          <a:prstGeom prst="rect">
            <a:avLst/>
          </a:prstGeom>
          <a:noFill/>
        </p:spPr>
        <p:txBody>
          <a:bodyPr wrap="square">
            <a:spAutoFit/>
          </a:bodyPr>
          <a:lstStyle/>
          <a:p>
            <a:r>
              <a:rPr lang="en-US" sz="1400" b="1">
                <a:solidFill>
                  <a:srgbClr val="19365E"/>
                </a:solidFill>
              </a:rPr>
              <a:t>(United States)</a:t>
            </a:r>
          </a:p>
        </p:txBody>
      </p:sp>
      <p:pic>
        <p:nvPicPr>
          <p:cNvPr id="18" name="Picture 17">
            <a:extLst>
              <a:ext uri="{FF2B5EF4-FFF2-40B4-BE49-F238E27FC236}">
                <a16:creationId xmlns:a16="http://schemas.microsoft.com/office/drawing/2014/main" id="{0774AB63-F1CE-A535-BDBB-80F71D880283}"/>
              </a:ext>
            </a:extLst>
          </p:cNvPr>
          <p:cNvPicPr>
            <a:picLocks noChangeAspect="1"/>
          </p:cNvPicPr>
          <p:nvPr/>
        </p:nvPicPr>
        <p:blipFill>
          <a:blip r:embed="rId3"/>
          <a:stretch>
            <a:fillRect/>
          </a:stretch>
        </p:blipFill>
        <p:spPr>
          <a:xfrm>
            <a:off x="652768" y="4406219"/>
            <a:ext cx="8484277" cy="1994219"/>
          </a:xfrm>
          <a:prstGeom prst="rect">
            <a:avLst/>
          </a:prstGeom>
        </p:spPr>
      </p:pic>
      <p:sp>
        <p:nvSpPr>
          <p:cNvPr id="20" name="TextBox 19">
            <a:extLst>
              <a:ext uri="{FF2B5EF4-FFF2-40B4-BE49-F238E27FC236}">
                <a16:creationId xmlns:a16="http://schemas.microsoft.com/office/drawing/2014/main" id="{5D378101-BB1E-D5BD-ECD6-FB602E8957D0}"/>
              </a:ext>
            </a:extLst>
          </p:cNvPr>
          <p:cNvSpPr txBox="1"/>
          <p:nvPr/>
        </p:nvSpPr>
        <p:spPr>
          <a:xfrm>
            <a:off x="3657600" y="6333183"/>
            <a:ext cx="6096000" cy="276999"/>
          </a:xfrm>
          <a:prstGeom prst="rect">
            <a:avLst/>
          </a:prstGeom>
          <a:noFill/>
        </p:spPr>
        <p:txBody>
          <a:bodyPr wrap="square">
            <a:spAutoFit/>
          </a:bodyPr>
          <a:lstStyle/>
          <a:p>
            <a:r>
              <a:rPr lang="en-US" sz="1200"/>
              <a:t>https://www.who.int/news-room/fact-sheets/detail/climate-change-heat-and-health</a:t>
            </a:r>
          </a:p>
        </p:txBody>
      </p:sp>
    </p:spTree>
    <p:extLst>
      <p:ext uri="{BB962C8B-B14F-4D97-AF65-F5344CB8AC3E}">
        <p14:creationId xmlns:p14="http://schemas.microsoft.com/office/powerpoint/2010/main" val="428386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4" grpId="0"/>
      <p:bldP spid="16"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Content Placeholder 15">
            <a:extLst>
              <a:ext uri="{FF2B5EF4-FFF2-40B4-BE49-F238E27FC236}">
                <a16:creationId xmlns:a16="http://schemas.microsoft.com/office/drawing/2014/main" id="{A57A4784-6E84-AE43-07EC-CDAF2F6571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21003735">
            <a:off x="589126" y="4246613"/>
            <a:ext cx="4199383" cy="3749951"/>
          </a:xfrm>
          <a:prstGeom prst="rect">
            <a:avLst/>
          </a:prstGeom>
          <a:ln>
            <a:solidFill>
              <a:schemeClr val="tx1"/>
            </a:solidFill>
          </a:ln>
        </p:spPr>
      </p:pic>
      <p:sp>
        <p:nvSpPr>
          <p:cNvPr id="2" name="Title 1">
            <a:extLst>
              <a:ext uri="{FF2B5EF4-FFF2-40B4-BE49-F238E27FC236}">
                <a16:creationId xmlns:a16="http://schemas.microsoft.com/office/drawing/2014/main" id="{E58C0B99-073F-B41F-1E34-E43B0DCB656D}"/>
              </a:ext>
            </a:extLst>
          </p:cNvPr>
          <p:cNvSpPr>
            <a:spLocks noGrp="1"/>
          </p:cNvSpPr>
          <p:nvPr>
            <p:ph type="title"/>
          </p:nvPr>
        </p:nvSpPr>
        <p:spPr>
          <a:xfrm>
            <a:off x="838199" y="365125"/>
            <a:ext cx="10914529" cy="1325563"/>
          </a:xfrm>
        </p:spPr>
        <p:txBody>
          <a:bodyPr/>
          <a:lstStyle/>
          <a:p>
            <a:r>
              <a:rPr lang="en-US"/>
              <a:t>Importance of preparedness and prevention!</a:t>
            </a:r>
          </a:p>
        </p:txBody>
      </p:sp>
      <p:sp>
        <p:nvSpPr>
          <p:cNvPr id="4" name="Slide Number Placeholder 3">
            <a:extLst>
              <a:ext uri="{FF2B5EF4-FFF2-40B4-BE49-F238E27FC236}">
                <a16:creationId xmlns:a16="http://schemas.microsoft.com/office/drawing/2014/main" id="{FB122913-95D4-B202-AFA8-926FC28DF4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90B7EB-210A-FA48-A29E-691CB0FEBD0B}" type="slidenum">
              <a:rPr kumimoji="0" lang="en-US" sz="1200" b="0" i="0" u="none" strike="noStrike" kern="1200" cap="none" spc="0" normalizeH="0" baseline="0" noProof="0" smtClean="0">
                <a:ln>
                  <a:noFill/>
                </a:ln>
                <a:solidFill>
                  <a:srgbClr val="173840"/>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173840"/>
              </a:solidFill>
              <a:effectLst/>
              <a:uLnTx/>
              <a:uFillTx/>
              <a:latin typeface="Calibri" panose="020F0502020204030204" pitchFamily="34" charset="0"/>
              <a:ea typeface="+mn-ea"/>
              <a:cs typeface="Calibri" panose="020F0502020204030204" pitchFamily="34" charset="0"/>
            </a:endParaRPr>
          </a:p>
        </p:txBody>
      </p:sp>
      <p:pic>
        <p:nvPicPr>
          <p:cNvPr id="18" name="Picture 17">
            <a:extLst>
              <a:ext uri="{FF2B5EF4-FFF2-40B4-BE49-F238E27FC236}">
                <a16:creationId xmlns:a16="http://schemas.microsoft.com/office/drawing/2014/main" id="{E950DA28-058B-F081-46FD-07444A0F870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20963339">
            <a:off x="3413940" y="4392278"/>
            <a:ext cx="4560399" cy="3632333"/>
          </a:xfrm>
          <a:prstGeom prst="rect">
            <a:avLst/>
          </a:prstGeom>
          <a:ln>
            <a:solidFill>
              <a:schemeClr val="tx1"/>
            </a:solidFill>
          </a:ln>
        </p:spPr>
      </p:pic>
      <p:pic>
        <p:nvPicPr>
          <p:cNvPr id="20" name="Picture 19">
            <a:extLst>
              <a:ext uri="{FF2B5EF4-FFF2-40B4-BE49-F238E27FC236}">
                <a16:creationId xmlns:a16="http://schemas.microsoft.com/office/drawing/2014/main" id="{91D48F01-C90B-415F-1C5C-6E960A4BD01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rot="20939678">
            <a:off x="6877256" y="4206054"/>
            <a:ext cx="4768347" cy="4132012"/>
          </a:xfrm>
          <a:prstGeom prst="rect">
            <a:avLst/>
          </a:prstGeom>
          <a:ln>
            <a:solidFill>
              <a:schemeClr val="tx1"/>
            </a:solidFill>
          </a:ln>
        </p:spPr>
      </p:pic>
      <p:sp>
        <p:nvSpPr>
          <p:cNvPr id="22" name="Content Placeholder 21">
            <a:extLst>
              <a:ext uri="{FF2B5EF4-FFF2-40B4-BE49-F238E27FC236}">
                <a16:creationId xmlns:a16="http://schemas.microsoft.com/office/drawing/2014/main" id="{21A5DEAE-EBE3-35DA-2068-EE5DE03E9EA2}"/>
              </a:ext>
            </a:extLst>
          </p:cNvPr>
          <p:cNvSpPr>
            <a:spLocks noGrp="1"/>
          </p:cNvSpPr>
          <p:nvPr>
            <p:ph idx="1"/>
          </p:nvPr>
        </p:nvSpPr>
        <p:spPr/>
        <p:txBody>
          <a:bodyPr>
            <a:normAutofit/>
          </a:bodyPr>
          <a:lstStyle/>
          <a:p>
            <a:r>
              <a:rPr lang="en-US" sz="2400"/>
              <a:t>Heat-related morbidity and mortality can be prevented</a:t>
            </a:r>
          </a:p>
          <a:p>
            <a:pPr lvl="1">
              <a:buFont typeface="Wingdings" panose="05000000000000000000" pitchFamily="2" charset="2"/>
              <a:buChar char="Ø"/>
            </a:pPr>
            <a:r>
              <a:rPr lang="en-US" sz="2000"/>
              <a:t>Improved preparedness</a:t>
            </a:r>
          </a:p>
          <a:p>
            <a:pPr lvl="1">
              <a:buFont typeface="Wingdings" panose="05000000000000000000" pitchFamily="2" charset="2"/>
              <a:buChar char="Ø"/>
            </a:pPr>
            <a:r>
              <a:rPr lang="en-US" sz="2000"/>
              <a:t>Avoiding exposure</a:t>
            </a:r>
          </a:p>
          <a:p>
            <a:r>
              <a:rPr lang="en-US" sz="2400"/>
              <a:t>Consider methods for evaluating risk factors (vulnerabilities) and possible interventions/adaptations (e.g., effect modification, interaction)</a:t>
            </a:r>
            <a:endParaRPr lang="en-US"/>
          </a:p>
        </p:txBody>
      </p:sp>
      <p:sp>
        <p:nvSpPr>
          <p:cNvPr id="27" name="TextBox 26">
            <a:extLst>
              <a:ext uri="{FF2B5EF4-FFF2-40B4-BE49-F238E27FC236}">
                <a16:creationId xmlns:a16="http://schemas.microsoft.com/office/drawing/2014/main" id="{99B29629-CDD3-4CD0-1AEA-FC7CDE5C8DBC}"/>
              </a:ext>
            </a:extLst>
          </p:cNvPr>
          <p:cNvSpPr txBox="1"/>
          <p:nvPr/>
        </p:nvSpPr>
        <p:spPr>
          <a:xfrm>
            <a:off x="-16095" y="6567579"/>
            <a:ext cx="6094476" cy="276999"/>
          </a:xfrm>
          <a:prstGeom prst="rect">
            <a:avLst/>
          </a:prstGeom>
          <a:noFill/>
        </p:spPr>
        <p:txBody>
          <a:bodyPr wrap="square">
            <a:spAutoFit/>
          </a:bodyPr>
          <a:lstStyle/>
          <a:p>
            <a:r>
              <a:rPr lang="en-US" sz="1200"/>
              <a:t>https://www.cdc.gov/climateandhealth/effects/temperature_extremes.htm</a:t>
            </a:r>
          </a:p>
        </p:txBody>
      </p:sp>
    </p:spTree>
    <p:extLst>
      <p:ext uri="{BB962C8B-B14F-4D97-AF65-F5344CB8AC3E}">
        <p14:creationId xmlns:p14="http://schemas.microsoft.com/office/powerpoint/2010/main" val="50766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8F525-4B6A-653D-01B9-8CF50318D3F5}"/>
              </a:ext>
            </a:extLst>
          </p:cNvPr>
          <p:cNvSpPr>
            <a:spLocks noGrp="1"/>
          </p:cNvSpPr>
          <p:nvPr>
            <p:ph type="title"/>
          </p:nvPr>
        </p:nvSpPr>
        <p:spPr>
          <a:xfrm>
            <a:off x="838199" y="365125"/>
            <a:ext cx="10679723" cy="1460500"/>
          </a:xfrm>
        </p:spPr>
        <p:txBody>
          <a:bodyPr>
            <a:normAutofit fontScale="90000"/>
          </a:bodyPr>
          <a:lstStyle/>
          <a:p>
            <a:r>
              <a:rPr lang="en-US" sz="4800" dirty="0">
                <a:latin typeface="+mn-lt"/>
              </a:rPr>
              <a:t>Climate change adaptation through</a:t>
            </a:r>
            <a:br>
              <a:rPr lang="en-US" dirty="0">
                <a:latin typeface="+mn-lt"/>
              </a:rPr>
            </a:br>
            <a:r>
              <a:rPr lang="en-US" b="1" i="1" dirty="0">
                <a:latin typeface="+mn-lt"/>
              </a:rPr>
              <a:t>Heat preparedness and public health surveillance</a:t>
            </a:r>
          </a:p>
        </p:txBody>
      </p:sp>
      <p:sp>
        <p:nvSpPr>
          <p:cNvPr id="3" name="Content Placeholder 2">
            <a:extLst>
              <a:ext uri="{FF2B5EF4-FFF2-40B4-BE49-F238E27FC236}">
                <a16:creationId xmlns:a16="http://schemas.microsoft.com/office/drawing/2014/main" id="{04D80682-7914-1465-FE9C-235CB7920625}"/>
              </a:ext>
            </a:extLst>
          </p:cNvPr>
          <p:cNvSpPr>
            <a:spLocks noGrp="1"/>
          </p:cNvSpPr>
          <p:nvPr>
            <p:ph idx="1"/>
          </p:nvPr>
        </p:nvSpPr>
        <p:spPr>
          <a:xfrm>
            <a:off x="838200" y="1978429"/>
            <a:ext cx="10515600" cy="4002550"/>
          </a:xfrm>
        </p:spPr>
        <p:txBody>
          <a:bodyPr>
            <a:normAutofit fontScale="92500"/>
          </a:bodyPr>
          <a:lstStyle/>
          <a:p>
            <a:r>
              <a:rPr lang="en-US" sz="2400" dirty="0"/>
              <a:t>Extreme heat is among the deadliest weather-related hazards in the United States</a:t>
            </a:r>
          </a:p>
          <a:p>
            <a:r>
              <a:rPr lang="en-US" sz="2400" dirty="0"/>
              <a:t>Heat-related illness can lead to emergency department visits, hospitalizations, and death</a:t>
            </a:r>
          </a:p>
          <a:p>
            <a:r>
              <a:rPr lang="en-US" sz="2400" b="1" dirty="0"/>
              <a:t>As extreme heat becomes more frequent, health departments are expanding syndromic surveillance systems to track health impacts and inform adaptation efforts.</a:t>
            </a:r>
          </a:p>
          <a:p>
            <a:pPr marL="0" indent="0">
              <a:buNone/>
            </a:pPr>
            <a:endParaRPr lang="en-US" b="1" dirty="0"/>
          </a:p>
          <a:p>
            <a:pPr marL="0" indent="0">
              <a:buNone/>
            </a:pPr>
            <a:r>
              <a:rPr lang="en-US" b="1" dirty="0">
                <a:solidFill>
                  <a:srgbClr val="990000"/>
                </a:solidFill>
              </a:rPr>
              <a:t>Question:</a:t>
            </a:r>
            <a:br>
              <a:rPr lang="en-US" b="1" dirty="0">
                <a:solidFill>
                  <a:srgbClr val="990000"/>
                </a:solidFill>
              </a:rPr>
            </a:br>
            <a:r>
              <a:rPr lang="en-US" b="1" dirty="0">
                <a:solidFill>
                  <a:srgbClr val="990000"/>
                </a:solidFill>
              </a:rPr>
              <a:t>Using publicly available real-time syndromic surveillance system data, </a:t>
            </a:r>
            <a:br>
              <a:rPr lang="en-US" b="1" dirty="0">
                <a:solidFill>
                  <a:srgbClr val="990000"/>
                </a:solidFill>
              </a:rPr>
            </a:br>
            <a:r>
              <a:rPr lang="en-US" b="1" dirty="0">
                <a:solidFill>
                  <a:srgbClr val="990000"/>
                </a:solidFill>
              </a:rPr>
              <a:t>what is the association of daily temperature with heat-related emergency department visits?</a:t>
            </a:r>
          </a:p>
          <a:p>
            <a:pPr lvl="1"/>
            <a:endParaRPr lang="en-US" dirty="0"/>
          </a:p>
          <a:p>
            <a:endParaRPr lang="en-US" dirty="0"/>
          </a:p>
        </p:txBody>
      </p:sp>
    </p:spTree>
    <p:extLst>
      <p:ext uri="{BB962C8B-B14F-4D97-AF65-F5344CB8AC3E}">
        <p14:creationId xmlns:p14="http://schemas.microsoft.com/office/powerpoint/2010/main" val="3861414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4EDF1-9650-4D45-1E36-2881528B4B8B}"/>
              </a:ext>
            </a:extLst>
          </p:cNvPr>
          <p:cNvSpPr>
            <a:spLocks noGrp="1"/>
          </p:cNvSpPr>
          <p:nvPr>
            <p:ph type="title"/>
          </p:nvPr>
        </p:nvSpPr>
        <p:spPr>
          <a:xfrm>
            <a:off x="639641" y="104588"/>
            <a:ext cx="10515600" cy="890279"/>
          </a:xfrm>
        </p:spPr>
        <p:txBody>
          <a:bodyPr/>
          <a:lstStyle/>
          <a:p>
            <a:r>
              <a:rPr lang="en-US" b="1" dirty="0"/>
              <a:t>Real-time heat-related illness for NYC</a:t>
            </a:r>
          </a:p>
        </p:txBody>
      </p:sp>
      <p:sp>
        <p:nvSpPr>
          <p:cNvPr id="5" name="TextBox 4">
            <a:extLst>
              <a:ext uri="{FF2B5EF4-FFF2-40B4-BE49-F238E27FC236}">
                <a16:creationId xmlns:a16="http://schemas.microsoft.com/office/drawing/2014/main" id="{A7446D64-1217-E2D6-47C1-830C8A6224BD}"/>
              </a:ext>
            </a:extLst>
          </p:cNvPr>
          <p:cNvSpPr txBox="1"/>
          <p:nvPr/>
        </p:nvSpPr>
        <p:spPr>
          <a:xfrm>
            <a:off x="455002" y="6389517"/>
            <a:ext cx="9717698" cy="369332"/>
          </a:xfrm>
          <a:prstGeom prst="rect">
            <a:avLst/>
          </a:prstGeom>
          <a:noFill/>
        </p:spPr>
        <p:txBody>
          <a:bodyPr wrap="square">
            <a:spAutoFit/>
          </a:bodyPr>
          <a:lstStyle/>
          <a:p>
            <a:r>
              <a:rPr lang="en-US" dirty="0"/>
              <a:t>https://a816-dohbesp.nyc.gov/IndicatorPublic/data-features/heat-syndrome/</a:t>
            </a:r>
          </a:p>
        </p:txBody>
      </p:sp>
      <p:sp>
        <p:nvSpPr>
          <p:cNvPr id="7" name="TextBox 6">
            <a:extLst>
              <a:ext uri="{FF2B5EF4-FFF2-40B4-BE49-F238E27FC236}">
                <a16:creationId xmlns:a16="http://schemas.microsoft.com/office/drawing/2014/main" id="{7D4F1E0D-872A-5B0B-CD57-5B36A86FD892}"/>
              </a:ext>
            </a:extLst>
          </p:cNvPr>
          <p:cNvSpPr txBox="1"/>
          <p:nvPr/>
        </p:nvSpPr>
        <p:spPr>
          <a:xfrm>
            <a:off x="639640" y="1196849"/>
            <a:ext cx="4869061" cy="4832092"/>
          </a:xfrm>
          <a:prstGeom prst="rect">
            <a:avLst/>
          </a:prstGeom>
          <a:noFill/>
        </p:spPr>
        <p:txBody>
          <a:bodyPr wrap="square">
            <a:spAutoFit/>
          </a:bodyPr>
          <a:lstStyle/>
          <a:p>
            <a:r>
              <a:rPr lang="en-US" sz="1400" b="1" i="0" dirty="0">
                <a:solidFill>
                  <a:srgbClr val="212529"/>
                </a:solidFill>
                <a:effectLst/>
                <a:latin typeface="-apple-system"/>
              </a:rPr>
              <a:t>Heat-related illness, </a:t>
            </a:r>
            <a:r>
              <a:rPr lang="en-US" sz="1400" dirty="0">
                <a:solidFill>
                  <a:srgbClr val="212529"/>
                </a:solidFill>
                <a:latin typeface="-apple-system"/>
              </a:rPr>
              <a:t>including heat exhaustion, muscle cramps, fainting and heat stroke,</a:t>
            </a:r>
            <a:r>
              <a:rPr lang="en-US" sz="1400" b="1" i="0" dirty="0">
                <a:solidFill>
                  <a:srgbClr val="212529"/>
                </a:solidFill>
                <a:effectLst/>
                <a:latin typeface="-apple-system"/>
              </a:rPr>
              <a:t> </a:t>
            </a:r>
            <a:r>
              <a:rPr lang="en-US" sz="1400" b="0" i="0" dirty="0">
                <a:solidFill>
                  <a:srgbClr val="212529"/>
                </a:solidFill>
                <a:effectLst/>
                <a:latin typeface="-apple-system"/>
              </a:rPr>
              <a:t>are tracked using near real-time electronic data from emergency departments at hospitals throughout NYC. These data include illnesses directly attributed to heat, not the full burden of heat-related health impacts.</a:t>
            </a:r>
          </a:p>
          <a:p>
            <a:pPr algn="l">
              <a:buNone/>
            </a:pPr>
            <a:endParaRPr lang="en-US" sz="1400" b="0" i="0" dirty="0">
              <a:solidFill>
                <a:srgbClr val="212529"/>
              </a:solidFill>
              <a:effectLst/>
              <a:latin typeface="-apple-system"/>
            </a:endParaRPr>
          </a:p>
          <a:p>
            <a:pPr algn="l">
              <a:buNone/>
            </a:pPr>
            <a:r>
              <a:rPr lang="en-US" sz="1400" b="0" i="0" dirty="0">
                <a:solidFill>
                  <a:srgbClr val="212529"/>
                </a:solidFill>
                <a:effectLst/>
                <a:latin typeface="-apple-system"/>
              </a:rPr>
              <a:t>We track these outcomes throughout NYC using a system called </a:t>
            </a:r>
            <a:r>
              <a:rPr lang="en-US" sz="1400" b="1" i="0" dirty="0">
                <a:solidFill>
                  <a:srgbClr val="212529"/>
                </a:solidFill>
                <a:effectLst/>
                <a:latin typeface="-apple-system"/>
              </a:rPr>
              <a:t>syndromic surveillance</a:t>
            </a:r>
            <a:r>
              <a:rPr lang="en-US" sz="1400" b="0" i="0" dirty="0">
                <a:solidFill>
                  <a:srgbClr val="212529"/>
                </a:solidFill>
                <a:effectLst/>
                <a:latin typeface="-apple-system"/>
              </a:rPr>
              <a:t> which lets us know how many people who visit the emergency room (ED) are being affected by certain health conditions. About 10,000 patients visit the ED per day in NYC, and reasons for their visits are captured in hospital records. These reasons are de-identified and sent to the Health Department. The Health Department then searches the records for diagnostic codes (when available) and words describing why patients are at the ED to track specific health conditions in near real-time and understand citywide trends.</a:t>
            </a:r>
          </a:p>
          <a:p>
            <a:pPr algn="l">
              <a:buNone/>
            </a:pPr>
            <a:endParaRPr lang="en-US" sz="1400" dirty="0">
              <a:solidFill>
                <a:srgbClr val="212529"/>
              </a:solidFill>
              <a:latin typeface="-apple-system"/>
            </a:endParaRPr>
          </a:p>
          <a:p>
            <a:r>
              <a:rPr lang="en-US" sz="1400" dirty="0">
                <a:solidFill>
                  <a:srgbClr val="212529"/>
                </a:solidFill>
                <a:latin typeface="-apple-system"/>
              </a:rPr>
              <a:t>Near real-time hospital data provide an early indicator of community health impacts during heat events.</a:t>
            </a:r>
          </a:p>
          <a:p>
            <a:endParaRPr lang="en-US" sz="1400" dirty="0">
              <a:solidFill>
                <a:srgbClr val="212529"/>
              </a:solidFill>
              <a:latin typeface="-apple-system"/>
            </a:endParaRPr>
          </a:p>
          <a:p>
            <a:r>
              <a:rPr lang="en-US" sz="1400" dirty="0">
                <a:solidFill>
                  <a:srgbClr val="212529"/>
                </a:solidFill>
                <a:latin typeface="-apple-system"/>
              </a:rPr>
              <a:t>Linking ED visits with temperature data helps quantify the health burden of extreme heat.</a:t>
            </a:r>
            <a:endParaRPr lang="en-US" sz="1400" b="0" i="0" dirty="0">
              <a:solidFill>
                <a:srgbClr val="212529"/>
              </a:solidFill>
              <a:effectLst/>
              <a:latin typeface="-apple-system"/>
            </a:endParaRPr>
          </a:p>
        </p:txBody>
      </p:sp>
      <p:pic>
        <p:nvPicPr>
          <p:cNvPr id="9" name="Picture 8">
            <a:extLst>
              <a:ext uri="{FF2B5EF4-FFF2-40B4-BE49-F238E27FC236}">
                <a16:creationId xmlns:a16="http://schemas.microsoft.com/office/drawing/2014/main" id="{05BF9CD9-AE47-9ABC-764E-9D793D17F67D}"/>
              </a:ext>
            </a:extLst>
          </p:cNvPr>
          <p:cNvPicPr>
            <a:picLocks noChangeAspect="1"/>
          </p:cNvPicPr>
          <p:nvPr/>
        </p:nvPicPr>
        <p:blipFill>
          <a:blip r:embed="rId2"/>
          <a:srcRect l="69840" t="13486" b="8828"/>
          <a:stretch>
            <a:fillRect/>
          </a:stretch>
        </p:blipFill>
        <p:spPr>
          <a:xfrm>
            <a:off x="6096000" y="768096"/>
            <a:ext cx="5276698" cy="5689597"/>
          </a:xfrm>
          <a:prstGeom prst="rect">
            <a:avLst/>
          </a:prstGeom>
        </p:spPr>
      </p:pic>
    </p:spTree>
    <p:extLst>
      <p:ext uri="{BB962C8B-B14F-4D97-AF65-F5344CB8AC3E}">
        <p14:creationId xmlns:p14="http://schemas.microsoft.com/office/powerpoint/2010/main" val="1164661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DA62B-E2F0-2EBA-2115-1B4117845F20}"/>
              </a:ext>
            </a:extLst>
          </p:cNvPr>
          <p:cNvSpPr>
            <a:spLocks noGrp="1"/>
          </p:cNvSpPr>
          <p:nvPr>
            <p:ph type="title"/>
          </p:nvPr>
        </p:nvSpPr>
        <p:spPr/>
        <p:txBody>
          <a:bodyPr>
            <a:normAutofit fontScale="90000"/>
          </a:bodyPr>
          <a:lstStyle/>
          <a:p>
            <a:r>
              <a:rPr lang="en-US" b="1" dirty="0"/>
              <a:t>NYC Data publicly available</a:t>
            </a:r>
            <a:br>
              <a:rPr lang="en-US" dirty="0"/>
            </a:br>
            <a:r>
              <a:rPr lang="en-US" sz="2200" dirty="0"/>
              <a:t>https://github.com/nychealth/EHDP-data/tree/production/key-topics/heat-syndrome</a:t>
            </a:r>
            <a:br>
              <a:rPr lang="en-US" dirty="0"/>
            </a:br>
            <a:endParaRPr lang="en-US" dirty="0"/>
          </a:p>
        </p:txBody>
      </p:sp>
      <p:pic>
        <p:nvPicPr>
          <p:cNvPr id="5" name="Picture 4">
            <a:extLst>
              <a:ext uri="{FF2B5EF4-FFF2-40B4-BE49-F238E27FC236}">
                <a16:creationId xmlns:a16="http://schemas.microsoft.com/office/drawing/2014/main" id="{34B0435F-D163-31AE-054F-A4D8AE76E907}"/>
              </a:ext>
            </a:extLst>
          </p:cNvPr>
          <p:cNvPicPr>
            <a:picLocks noChangeAspect="1"/>
          </p:cNvPicPr>
          <p:nvPr/>
        </p:nvPicPr>
        <p:blipFill>
          <a:blip r:embed="rId2"/>
          <a:srcRect l="52683" t="5974" r="5528" b="20175"/>
          <a:stretch>
            <a:fillRect/>
          </a:stretch>
        </p:blipFill>
        <p:spPr>
          <a:xfrm>
            <a:off x="964581" y="1248936"/>
            <a:ext cx="7302190" cy="5402040"/>
          </a:xfrm>
          <a:prstGeom prst="rect">
            <a:avLst/>
          </a:prstGeom>
        </p:spPr>
      </p:pic>
    </p:spTree>
    <p:extLst>
      <p:ext uri="{BB962C8B-B14F-4D97-AF65-F5344CB8AC3E}">
        <p14:creationId xmlns:p14="http://schemas.microsoft.com/office/powerpoint/2010/main" val="545675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5349B-54E9-1B95-1B57-86C552F026B6}"/>
              </a:ext>
            </a:extLst>
          </p:cNvPr>
          <p:cNvSpPr>
            <a:spLocks noGrp="1"/>
          </p:cNvSpPr>
          <p:nvPr>
            <p:ph type="title"/>
          </p:nvPr>
        </p:nvSpPr>
        <p:spPr>
          <a:xfrm>
            <a:off x="838200" y="215655"/>
            <a:ext cx="10515600" cy="1325563"/>
          </a:xfrm>
        </p:spPr>
        <p:txBody>
          <a:bodyPr/>
          <a:lstStyle/>
          <a:p>
            <a:r>
              <a:rPr lang="en-US" b="1" dirty="0"/>
              <a:t>Why NYC? </a:t>
            </a:r>
            <a:br>
              <a:rPr lang="en-US" b="1" dirty="0"/>
            </a:br>
            <a:r>
              <a:rPr lang="en-US" sz="2800" b="1" i="1" dirty="0"/>
              <a:t>Well-established daily data with easy data download</a:t>
            </a:r>
            <a:endParaRPr lang="en-US" b="1" i="1" dirty="0"/>
          </a:p>
        </p:txBody>
      </p:sp>
      <p:sp>
        <p:nvSpPr>
          <p:cNvPr id="3" name="Content Placeholder 2">
            <a:extLst>
              <a:ext uri="{FF2B5EF4-FFF2-40B4-BE49-F238E27FC236}">
                <a16:creationId xmlns:a16="http://schemas.microsoft.com/office/drawing/2014/main" id="{9E6A4549-1C3E-627E-5368-39DAF2034F32}"/>
              </a:ext>
            </a:extLst>
          </p:cNvPr>
          <p:cNvSpPr>
            <a:spLocks noGrp="1"/>
          </p:cNvSpPr>
          <p:nvPr>
            <p:ph idx="1"/>
          </p:nvPr>
        </p:nvSpPr>
        <p:spPr>
          <a:xfrm>
            <a:off x="838200" y="1541218"/>
            <a:ext cx="10864362" cy="4635745"/>
          </a:xfrm>
        </p:spPr>
        <p:txBody>
          <a:bodyPr>
            <a:normAutofit/>
          </a:bodyPr>
          <a:lstStyle/>
          <a:p>
            <a:r>
              <a:rPr lang="en-US" sz="2400" dirty="0"/>
              <a:t>National Syndromic Surveillance Program (NSSP) from US Centers for Disease Control and Prevention, aims to improve public health by gathering and providing syndromic data from collaborations with state and local health departments. Other illnesses tracked include: COVID-19, drug overdose, tick bites, mental health</a:t>
            </a:r>
          </a:p>
          <a:p>
            <a:r>
              <a:rPr lang="en-US" sz="2400" dirty="0"/>
              <a:t>Other locations have syndromic surveillance for heat-related ED visits:</a:t>
            </a:r>
          </a:p>
          <a:p>
            <a:pPr lvl="1"/>
            <a:r>
              <a:rPr lang="en-US" sz="2000" dirty="0"/>
              <a:t>Nationwide (CDC)</a:t>
            </a:r>
            <a:br>
              <a:rPr lang="en-US" sz="2000" dirty="0"/>
            </a:br>
            <a:r>
              <a:rPr lang="en-US" sz="1200" dirty="0"/>
              <a:t>https://ephtracking.cdc.gov/Applications/heatTracker/</a:t>
            </a:r>
          </a:p>
          <a:p>
            <a:pPr lvl="1"/>
            <a:r>
              <a:rPr lang="en-US" sz="2000" dirty="0"/>
              <a:t>Virgina [weekly counts, data downloadable]</a:t>
            </a:r>
            <a:br>
              <a:rPr lang="en-US" sz="2000" dirty="0"/>
            </a:br>
            <a:r>
              <a:rPr lang="en-US" sz="1050" dirty="0"/>
              <a:t>https://www.vdh.virginia.gov/surveillance-and-investigation/syndromic-surveillance/hri-surveillance/</a:t>
            </a:r>
            <a:endParaRPr lang="en-US" sz="1400" dirty="0"/>
          </a:p>
          <a:p>
            <a:pPr lvl="1"/>
            <a:r>
              <a:rPr lang="en-US" sz="2000" dirty="0"/>
              <a:t>Los Angeles [brand new!, no data downloads]</a:t>
            </a:r>
            <a:br>
              <a:rPr lang="en-US" sz="2000" dirty="0"/>
            </a:br>
            <a:r>
              <a:rPr lang="en-US" sz="1100" dirty="0"/>
              <a:t>https://egis-lacounty.hub.arcgis.com/pages/heat-illness-mortality~d8341bd6653741069043560c75e9a5c0</a:t>
            </a:r>
            <a:endParaRPr lang="en-US" sz="2000" dirty="0"/>
          </a:p>
        </p:txBody>
      </p:sp>
      <p:pic>
        <p:nvPicPr>
          <p:cNvPr id="5" name="Picture 4">
            <a:extLst>
              <a:ext uri="{FF2B5EF4-FFF2-40B4-BE49-F238E27FC236}">
                <a16:creationId xmlns:a16="http://schemas.microsoft.com/office/drawing/2014/main" id="{3DB82D11-6F56-DC1F-F4F0-A338E380C0E9}"/>
              </a:ext>
            </a:extLst>
          </p:cNvPr>
          <p:cNvPicPr>
            <a:picLocks noChangeAspect="1"/>
          </p:cNvPicPr>
          <p:nvPr/>
        </p:nvPicPr>
        <p:blipFill>
          <a:blip r:embed="rId2"/>
          <a:srcRect l="24695" t="20394" r="40823" b="13011"/>
          <a:stretch>
            <a:fillRect/>
          </a:stretch>
        </p:blipFill>
        <p:spPr>
          <a:xfrm>
            <a:off x="7665290" y="3367454"/>
            <a:ext cx="3974653" cy="3213345"/>
          </a:xfrm>
          <a:prstGeom prst="rect">
            <a:avLst/>
          </a:prstGeom>
        </p:spPr>
      </p:pic>
      <p:pic>
        <p:nvPicPr>
          <p:cNvPr id="9" name="Picture 8">
            <a:extLst>
              <a:ext uri="{FF2B5EF4-FFF2-40B4-BE49-F238E27FC236}">
                <a16:creationId xmlns:a16="http://schemas.microsoft.com/office/drawing/2014/main" id="{96EF0C75-570A-E1AF-46A7-A789E93BEA0E}"/>
              </a:ext>
            </a:extLst>
          </p:cNvPr>
          <p:cNvPicPr>
            <a:picLocks noChangeAspect="1"/>
          </p:cNvPicPr>
          <p:nvPr/>
        </p:nvPicPr>
        <p:blipFill>
          <a:blip r:embed="rId3"/>
          <a:srcRect l="76140" t="2736" b="4098"/>
          <a:stretch>
            <a:fillRect/>
          </a:stretch>
        </p:blipFill>
        <p:spPr>
          <a:xfrm rot="344351">
            <a:off x="7030013" y="230845"/>
            <a:ext cx="3913229" cy="6396308"/>
          </a:xfrm>
          <a:prstGeom prst="rect">
            <a:avLst/>
          </a:prstGeom>
        </p:spPr>
      </p:pic>
      <p:pic>
        <p:nvPicPr>
          <p:cNvPr id="11" name="Picture 10">
            <a:extLst>
              <a:ext uri="{FF2B5EF4-FFF2-40B4-BE49-F238E27FC236}">
                <a16:creationId xmlns:a16="http://schemas.microsoft.com/office/drawing/2014/main" id="{EE93F6E8-838F-BFDA-BBE2-D1B58A32C510}"/>
              </a:ext>
            </a:extLst>
          </p:cNvPr>
          <p:cNvPicPr>
            <a:picLocks noChangeAspect="1"/>
          </p:cNvPicPr>
          <p:nvPr/>
        </p:nvPicPr>
        <p:blipFill>
          <a:blip r:embed="rId4"/>
          <a:srcRect l="31200" t="21513" r="32320" b="19004"/>
          <a:stretch>
            <a:fillRect/>
          </a:stretch>
        </p:blipFill>
        <p:spPr>
          <a:xfrm>
            <a:off x="2626156" y="4974126"/>
            <a:ext cx="2626156" cy="1792524"/>
          </a:xfrm>
          <a:prstGeom prst="rect">
            <a:avLst/>
          </a:prstGeom>
        </p:spPr>
      </p:pic>
    </p:spTree>
    <p:extLst>
      <p:ext uri="{BB962C8B-B14F-4D97-AF65-F5344CB8AC3E}">
        <p14:creationId xmlns:p14="http://schemas.microsoft.com/office/powerpoint/2010/main" val="114522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2395-74EC-52F6-4AB5-3ABA339EC6AC}"/>
              </a:ext>
            </a:extLst>
          </p:cNvPr>
          <p:cNvSpPr>
            <a:spLocks noGrp="1"/>
          </p:cNvSpPr>
          <p:nvPr>
            <p:ph type="title"/>
          </p:nvPr>
        </p:nvSpPr>
        <p:spPr>
          <a:xfrm>
            <a:off x="838200" y="18255"/>
            <a:ext cx="10515600" cy="1097469"/>
          </a:xfrm>
        </p:spPr>
        <p:txBody>
          <a:bodyPr/>
          <a:lstStyle/>
          <a:p>
            <a:r>
              <a:rPr lang="en-US" dirty="0">
                <a:latin typeface="+mn-lt"/>
              </a:rPr>
              <a:t>Data and Suggested Analysis Plan</a:t>
            </a:r>
          </a:p>
        </p:txBody>
      </p:sp>
      <p:sp>
        <p:nvSpPr>
          <p:cNvPr id="3" name="Content Placeholder 2">
            <a:extLst>
              <a:ext uri="{FF2B5EF4-FFF2-40B4-BE49-F238E27FC236}">
                <a16:creationId xmlns:a16="http://schemas.microsoft.com/office/drawing/2014/main" id="{BC5B5811-3B23-97B3-E74D-AB530B3E37E3}"/>
              </a:ext>
            </a:extLst>
          </p:cNvPr>
          <p:cNvSpPr>
            <a:spLocks noGrp="1"/>
          </p:cNvSpPr>
          <p:nvPr>
            <p:ph idx="1"/>
          </p:nvPr>
        </p:nvSpPr>
        <p:spPr>
          <a:xfrm>
            <a:off x="838200" y="951346"/>
            <a:ext cx="11150600" cy="5225618"/>
          </a:xfrm>
        </p:spPr>
        <p:txBody>
          <a:bodyPr/>
          <a:lstStyle/>
          <a:p>
            <a:r>
              <a:rPr lang="en-US" sz="1800" dirty="0">
                <a:latin typeface="Arial" panose="020B0604020202020204" pitchFamily="34" charset="0"/>
                <a:ea typeface="Arial" panose="020B0604020202020204" pitchFamily="34" charset="0"/>
                <a:cs typeface="Arial" panose="020B0604020202020204" pitchFamily="34" charset="0"/>
              </a:rPr>
              <a:t>Data: Daily values from across NYC</a:t>
            </a:r>
          </a:p>
          <a:p>
            <a:endParaRPr lang="en-US" sz="1800" dirty="0">
              <a:latin typeface="Arial" panose="020B0604020202020204" pitchFamily="34" charset="0"/>
              <a:ea typeface="Arial" panose="020B0604020202020204" pitchFamily="34" charset="0"/>
              <a:cs typeface="Arial" panose="020B0604020202020204" pitchFamily="34" charset="0"/>
            </a:endParaRPr>
          </a:p>
          <a:p>
            <a:endParaRPr lang="en-US" sz="1800" dirty="0">
              <a:latin typeface="Arial" panose="020B0604020202020204" pitchFamily="34" charset="0"/>
              <a:ea typeface="Arial" panose="020B0604020202020204" pitchFamily="34" charset="0"/>
              <a:cs typeface="Arial" panose="020B0604020202020204" pitchFamily="34" charset="0"/>
            </a:endParaRPr>
          </a:p>
          <a:p>
            <a:endParaRPr lang="en-US" sz="1800" dirty="0">
              <a:latin typeface="Arial" panose="020B0604020202020204" pitchFamily="34" charset="0"/>
              <a:ea typeface="Arial" panose="020B0604020202020204" pitchFamily="34" charset="0"/>
              <a:cs typeface="Arial" panose="020B0604020202020204" pitchFamily="34" charset="0"/>
            </a:endParaRPr>
          </a:p>
          <a:p>
            <a:endParaRPr lang="en-US" sz="1800" dirty="0">
              <a:latin typeface="Arial" panose="020B0604020202020204" pitchFamily="34" charset="0"/>
              <a:ea typeface="Arial" panose="020B0604020202020204" pitchFamily="34" charset="0"/>
              <a:cs typeface="Arial" panose="020B0604020202020204" pitchFamily="34" charset="0"/>
            </a:endParaRPr>
          </a:p>
          <a:p>
            <a:endParaRPr lang="en-US" sz="1800" dirty="0">
              <a:latin typeface="Arial" panose="020B0604020202020204" pitchFamily="34" charset="0"/>
              <a:ea typeface="Arial" panose="020B0604020202020204" pitchFamily="34" charset="0"/>
              <a:cs typeface="Arial" panose="020B0604020202020204" pitchFamily="34" charset="0"/>
            </a:endParaRPr>
          </a:p>
          <a:p>
            <a:r>
              <a:rPr lang="en-US" sz="1800" dirty="0">
                <a:latin typeface="Arial" panose="020B0604020202020204" pitchFamily="34" charset="0"/>
                <a:ea typeface="Arial" panose="020B0604020202020204" pitchFamily="34" charset="0"/>
                <a:cs typeface="Arial" panose="020B0604020202020204" pitchFamily="34" charset="0"/>
              </a:rPr>
              <a:t>Develop your research question</a:t>
            </a:r>
          </a:p>
          <a:p>
            <a:r>
              <a:rPr lang="en-US" sz="1800" dirty="0">
                <a:latin typeface="Arial" panose="020B0604020202020204" pitchFamily="34" charset="0"/>
                <a:ea typeface="Arial" panose="020B0604020202020204" pitchFamily="34" charset="0"/>
                <a:cs typeface="Arial" panose="020B0604020202020204" pitchFamily="34" charset="0"/>
              </a:rPr>
              <a:t>Obtain and prepare data</a:t>
            </a:r>
          </a:p>
          <a:p>
            <a:r>
              <a:rPr lang="en-US" sz="1800" dirty="0">
                <a:latin typeface="Arial" panose="020B0604020202020204" pitchFamily="34" charset="0"/>
                <a:ea typeface="Arial" panose="020B0604020202020204" pitchFamily="34" charset="0"/>
                <a:cs typeface="Arial" panose="020B0604020202020204" pitchFamily="34" charset="0"/>
              </a:rPr>
              <a:t>Exploratory analyses, </a:t>
            </a:r>
          </a:p>
          <a:p>
            <a:r>
              <a:rPr lang="en-US" sz="1800" dirty="0">
                <a:latin typeface="Arial" panose="020B0604020202020204" pitchFamily="34" charset="0"/>
                <a:ea typeface="Arial" panose="020B0604020202020204" pitchFamily="34" charset="0"/>
                <a:cs typeface="Arial" panose="020B0604020202020204" pitchFamily="34" charset="0"/>
              </a:rPr>
              <a:t>Develop Conceptual Causal Model via a Directed Acyclic Graph (DAG)</a:t>
            </a:r>
          </a:p>
          <a:p>
            <a:r>
              <a:rPr lang="en-US" sz="1800" dirty="0">
                <a:latin typeface="Arial" panose="020B0604020202020204" pitchFamily="34" charset="0"/>
                <a:ea typeface="Arial" panose="020B0604020202020204" pitchFamily="34" charset="0"/>
                <a:cs typeface="Arial" panose="020B0604020202020204" pitchFamily="34" charset="0"/>
              </a:rPr>
              <a:t>Develop model relating heat to ED visit counts</a:t>
            </a:r>
            <a:br>
              <a:rPr lang="en-US" sz="1800" dirty="0">
                <a:latin typeface="Arial" panose="020B0604020202020204" pitchFamily="34" charset="0"/>
                <a:ea typeface="Arial" panose="020B0604020202020204" pitchFamily="34" charset="0"/>
                <a:cs typeface="Arial" panose="020B0604020202020204" pitchFamily="34" charset="0"/>
              </a:rPr>
            </a:br>
            <a:r>
              <a:rPr lang="en-US" sz="1800" dirty="0">
                <a:latin typeface="Arial" panose="020B0604020202020204" pitchFamily="34" charset="0"/>
                <a:ea typeface="Arial" panose="020B0604020202020204" pitchFamily="34" charset="0"/>
                <a:cs typeface="Arial" panose="020B0604020202020204" pitchFamily="34" charset="0"/>
              </a:rPr>
              <a:t>Unadjusted and Adjusted analyses, possibly:</a:t>
            </a:r>
            <a:br>
              <a:rPr lang="en-US" sz="1800" dirty="0">
                <a:latin typeface="Arial" panose="020B0604020202020204" pitchFamily="34" charset="0"/>
                <a:ea typeface="Arial" panose="020B0604020202020204" pitchFamily="34" charset="0"/>
                <a:cs typeface="Arial" panose="020B0604020202020204" pitchFamily="34" charset="0"/>
              </a:rPr>
            </a:br>
            <a:r>
              <a:rPr lang="en-US" sz="1800" dirty="0">
                <a:latin typeface="Arial" panose="020B0604020202020204" pitchFamily="34" charset="0"/>
                <a:ea typeface="Arial" panose="020B0604020202020204" pitchFamily="34" charset="0"/>
                <a:cs typeface="Arial" panose="020B0604020202020204" pitchFamily="34" charset="0"/>
              </a:rPr>
              <a:t>linear regression, Poisson regression and/or Negative Binomial regression</a:t>
            </a:r>
            <a:br>
              <a:rPr lang="en-US" sz="1800" dirty="0">
                <a:latin typeface="Arial" panose="020B0604020202020204" pitchFamily="34" charset="0"/>
                <a:ea typeface="Arial" panose="020B0604020202020204" pitchFamily="34" charset="0"/>
                <a:cs typeface="Arial" panose="020B0604020202020204" pitchFamily="34" charset="0"/>
              </a:rPr>
            </a:br>
            <a:r>
              <a:rPr lang="en-US" sz="1800" dirty="0">
                <a:latin typeface="Arial" panose="020B0604020202020204" pitchFamily="34" charset="0"/>
                <a:ea typeface="Arial" panose="020B0604020202020204" pitchFamily="34" charset="0"/>
                <a:cs typeface="Arial" panose="020B0604020202020204" pitchFamily="34" charset="0"/>
              </a:rPr>
              <a:t>Careful consideration of time-varying factors (seasonality, year, </a:t>
            </a:r>
            <a:r>
              <a:rPr lang="en-US" sz="1800" dirty="0" err="1">
                <a:latin typeface="Arial" panose="020B0604020202020204" pitchFamily="34" charset="0"/>
                <a:ea typeface="Arial" panose="020B0604020202020204" pitchFamily="34" charset="0"/>
                <a:cs typeface="Arial" panose="020B0604020202020204" pitchFamily="34" charset="0"/>
              </a:rPr>
              <a:t>etc</a:t>
            </a:r>
            <a:r>
              <a:rPr lang="en-US" sz="1800" dirty="0">
                <a:latin typeface="Arial" panose="020B0604020202020204" pitchFamily="34" charset="0"/>
                <a:ea typeface="Arial" panose="020B0604020202020204" pitchFamily="34" charset="0"/>
                <a:cs typeface="Arial" panose="020B0604020202020204" pitchFamily="34" charset="0"/>
              </a:rPr>
              <a:t>)</a:t>
            </a:r>
          </a:p>
          <a:p>
            <a:r>
              <a:rPr lang="en-US" sz="1800" dirty="0">
                <a:latin typeface="Arial" panose="020B0604020202020204" pitchFamily="34" charset="0"/>
                <a:ea typeface="Arial" panose="020B0604020202020204" pitchFamily="34" charset="0"/>
                <a:cs typeface="Arial" panose="020B0604020202020204" pitchFamily="34" charset="0"/>
              </a:rPr>
              <a:t>Write up results and interpretation (poster, presentation, </a:t>
            </a:r>
            <a:r>
              <a:rPr lang="en-US" sz="1800" dirty="0" err="1">
                <a:latin typeface="Arial" panose="020B0604020202020204" pitchFamily="34" charset="0"/>
                <a:ea typeface="Arial" panose="020B0604020202020204" pitchFamily="34" charset="0"/>
                <a:cs typeface="Arial" panose="020B0604020202020204" pitchFamily="34" charset="0"/>
              </a:rPr>
              <a:t>etc</a:t>
            </a:r>
            <a:r>
              <a:rPr lang="en-US" sz="1800" dirty="0">
                <a:latin typeface="Arial" panose="020B0604020202020204" pitchFamily="34" charset="0"/>
                <a:ea typeface="Arial" panose="020B0604020202020204" pitchFamily="34" charset="0"/>
                <a:cs typeface="Arial" panose="020B0604020202020204" pitchFamily="34" charset="0"/>
              </a:rPr>
              <a:t>)</a:t>
            </a:r>
            <a:endParaRPr lang="en-US" sz="1400" dirty="0">
              <a:latin typeface="Arial" panose="020B0604020202020204" pitchFamily="34" charset="0"/>
              <a:ea typeface="Arial" panose="020B0604020202020204" pitchFamily="34" charset="0"/>
              <a:cs typeface="Arial" panose="020B0604020202020204" pitchFamily="34" charset="0"/>
            </a:endParaRPr>
          </a:p>
          <a:p>
            <a:endParaRPr lang="en-US" sz="1800" dirty="0">
              <a:latin typeface="Arial" panose="020B0604020202020204" pitchFamily="34" charset="0"/>
              <a:ea typeface="Arial" panose="020B0604020202020204" pitchFamily="34" charset="0"/>
              <a:cs typeface="Arial" panose="020B0604020202020204" pitchFamily="34" charset="0"/>
            </a:endParaRPr>
          </a:p>
          <a:p>
            <a:endParaRPr lang="en-US" dirty="0"/>
          </a:p>
        </p:txBody>
      </p:sp>
      <p:graphicFrame>
        <p:nvGraphicFramePr>
          <p:cNvPr id="4" name="Table 3">
            <a:extLst>
              <a:ext uri="{FF2B5EF4-FFF2-40B4-BE49-F238E27FC236}">
                <a16:creationId xmlns:a16="http://schemas.microsoft.com/office/drawing/2014/main" id="{38A46BD6-28AF-1A07-EC56-328BCC918644}"/>
              </a:ext>
            </a:extLst>
          </p:cNvPr>
          <p:cNvGraphicFramePr>
            <a:graphicFrameLocks noGrp="1"/>
          </p:cNvGraphicFramePr>
          <p:nvPr>
            <p:extLst>
              <p:ext uri="{D42A27DB-BD31-4B8C-83A1-F6EECF244321}">
                <p14:modId xmlns:p14="http://schemas.microsoft.com/office/powerpoint/2010/main" val="436120344"/>
              </p:ext>
            </p:extLst>
          </p:nvPr>
        </p:nvGraphicFramePr>
        <p:xfrm>
          <a:off x="1175269" y="1401897"/>
          <a:ext cx="6851650" cy="1427480"/>
        </p:xfrm>
        <a:graphic>
          <a:graphicData uri="http://schemas.openxmlformats.org/drawingml/2006/table">
            <a:tbl>
              <a:tblPr firstRow="1" firstCol="1" lastRow="1" lastCol="1" bandRow="1" bandCol="1">
                <a:tableStyleId>{5C22544A-7EE6-4342-B048-85BDC9FD1C3A}</a:tableStyleId>
              </a:tblPr>
              <a:tblGrid>
                <a:gridCol w="1425575">
                  <a:extLst>
                    <a:ext uri="{9D8B030D-6E8A-4147-A177-3AD203B41FA5}">
                      <a16:colId xmlns:a16="http://schemas.microsoft.com/office/drawing/2014/main" val="1708546233"/>
                    </a:ext>
                  </a:extLst>
                </a:gridCol>
                <a:gridCol w="775402">
                  <a:extLst>
                    <a:ext uri="{9D8B030D-6E8A-4147-A177-3AD203B41FA5}">
                      <a16:colId xmlns:a16="http://schemas.microsoft.com/office/drawing/2014/main" val="2277861923"/>
                    </a:ext>
                  </a:extLst>
                </a:gridCol>
                <a:gridCol w="4650673">
                  <a:extLst>
                    <a:ext uri="{9D8B030D-6E8A-4147-A177-3AD203B41FA5}">
                      <a16:colId xmlns:a16="http://schemas.microsoft.com/office/drawing/2014/main" val="1477899629"/>
                    </a:ext>
                  </a:extLst>
                </a:gridCol>
              </a:tblGrid>
              <a:tr h="182245">
                <a:tc>
                  <a:txBody>
                    <a:bodyPr/>
                    <a:lstStyle/>
                    <a:p>
                      <a:pPr marL="0" marR="0">
                        <a:buNone/>
                        <a:tabLst>
                          <a:tab pos="1609090" algn="l"/>
                          <a:tab pos="2867660" algn="l"/>
                        </a:tabLst>
                      </a:pPr>
                      <a:r>
                        <a:rPr lang="en-US" sz="1400">
                          <a:solidFill>
                            <a:schemeClr val="tx1"/>
                          </a:solidFill>
                          <a:effectLst/>
                        </a:rPr>
                        <a:t>Variable</a:t>
                      </a:r>
                      <a:endParaRPr lang="en-US" sz="140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tabLst>
                          <a:tab pos="1609090" algn="l"/>
                          <a:tab pos="2867660" algn="l"/>
                        </a:tabLst>
                      </a:pPr>
                      <a:r>
                        <a:rPr lang="en-US" sz="1400">
                          <a:solidFill>
                            <a:schemeClr val="tx1"/>
                          </a:solidFill>
                          <a:effectLst/>
                        </a:rPr>
                        <a:t>Type</a:t>
                      </a:r>
                      <a:endParaRPr lang="en-US" sz="140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tabLst>
                          <a:tab pos="1609090" algn="l"/>
                          <a:tab pos="2867660" algn="l"/>
                        </a:tabLst>
                      </a:pPr>
                      <a:r>
                        <a:rPr lang="en-US" sz="1400">
                          <a:solidFill>
                            <a:schemeClr val="tx1"/>
                          </a:solidFill>
                          <a:effectLst/>
                        </a:rPr>
                        <a:t>Description</a:t>
                      </a:r>
                      <a:endParaRPr lang="en-US" sz="140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8919342"/>
                  </a:ext>
                </a:extLst>
              </a:tr>
              <a:tr h="92710">
                <a:tc>
                  <a:txBody>
                    <a:bodyPr/>
                    <a:lstStyle/>
                    <a:p>
                      <a:pPr marL="0" marR="0">
                        <a:buNone/>
                      </a:pPr>
                      <a:r>
                        <a:rPr lang="en-US" sz="1400">
                          <a:solidFill>
                            <a:schemeClr val="tx1"/>
                          </a:solidFill>
                          <a:effectLst/>
                        </a:rPr>
                        <a:t>Date</a:t>
                      </a:r>
                      <a:endParaRPr lang="en-US" sz="140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pPr>
                      <a:r>
                        <a:rPr lang="en-US" sz="1400" b="0" dirty="0">
                          <a:solidFill>
                            <a:schemeClr val="tx1"/>
                          </a:solidFill>
                          <a:effectLst/>
                        </a:rPr>
                        <a:t>Date</a:t>
                      </a:r>
                      <a:endParaRPr lang="en-US" sz="1400" b="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pPr>
                      <a:r>
                        <a:rPr lang="en-US" sz="1400" b="0" dirty="0">
                          <a:solidFill>
                            <a:schemeClr val="tx1"/>
                          </a:solidFill>
                          <a:effectLst/>
                        </a:rPr>
                        <a:t>Calendar date of observation</a:t>
                      </a:r>
                      <a:endParaRPr lang="en-US" sz="1400" b="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8263100"/>
                  </a:ext>
                </a:extLst>
              </a:tr>
              <a:tr h="182245">
                <a:tc>
                  <a:txBody>
                    <a:bodyPr/>
                    <a:lstStyle/>
                    <a:p>
                      <a:pPr marL="0" marR="0">
                        <a:buNone/>
                      </a:pPr>
                      <a:r>
                        <a:rPr lang="en-US" sz="1400" dirty="0">
                          <a:solidFill>
                            <a:schemeClr val="tx1"/>
                          </a:solidFill>
                          <a:effectLst/>
                        </a:rPr>
                        <a:t>Maximum daily temperature (°F)</a:t>
                      </a:r>
                      <a:endParaRPr lang="en-US" sz="14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pPr>
                      <a:r>
                        <a:rPr lang="en-US" sz="1400" b="0">
                          <a:solidFill>
                            <a:schemeClr val="tx1"/>
                          </a:solidFill>
                          <a:effectLst/>
                        </a:rPr>
                        <a:t>Numeric</a:t>
                      </a:r>
                      <a:endParaRPr lang="en-US" sz="1400" b="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pPr>
                      <a:r>
                        <a:rPr lang="en-US" sz="1400" b="0">
                          <a:solidFill>
                            <a:schemeClr val="tx1"/>
                          </a:solidFill>
                          <a:effectLst/>
                        </a:rPr>
                        <a:t>Daily maximum temperature, defined as the higher of the heat index or air temperature recorded at LaGuardia Airport</a:t>
                      </a:r>
                      <a:endParaRPr lang="en-US" sz="1400" b="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0131569"/>
                  </a:ext>
                </a:extLst>
              </a:tr>
              <a:tr h="0">
                <a:tc>
                  <a:txBody>
                    <a:bodyPr/>
                    <a:lstStyle/>
                    <a:p>
                      <a:pPr marL="0" marR="0">
                        <a:buNone/>
                      </a:pPr>
                      <a:r>
                        <a:rPr lang="en-US" sz="1400" dirty="0">
                          <a:solidFill>
                            <a:schemeClr val="tx1"/>
                          </a:solidFill>
                          <a:effectLst/>
                        </a:rPr>
                        <a:t>Heat-related ED visits</a:t>
                      </a:r>
                      <a:endParaRPr lang="en-US" sz="14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pPr>
                      <a:r>
                        <a:rPr lang="en-US" sz="1400" b="0" dirty="0">
                          <a:solidFill>
                            <a:schemeClr val="tx1"/>
                          </a:solidFill>
                          <a:effectLst/>
                        </a:rPr>
                        <a:t>Integer</a:t>
                      </a:r>
                      <a:endParaRPr lang="en-US" sz="1400" b="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buNone/>
                        <a:tabLst>
                          <a:tab pos="569595" algn="l"/>
                          <a:tab pos="570230" algn="l"/>
                        </a:tabLst>
                      </a:pPr>
                      <a:r>
                        <a:rPr lang="en-US" sz="1400" b="0" dirty="0">
                          <a:solidFill>
                            <a:schemeClr val="tx1"/>
                          </a:solidFill>
                          <a:effectLst/>
                        </a:rPr>
                        <a:t>Number of emergency department visits classified as </a:t>
                      </a:r>
                      <a:br>
                        <a:rPr lang="en-US" sz="1400" b="0" dirty="0">
                          <a:solidFill>
                            <a:schemeClr val="tx1"/>
                          </a:solidFill>
                          <a:effectLst/>
                        </a:rPr>
                      </a:br>
                      <a:r>
                        <a:rPr lang="en-US" sz="1400" b="0" dirty="0">
                          <a:solidFill>
                            <a:schemeClr val="tx1"/>
                          </a:solidFill>
                          <a:effectLst/>
                        </a:rPr>
                        <a:t>suspected heat-related illness that day</a:t>
                      </a:r>
                      <a:endParaRPr lang="en-US" sz="1400" b="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txBody>
                  <a:tcPr marL="18415" marR="1841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7154237"/>
                  </a:ext>
                </a:extLst>
              </a:tr>
            </a:tbl>
          </a:graphicData>
        </a:graphic>
      </p:graphicFrame>
      <p:sp>
        <p:nvSpPr>
          <p:cNvPr id="6" name="TextBox 5">
            <a:extLst>
              <a:ext uri="{FF2B5EF4-FFF2-40B4-BE49-F238E27FC236}">
                <a16:creationId xmlns:a16="http://schemas.microsoft.com/office/drawing/2014/main" id="{2FEA0A89-B535-81EE-8F5E-85E88E4F807C}"/>
              </a:ext>
            </a:extLst>
          </p:cNvPr>
          <p:cNvSpPr txBox="1"/>
          <p:nvPr/>
        </p:nvSpPr>
        <p:spPr>
          <a:xfrm>
            <a:off x="8809894" y="4306484"/>
            <a:ext cx="3094892" cy="2031325"/>
          </a:xfrm>
          <a:prstGeom prst="rect">
            <a:avLst/>
          </a:prstGeom>
          <a:solidFill>
            <a:schemeClr val="accent5">
              <a:lumMod val="20000"/>
              <a:lumOff val="80000"/>
            </a:schemeClr>
          </a:solidFill>
        </p:spPr>
        <p:txBody>
          <a:bodyPr wrap="square" rtlCol="0">
            <a:spAutoFit/>
          </a:bodyPr>
          <a:lstStyle/>
          <a:p>
            <a:r>
              <a:rPr lang="en-US" b="1" dirty="0"/>
              <a:t>Potential bonus opportunities:</a:t>
            </a:r>
          </a:p>
          <a:p>
            <a:pPr marL="285750" indent="-285750">
              <a:buFontTx/>
              <a:buChar char="-"/>
            </a:pPr>
            <a:r>
              <a:rPr lang="en-US" dirty="0"/>
              <a:t>Incorporate additional data (e.g., </a:t>
            </a:r>
            <a:r>
              <a:rPr lang="en-US" dirty="0" err="1"/>
              <a:t>gridMET</a:t>
            </a:r>
            <a:r>
              <a:rPr lang="en-US" dirty="0"/>
              <a:t> meteorology, or heatwave characteristics)</a:t>
            </a:r>
          </a:p>
          <a:p>
            <a:pPr marL="285750" indent="-285750">
              <a:buFontTx/>
              <a:buChar char="-"/>
            </a:pPr>
            <a:r>
              <a:rPr lang="en-US" dirty="0"/>
              <a:t>Compare with results from another location with syndromic surveillance</a:t>
            </a:r>
          </a:p>
        </p:txBody>
      </p:sp>
      <p:grpSp>
        <p:nvGrpSpPr>
          <p:cNvPr id="10" name="Group 9">
            <a:extLst>
              <a:ext uri="{FF2B5EF4-FFF2-40B4-BE49-F238E27FC236}">
                <a16:creationId xmlns:a16="http://schemas.microsoft.com/office/drawing/2014/main" id="{3C4699B1-3007-5EE2-24AF-43B1FEC3AC0A}"/>
              </a:ext>
            </a:extLst>
          </p:cNvPr>
          <p:cNvGrpSpPr/>
          <p:nvPr/>
        </p:nvGrpSpPr>
        <p:grpSpPr>
          <a:xfrm>
            <a:off x="7644132" y="3886"/>
            <a:ext cx="4868188" cy="4485345"/>
            <a:chOff x="7644132" y="3886"/>
            <a:chExt cx="4868188" cy="4485345"/>
          </a:xfrm>
        </p:grpSpPr>
        <p:sp>
          <p:nvSpPr>
            <p:cNvPr id="9" name="Explosion: 14 Points 8">
              <a:extLst>
                <a:ext uri="{FF2B5EF4-FFF2-40B4-BE49-F238E27FC236}">
                  <a16:creationId xmlns:a16="http://schemas.microsoft.com/office/drawing/2014/main" id="{88FDEF5F-7897-6AC8-825A-86D34F2C2789}"/>
                </a:ext>
              </a:extLst>
            </p:cNvPr>
            <p:cNvSpPr/>
            <p:nvPr/>
          </p:nvSpPr>
          <p:spPr>
            <a:xfrm rot="759102">
              <a:off x="7644132" y="3886"/>
              <a:ext cx="4868188" cy="4485345"/>
            </a:xfrm>
            <a:prstGeom prst="irregularSeal2">
              <a:avLst/>
            </a:prstGeom>
            <a:solidFill>
              <a:schemeClr val="accent4">
                <a:lumMod val="20000"/>
                <a:lumOff val="80000"/>
              </a:schemeClr>
            </a:solidFill>
            <a:ln>
              <a:solidFill>
                <a:srgbClr val="99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163EB92-E42C-E2F7-9F84-DD058AF85B8B}"/>
                </a:ext>
              </a:extLst>
            </p:cNvPr>
            <p:cNvSpPr txBox="1"/>
            <p:nvPr/>
          </p:nvSpPr>
          <p:spPr>
            <a:xfrm>
              <a:off x="8448002" y="1399574"/>
              <a:ext cx="3540798" cy="2139047"/>
            </a:xfrm>
            <a:prstGeom prst="rect">
              <a:avLst/>
            </a:prstGeom>
            <a:noFill/>
          </p:spPr>
          <p:txBody>
            <a:bodyPr wrap="square">
              <a:spAutoFit/>
            </a:bodyPr>
            <a:lstStyle/>
            <a:p>
              <a:pPr marR="0" lvl="0">
                <a:spcBef>
                  <a:spcPts val="470"/>
                </a:spcBef>
                <a:spcAft>
                  <a:spcPts val="0"/>
                </a:spcAft>
              </a:pPr>
              <a:r>
                <a:rPr lang="en-US" sz="1900" b="1" dirty="0">
                  <a:solidFill>
                    <a:srgbClr val="000000"/>
                  </a:solidFill>
                  <a:latin typeface="Arial" panose="020B0604020202020204" pitchFamily="34" charset="0"/>
                  <a:ea typeface="Arial" panose="020B0604020202020204" pitchFamily="34" charset="0"/>
                </a:rPr>
                <a:t>Skills</a:t>
              </a:r>
              <a:r>
                <a:rPr lang="en-US" sz="1900" dirty="0">
                  <a:solidFill>
                    <a:srgbClr val="000000"/>
                  </a:solidFill>
                  <a:latin typeface="Arial" panose="020B0604020202020204" pitchFamily="34" charset="0"/>
                  <a:ea typeface="Arial" panose="020B0604020202020204" pitchFamily="34" charset="0"/>
                </a:rPr>
                <a:t>: visualizations, </a:t>
              </a:r>
              <a:br>
                <a:rPr lang="en-US" sz="1900" dirty="0">
                  <a:solidFill>
                    <a:srgbClr val="000000"/>
                  </a:solidFill>
                  <a:latin typeface="Arial" panose="020B0604020202020204" pitchFamily="34" charset="0"/>
                  <a:ea typeface="Arial" panose="020B0604020202020204" pitchFamily="34" charset="0"/>
                </a:rPr>
              </a:br>
              <a:r>
                <a:rPr lang="en-US" sz="1900" dirty="0">
                  <a:solidFill>
                    <a:srgbClr val="000000"/>
                  </a:solidFill>
                  <a:latin typeface="Arial" panose="020B0604020202020204" pitchFamily="34" charset="0"/>
                  <a:ea typeface="Arial" panose="020B0604020202020204" pitchFamily="34" charset="0"/>
                </a:rPr>
                <a:t>time series data analysis, regression for count outcomes, accounting for confounders, acknowledge </a:t>
              </a:r>
              <a:br>
                <a:rPr lang="en-US" sz="1900" dirty="0">
                  <a:solidFill>
                    <a:srgbClr val="000000"/>
                  </a:solidFill>
                  <a:latin typeface="Arial" panose="020B0604020202020204" pitchFamily="34" charset="0"/>
                  <a:ea typeface="Arial" panose="020B0604020202020204" pitchFamily="34" charset="0"/>
                </a:rPr>
              </a:br>
              <a:r>
                <a:rPr lang="en-US" sz="1900" dirty="0">
                  <a:solidFill>
                    <a:srgbClr val="000000"/>
                  </a:solidFill>
                  <a:latin typeface="Arial" panose="020B0604020202020204" pitchFamily="34" charset="0"/>
                  <a:ea typeface="Arial" panose="020B0604020202020204" pitchFamily="34" charset="0"/>
                </a:rPr>
                <a:t>strengths/ limitations of </a:t>
              </a:r>
              <a:br>
                <a:rPr lang="en-US" sz="1900" dirty="0">
                  <a:solidFill>
                    <a:srgbClr val="000000"/>
                  </a:solidFill>
                  <a:latin typeface="Arial" panose="020B0604020202020204" pitchFamily="34" charset="0"/>
                  <a:ea typeface="Arial" panose="020B0604020202020204" pitchFamily="34" charset="0"/>
                </a:rPr>
              </a:br>
              <a:r>
                <a:rPr lang="en-US" sz="1900" dirty="0">
                  <a:solidFill>
                    <a:srgbClr val="000000"/>
                  </a:solidFill>
                  <a:latin typeface="Arial" panose="020B0604020202020204" pitchFamily="34" charset="0"/>
                  <a:ea typeface="Arial" panose="020B0604020202020204" pitchFamily="34" charset="0"/>
                </a:rPr>
                <a:t>data &amp; study design</a:t>
              </a:r>
            </a:p>
          </p:txBody>
        </p:sp>
      </p:grpSp>
    </p:spTree>
    <p:extLst>
      <p:ext uri="{BB962C8B-B14F-4D97-AF65-F5344CB8AC3E}">
        <p14:creationId xmlns:p14="http://schemas.microsoft.com/office/powerpoint/2010/main" val="420090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98A6E-CA08-61F2-19BD-F24FB514E1E9}"/>
              </a:ext>
            </a:extLst>
          </p:cNvPr>
          <p:cNvSpPr>
            <a:spLocks noGrp="1"/>
          </p:cNvSpPr>
          <p:nvPr>
            <p:ph type="title"/>
          </p:nvPr>
        </p:nvSpPr>
        <p:spPr>
          <a:xfrm>
            <a:off x="838200" y="56308"/>
            <a:ext cx="10515600" cy="1325563"/>
          </a:xfrm>
        </p:spPr>
        <p:txBody>
          <a:bodyPr/>
          <a:lstStyle/>
          <a:p>
            <a:r>
              <a:rPr lang="en-US" b="1" dirty="0"/>
              <a:t>Example data visualization</a:t>
            </a:r>
          </a:p>
        </p:txBody>
      </p:sp>
      <p:sp>
        <p:nvSpPr>
          <p:cNvPr id="3" name="Content Placeholder 2">
            <a:extLst>
              <a:ext uri="{FF2B5EF4-FFF2-40B4-BE49-F238E27FC236}">
                <a16:creationId xmlns:a16="http://schemas.microsoft.com/office/drawing/2014/main" id="{C48C1800-1CB6-90DC-DFFB-20B7F9F231C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FF49F83-C893-F6F3-9C62-C3D4AA0655FD}"/>
              </a:ext>
            </a:extLst>
          </p:cNvPr>
          <p:cNvPicPr>
            <a:picLocks noChangeAspect="1"/>
          </p:cNvPicPr>
          <p:nvPr/>
        </p:nvPicPr>
        <p:blipFill>
          <a:blip r:embed="rId2"/>
          <a:stretch>
            <a:fillRect/>
          </a:stretch>
        </p:blipFill>
        <p:spPr>
          <a:xfrm>
            <a:off x="584200" y="1529789"/>
            <a:ext cx="11023600" cy="4943010"/>
          </a:xfrm>
          <a:prstGeom prst="rect">
            <a:avLst/>
          </a:prstGeom>
        </p:spPr>
      </p:pic>
    </p:spTree>
    <p:extLst>
      <p:ext uri="{BB962C8B-B14F-4D97-AF65-F5344CB8AC3E}">
        <p14:creationId xmlns:p14="http://schemas.microsoft.com/office/powerpoint/2010/main" val="1896209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10F22-EC7F-630B-5F3F-B53633753078}"/>
              </a:ext>
            </a:extLst>
          </p:cNvPr>
          <p:cNvSpPr>
            <a:spLocks noGrp="1"/>
          </p:cNvSpPr>
          <p:nvPr>
            <p:ph type="title"/>
          </p:nvPr>
        </p:nvSpPr>
        <p:spPr>
          <a:xfrm>
            <a:off x="838200" y="156120"/>
            <a:ext cx="10515600" cy="1019538"/>
          </a:xfrm>
        </p:spPr>
        <p:txBody>
          <a:bodyPr>
            <a:normAutofit/>
          </a:bodyPr>
          <a:lstStyle/>
          <a:p>
            <a:r>
              <a:rPr lang="en-US" dirty="0">
                <a:latin typeface="+mn-lt"/>
              </a:rPr>
              <a:t>Example in the literature</a:t>
            </a:r>
            <a:br>
              <a:rPr lang="en-US" dirty="0">
                <a:latin typeface="+mn-lt"/>
              </a:rPr>
            </a:br>
            <a:r>
              <a:rPr lang="en-US" sz="2200" dirty="0">
                <a:latin typeface="+mn-lt"/>
              </a:rPr>
              <a:t>https://pubmed.ncbi.nlm.nih.gov/26922412/</a:t>
            </a:r>
            <a:endParaRPr lang="en-US" dirty="0">
              <a:latin typeface="+mn-lt"/>
            </a:endParaRPr>
          </a:p>
        </p:txBody>
      </p:sp>
      <p:sp>
        <p:nvSpPr>
          <p:cNvPr id="4" name="TextBox 3">
            <a:extLst>
              <a:ext uri="{FF2B5EF4-FFF2-40B4-BE49-F238E27FC236}">
                <a16:creationId xmlns:a16="http://schemas.microsoft.com/office/drawing/2014/main" id="{C0BA9D5F-1AC9-BC8C-0F09-A9AA4841E2EA}"/>
              </a:ext>
            </a:extLst>
          </p:cNvPr>
          <p:cNvSpPr txBox="1"/>
          <p:nvPr/>
        </p:nvSpPr>
        <p:spPr>
          <a:xfrm>
            <a:off x="229931" y="5316885"/>
            <a:ext cx="2591327" cy="1384995"/>
          </a:xfrm>
          <a:prstGeom prst="rect">
            <a:avLst/>
          </a:prstGeom>
          <a:noFill/>
        </p:spPr>
        <p:txBody>
          <a:bodyPr wrap="square">
            <a:spAutoFit/>
          </a:bodyPr>
          <a:lstStyle/>
          <a:p>
            <a:pPr marL="0" marR="0">
              <a:buNone/>
            </a:pPr>
            <a:r>
              <a:rPr lang="en-US" sz="1050" dirty="0">
                <a:effectLst/>
                <a:latin typeface="Arial" panose="020B0604020202020204" pitchFamily="34" charset="0"/>
                <a:ea typeface="Arial" panose="020B0604020202020204" pitchFamily="34" charset="0"/>
              </a:rPr>
              <a:t>Winquist A, </a:t>
            </a:r>
            <a:r>
              <a:rPr lang="en-US" sz="1050" dirty="0" err="1">
                <a:effectLst/>
                <a:latin typeface="Arial" panose="020B0604020202020204" pitchFamily="34" charset="0"/>
                <a:ea typeface="Arial" panose="020B0604020202020204" pitchFamily="34" charset="0"/>
              </a:rPr>
              <a:t>Grundstein</a:t>
            </a:r>
            <a:r>
              <a:rPr lang="en-US" sz="1050" dirty="0">
                <a:effectLst/>
                <a:latin typeface="Arial" panose="020B0604020202020204" pitchFamily="34" charset="0"/>
                <a:ea typeface="Arial" panose="020B0604020202020204" pitchFamily="34" charset="0"/>
              </a:rPr>
              <a:t> A, Chang HH, Hess J, </a:t>
            </a:r>
            <a:r>
              <a:rPr lang="en-US" sz="1050" dirty="0" err="1">
                <a:effectLst/>
                <a:latin typeface="Arial" panose="020B0604020202020204" pitchFamily="34" charset="0"/>
                <a:ea typeface="Arial" panose="020B0604020202020204" pitchFamily="34" charset="0"/>
              </a:rPr>
              <a:t>Sarnat</a:t>
            </a:r>
            <a:r>
              <a:rPr lang="en-US" sz="1050" dirty="0">
                <a:effectLst/>
                <a:latin typeface="Arial" panose="020B0604020202020204" pitchFamily="34" charset="0"/>
                <a:ea typeface="Arial" panose="020B0604020202020204" pitchFamily="34" charset="0"/>
              </a:rPr>
              <a:t> SE. Warm season temperatures and emergency department visits in Atlanta, Georgia. </a:t>
            </a:r>
            <a:r>
              <a:rPr lang="en-US" sz="1050" i="1" dirty="0">
                <a:effectLst/>
                <a:latin typeface="Arial" panose="020B0604020202020204" pitchFamily="34" charset="0"/>
                <a:ea typeface="Arial" panose="020B0604020202020204" pitchFamily="34" charset="0"/>
              </a:rPr>
              <a:t>Environ Res</a:t>
            </a:r>
            <a:r>
              <a:rPr lang="en-US" sz="1050" dirty="0">
                <a:effectLst/>
                <a:latin typeface="Arial" panose="020B0604020202020204" pitchFamily="34" charset="0"/>
                <a:ea typeface="Arial" panose="020B0604020202020204" pitchFamily="34" charset="0"/>
              </a:rPr>
              <a:t>. 2016 May;147:314-23. </a:t>
            </a:r>
            <a:r>
              <a:rPr lang="en-US" sz="1050" dirty="0" err="1">
                <a:effectLst/>
                <a:latin typeface="Arial" panose="020B0604020202020204" pitchFamily="34" charset="0"/>
                <a:ea typeface="Arial" panose="020B0604020202020204" pitchFamily="34" charset="0"/>
              </a:rPr>
              <a:t>doi</a:t>
            </a:r>
            <a:r>
              <a:rPr lang="en-US" sz="1050" dirty="0">
                <a:effectLst/>
                <a:latin typeface="Arial" panose="020B0604020202020204" pitchFamily="34" charset="0"/>
                <a:ea typeface="Arial" panose="020B0604020202020204" pitchFamily="34" charset="0"/>
              </a:rPr>
              <a:t>: 10.1016/j.envres.2016.02.022. </a:t>
            </a:r>
            <a:r>
              <a:rPr lang="en-US" sz="1050" dirty="0" err="1">
                <a:effectLst/>
                <a:latin typeface="Arial" panose="020B0604020202020204" pitchFamily="34" charset="0"/>
                <a:ea typeface="Arial" panose="020B0604020202020204" pitchFamily="34" charset="0"/>
              </a:rPr>
              <a:t>Epub</a:t>
            </a:r>
            <a:r>
              <a:rPr lang="en-US" sz="1050" dirty="0">
                <a:effectLst/>
                <a:latin typeface="Arial" panose="020B0604020202020204" pitchFamily="34" charset="0"/>
                <a:ea typeface="Arial" panose="020B0604020202020204" pitchFamily="34" charset="0"/>
              </a:rPr>
              <a:t> 2016 Feb 27. PMID: 26922412; PMCID: PMC4821766.</a:t>
            </a:r>
          </a:p>
        </p:txBody>
      </p:sp>
      <p:pic>
        <p:nvPicPr>
          <p:cNvPr id="9" name="Picture 8">
            <a:extLst>
              <a:ext uri="{FF2B5EF4-FFF2-40B4-BE49-F238E27FC236}">
                <a16:creationId xmlns:a16="http://schemas.microsoft.com/office/drawing/2014/main" id="{654F506A-958F-D00F-D151-4E55141BD297}"/>
              </a:ext>
            </a:extLst>
          </p:cNvPr>
          <p:cNvPicPr>
            <a:picLocks noChangeAspect="1"/>
          </p:cNvPicPr>
          <p:nvPr/>
        </p:nvPicPr>
        <p:blipFill>
          <a:blip r:embed="rId2"/>
          <a:stretch>
            <a:fillRect/>
          </a:stretch>
        </p:blipFill>
        <p:spPr>
          <a:xfrm>
            <a:off x="3311912" y="1175658"/>
            <a:ext cx="6579220" cy="5629422"/>
          </a:xfrm>
          <a:prstGeom prst="rect">
            <a:avLst/>
          </a:prstGeom>
        </p:spPr>
      </p:pic>
    </p:spTree>
    <p:extLst>
      <p:ext uri="{BB962C8B-B14F-4D97-AF65-F5344CB8AC3E}">
        <p14:creationId xmlns:p14="http://schemas.microsoft.com/office/powerpoint/2010/main" val="849413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3BFB9-87DA-E40B-14AC-BAE10E8915D0}"/>
              </a:ext>
            </a:extLst>
          </p:cNvPr>
          <p:cNvSpPr>
            <a:spLocks noGrp="1"/>
          </p:cNvSpPr>
          <p:nvPr>
            <p:ph type="title"/>
          </p:nvPr>
        </p:nvSpPr>
        <p:spPr/>
        <p:txBody>
          <a:bodyPr/>
          <a:lstStyle/>
          <a:p>
            <a:r>
              <a:rPr lang="en-US" dirty="0">
                <a:latin typeface="+mn-lt"/>
              </a:rPr>
              <a:t>Thank you!</a:t>
            </a:r>
          </a:p>
        </p:txBody>
      </p:sp>
      <p:sp>
        <p:nvSpPr>
          <p:cNvPr id="3" name="Content Placeholder 2">
            <a:extLst>
              <a:ext uri="{FF2B5EF4-FFF2-40B4-BE49-F238E27FC236}">
                <a16:creationId xmlns:a16="http://schemas.microsoft.com/office/drawing/2014/main" id="{32A2BEE4-E03F-56D9-70CC-C6C19D4261BB}"/>
              </a:ext>
            </a:extLst>
          </p:cNvPr>
          <p:cNvSpPr>
            <a:spLocks noGrp="1"/>
          </p:cNvSpPr>
          <p:nvPr>
            <p:ph idx="1"/>
          </p:nvPr>
        </p:nvSpPr>
        <p:spPr>
          <a:xfrm>
            <a:off x="5095875" y="777875"/>
            <a:ext cx="5257800" cy="1050925"/>
          </a:xfrm>
        </p:spPr>
        <p:txBody>
          <a:bodyPr/>
          <a:lstStyle/>
          <a:p>
            <a:pPr marL="0" indent="0">
              <a:buNone/>
            </a:pPr>
            <a:r>
              <a:rPr lang="en-US" dirty="0"/>
              <a:t>Sandy Eckel: eckel@usc.edu</a:t>
            </a:r>
          </a:p>
          <a:p>
            <a:pPr marL="0" indent="0">
              <a:buNone/>
            </a:pPr>
            <a:r>
              <a:rPr lang="en-US" dirty="0"/>
              <a:t>Erika Garcia: </a:t>
            </a:r>
            <a:r>
              <a:rPr lang="sv-SE" dirty="0"/>
              <a:t>garc991@usc.edu</a:t>
            </a:r>
            <a:endParaRPr lang="en-US" dirty="0"/>
          </a:p>
        </p:txBody>
      </p:sp>
      <p:pic>
        <p:nvPicPr>
          <p:cNvPr id="4" name="Picture 4" descr="Cartoon by Joel Pett from USA Today, December 2009">
            <a:extLst>
              <a:ext uri="{FF2B5EF4-FFF2-40B4-BE49-F238E27FC236}">
                <a16:creationId xmlns:a16="http://schemas.microsoft.com/office/drawing/2014/main" id="{09D5B353-ED4E-E4FC-D423-5EEF1112F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8899" y="2103438"/>
            <a:ext cx="6571245" cy="4389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169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1589</Words>
  <Application>Microsoft Office PowerPoint</Application>
  <PresentationFormat>Widescreen</PresentationFormat>
  <Paragraphs>134</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-apple-system</vt:lpstr>
      <vt:lpstr>Arial</vt:lpstr>
      <vt:lpstr>Calibri</vt:lpstr>
      <vt:lpstr>Calibri Light</vt:lpstr>
      <vt:lpstr>HelveticaNeue-CondensedBold</vt:lpstr>
      <vt:lpstr>Times New Roman</vt:lpstr>
      <vt:lpstr>Wingdings</vt:lpstr>
      <vt:lpstr>Office Theme</vt:lpstr>
      <vt:lpstr>Time-Series Analysis of  Heat and Heat-Related  Emergency Department Visits </vt:lpstr>
      <vt:lpstr>Sandy Eckel - Background</vt:lpstr>
      <vt:lpstr>Erika Garcia – Background</vt:lpstr>
      <vt:lpstr>Class: Data Science Methods for Climate Change Health Research PM619/GEOL619</vt:lpstr>
      <vt:lpstr>Climate Change and Health</vt:lpstr>
      <vt:lpstr>PowerPoint Presentation</vt:lpstr>
      <vt:lpstr>https://www.ipcc.ch/report/ar6/wg2/downloads/report/IPCC_AR6_WGII_Chapter07.pdf</vt:lpstr>
      <vt:lpstr>“…tackling climate change could be the greatest global health opportunity of the 21st century”</vt:lpstr>
      <vt:lpstr>Why are we talking about heat? Northern Hemisphere, summer</vt:lpstr>
      <vt:lpstr>Wide range of health impacts from hot temperatures and heatwaves</vt:lpstr>
      <vt:lpstr>Importance of preparedness and prevention!</vt:lpstr>
      <vt:lpstr>Climate change adaptation through Heat preparedness and public health surveillance</vt:lpstr>
      <vt:lpstr>Real-time heat-related illness for NYC</vt:lpstr>
      <vt:lpstr>NYC Data publicly available https://github.com/nychealth/EHDP-data/tree/production/key-topics/heat-syndrome </vt:lpstr>
      <vt:lpstr>Why NYC?  Well-established daily data with easy data download</vt:lpstr>
      <vt:lpstr>Data and Suggested Analysis Plan</vt:lpstr>
      <vt:lpstr>Example data visualization</vt:lpstr>
      <vt:lpstr>Example in the literature https://pubmed.ncbi.nlm.nih.gov/26922412/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co-benefits and disparities  in the transition to  electric vehicles in California</dc:title>
  <dc:creator>Sandrah Proctor Eckel</dc:creator>
  <cp:lastModifiedBy>Sandrah Proctor Eckel</cp:lastModifiedBy>
  <cp:revision>2</cp:revision>
  <dcterms:created xsi:type="dcterms:W3CDTF">2023-06-12T17:23:04Z</dcterms:created>
  <dcterms:modified xsi:type="dcterms:W3CDTF">2026-06-14T23:42:39Z</dcterms:modified>
</cp:coreProperties>
</file>