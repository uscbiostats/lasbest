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2" r:id="rId3"/>
    <p:sldId id="257" r:id="rId4"/>
    <p:sldId id="258" r:id="rId5"/>
    <p:sldId id="261" r:id="rId6"/>
    <p:sldId id="264" r:id="rId7"/>
    <p:sldId id="265" r:id="rId8"/>
    <p:sldId id="266" r:id="rId9"/>
    <p:sldId id="275" r:id="rId10"/>
    <p:sldId id="267" r:id="rId11"/>
    <p:sldId id="268" r:id="rId12"/>
    <p:sldId id="269" r:id="rId13"/>
    <p:sldId id="276" r:id="rId14"/>
    <p:sldId id="278" r:id="rId15"/>
    <p:sldId id="270" r:id="rId16"/>
    <p:sldId id="277" r:id="rId17"/>
    <p:sldId id="271" r:id="rId18"/>
    <p:sldId id="279" r:id="rId19"/>
    <p:sldId id="280" r:id="rId20"/>
    <p:sldId id="273" r:id="rId21"/>
    <p:sldId id="282" r:id="rId22"/>
    <p:sldId id="281" r:id="rId23"/>
    <p:sldId id="283" r:id="rId24"/>
    <p:sldId id="284" r:id="rId25"/>
    <p:sldId id="285" r:id="rId26"/>
    <p:sldId id="286" r:id="rId27"/>
    <p:sldId id="287" r:id="rId28"/>
    <p:sldId id="288"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718"/>
  </p:normalViewPr>
  <p:slideViewPr>
    <p:cSldViewPr snapToGrid="0">
      <p:cViewPr varScale="1">
        <p:scale>
          <a:sx n="117" d="100"/>
          <a:sy n="117"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D48132-17C0-A64C-94E6-50F99A68FBC7}" type="datetimeFigureOut">
              <a:rPr lang="en-US" smtClean="0"/>
              <a:t>6/15/25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D0D763-ACF2-0B4C-B355-8331FDF1D5B0}" type="slidenum">
              <a:rPr lang="en-US" smtClean="0"/>
              <a:t>‹#›</a:t>
            </a:fld>
            <a:endParaRPr lang="en-US"/>
          </a:p>
        </p:txBody>
      </p:sp>
    </p:spTree>
    <p:extLst>
      <p:ext uri="{BB962C8B-B14F-4D97-AF65-F5344CB8AC3E}">
        <p14:creationId xmlns:p14="http://schemas.microsoft.com/office/powerpoint/2010/main" val="2616229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urldefense.com/v3/__https:/github.com/USCbiostats/LAsBEST__;!!LIr3w8kk_Xxm!rl0WDOpC3RwzxzTcBklLESsl58op8YShY00-8-zHgyPJc7OX8Ti4Yih_QA7IUmJ1bL_vGZHa1Y3i-G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rfortherestofus.com</a:t>
            </a:r>
            <a:r>
              <a:rPr lang="en-US" dirty="0"/>
              <a:t>/2021/02/how-to-use-git-</a:t>
            </a:r>
            <a:r>
              <a:rPr lang="en-US" dirty="0" err="1"/>
              <a:t>github</a:t>
            </a:r>
            <a:r>
              <a:rPr lang="en-US" dirty="0"/>
              <a:t>-with-r</a:t>
            </a:r>
          </a:p>
          <a:p>
            <a:endParaRPr lang="en-US" dirty="0"/>
          </a:p>
        </p:txBody>
      </p:sp>
      <p:sp>
        <p:nvSpPr>
          <p:cNvPr id="4" name="Slide Number Placeholder 3"/>
          <p:cNvSpPr>
            <a:spLocks noGrp="1"/>
          </p:cNvSpPr>
          <p:nvPr>
            <p:ph type="sldNum" sz="quarter" idx="5"/>
          </p:nvPr>
        </p:nvSpPr>
        <p:spPr/>
        <p:txBody>
          <a:bodyPr/>
          <a:lstStyle/>
          <a:p>
            <a:fld id="{43D0D763-ACF2-0B4C-B355-8331FDF1D5B0}" type="slidenum">
              <a:rPr lang="en-US" smtClean="0"/>
              <a:t>1</a:t>
            </a:fld>
            <a:endParaRPr lang="en-US"/>
          </a:p>
        </p:txBody>
      </p:sp>
    </p:spTree>
    <p:extLst>
      <p:ext uri="{BB962C8B-B14F-4D97-AF65-F5344CB8AC3E}">
        <p14:creationId xmlns:p14="http://schemas.microsoft.com/office/powerpoint/2010/main" val="2411888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youtu.be</a:t>
            </a:r>
            <a:r>
              <a:rPr lang="en-US" dirty="0"/>
              <a:t>/</a:t>
            </a:r>
            <a:r>
              <a:rPr lang="en-US" dirty="0" err="1"/>
              <a:t>eWxxfttcMts</a:t>
            </a:r>
            <a:endParaRPr lang="en-US" dirty="0"/>
          </a:p>
          <a:p>
            <a:endParaRPr lang="en-US" dirty="0"/>
          </a:p>
        </p:txBody>
      </p:sp>
      <p:sp>
        <p:nvSpPr>
          <p:cNvPr id="4" name="Slide Number Placeholder 3"/>
          <p:cNvSpPr>
            <a:spLocks noGrp="1"/>
          </p:cNvSpPr>
          <p:nvPr>
            <p:ph type="sldNum" sz="quarter" idx="5"/>
          </p:nvPr>
        </p:nvSpPr>
        <p:spPr/>
        <p:txBody>
          <a:bodyPr/>
          <a:lstStyle/>
          <a:p>
            <a:fld id="{43D0D763-ACF2-0B4C-B355-8331FDF1D5B0}" type="slidenum">
              <a:rPr lang="en-US" smtClean="0"/>
              <a:t>3</a:t>
            </a:fld>
            <a:endParaRPr lang="en-US"/>
          </a:p>
        </p:txBody>
      </p:sp>
    </p:spTree>
    <p:extLst>
      <p:ext uri="{BB962C8B-B14F-4D97-AF65-F5344CB8AC3E}">
        <p14:creationId xmlns:p14="http://schemas.microsoft.com/office/powerpoint/2010/main" val="1493765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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</a:t>
            </a:r>
          </a:p>
          <a:p>
            <a:endParaRPr lang="en-US" dirty="0"/>
          </a:p>
        </p:txBody>
      </p:sp>
      <p:sp>
        <p:nvSpPr>
          <p:cNvPr id="4" name="Slide Number Placeholder 3"/>
          <p:cNvSpPr>
            <a:spLocks noGrp="1"/>
          </p:cNvSpPr>
          <p:nvPr>
            <p:ph type="sldNum" sz="quarter" idx="5"/>
          </p:nvPr>
        </p:nvSpPr>
        <p:spPr/>
        <p:txBody>
          <a:bodyPr/>
          <a:lstStyle/>
          <a:p>
            <a:fld id="{43D0D763-ACF2-0B4C-B355-8331FDF1D5B0}" type="slidenum">
              <a:rPr lang="en-US" smtClean="0"/>
              <a:t>26</a:t>
            </a:fld>
            <a:endParaRPr lang="en-US"/>
          </a:p>
        </p:txBody>
      </p:sp>
    </p:spTree>
    <p:extLst>
      <p:ext uri="{BB962C8B-B14F-4D97-AF65-F5344CB8AC3E}">
        <p14:creationId xmlns:p14="http://schemas.microsoft.com/office/powerpoint/2010/main" val="1430208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B07F7-0C72-E9E4-3582-58144116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4C5CD-A4D7-36DD-2A1D-91B555A9F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1F80F-856F-5867-B22B-98868D994C76}"/>
              </a:ext>
            </a:extLst>
          </p:cNvPr>
          <p:cNvSpPr>
            <a:spLocks noGrp="1"/>
          </p:cNvSpPr>
          <p:nvPr>
            <p:ph type="body" idx="1"/>
          </p:nvPr>
        </p:nvSpPr>
        <p:spPr/>
        <p:txBody>
          <a:bodyPr/>
          <a:lstStyle/>
          <a:p>
            <a:r>
              <a:rPr lang="en-US" dirty="0"/>
              <a:t>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</a:t>
            </a:r>
          </a:p>
          <a:p>
            <a:endParaRPr lang="en-US" dirty="0"/>
          </a:p>
        </p:txBody>
      </p:sp>
      <p:sp>
        <p:nvSpPr>
          <p:cNvPr id="4" name="Slide Number Placeholder 3">
            <a:extLst>
              <a:ext uri="{FF2B5EF4-FFF2-40B4-BE49-F238E27FC236}">
                <a16:creationId xmlns:a16="http://schemas.microsoft.com/office/drawing/2014/main" id="{3A2944BB-8D69-6445-6A96-EACD063D4F23}"/>
              </a:ext>
            </a:extLst>
          </p:cNvPr>
          <p:cNvSpPr>
            <a:spLocks noGrp="1"/>
          </p:cNvSpPr>
          <p:nvPr>
            <p:ph type="sldNum" sz="quarter" idx="5"/>
          </p:nvPr>
        </p:nvSpPr>
        <p:spPr/>
        <p:txBody>
          <a:bodyPr/>
          <a:lstStyle/>
          <a:p>
            <a:fld id="{43D0D763-ACF2-0B4C-B355-8331FDF1D5B0}" type="slidenum">
              <a:rPr lang="en-US" smtClean="0"/>
              <a:t>27</a:t>
            </a:fld>
            <a:endParaRPr lang="en-US"/>
          </a:p>
        </p:txBody>
      </p:sp>
    </p:spTree>
    <p:extLst>
      <p:ext uri="{BB962C8B-B14F-4D97-AF65-F5344CB8AC3E}">
        <p14:creationId xmlns:p14="http://schemas.microsoft.com/office/powerpoint/2010/main" val="407370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F1598-99F2-1F53-1903-78249B2AA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63A35-53A3-BB3D-88E1-3CBBA9D75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187A8-7FA7-6F30-B7A0-2DBDA4978910}"/>
              </a:ext>
            </a:extLst>
          </p:cNvPr>
          <p:cNvSpPr>
            <a:spLocks noGrp="1"/>
          </p:cNvSpPr>
          <p:nvPr>
            <p:ph type="body" idx="1"/>
          </p:nvPr>
        </p:nvSpPr>
        <p:spPr/>
        <p:txBody>
          <a:bodyPr/>
          <a:lstStyle/>
          <a:p>
            <a:r>
              <a:rPr lang="en-US" dirty="0"/>
              <a:t>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</a:t>
            </a:r>
          </a:p>
          <a:p>
            <a:endParaRPr lang="en-US" dirty="0"/>
          </a:p>
        </p:txBody>
      </p:sp>
      <p:sp>
        <p:nvSpPr>
          <p:cNvPr id="4" name="Slide Number Placeholder 3">
            <a:extLst>
              <a:ext uri="{FF2B5EF4-FFF2-40B4-BE49-F238E27FC236}">
                <a16:creationId xmlns:a16="http://schemas.microsoft.com/office/drawing/2014/main" id="{D6ED0837-AFB8-C971-6A6F-1CF6E2AE6C9A}"/>
              </a:ext>
            </a:extLst>
          </p:cNvPr>
          <p:cNvSpPr>
            <a:spLocks noGrp="1"/>
          </p:cNvSpPr>
          <p:nvPr>
            <p:ph type="sldNum" sz="quarter" idx="5"/>
          </p:nvPr>
        </p:nvSpPr>
        <p:spPr/>
        <p:txBody>
          <a:bodyPr/>
          <a:lstStyle/>
          <a:p>
            <a:fld id="{43D0D763-ACF2-0B4C-B355-8331FDF1D5B0}" type="slidenum">
              <a:rPr lang="en-US" smtClean="0"/>
              <a:t>28</a:t>
            </a:fld>
            <a:endParaRPr lang="en-US"/>
          </a:p>
        </p:txBody>
      </p:sp>
    </p:spTree>
    <p:extLst>
      <p:ext uri="{BB962C8B-B14F-4D97-AF65-F5344CB8AC3E}">
        <p14:creationId xmlns:p14="http://schemas.microsoft.com/office/powerpoint/2010/main" val="1923840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7FA74-E48A-753E-002C-ADE365253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18661-431B-847C-E3FB-767334E83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3CC96-1112-601E-34B0-D32F19C842BD}"/>
              </a:ext>
            </a:extLst>
          </p:cNvPr>
          <p:cNvSpPr>
            <a:spLocks noGrp="1"/>
          </p:cNvSpPr>
          <p:nvPr>
            <p:ph type="body" idx="1"/>
          </p:nvPr>
        </p:nvSpPr>
        <p:spPr/>
        <p:txBody>
          <a:bodyPr/>
          <a:lstStyle/>
          <a:p>
            <a:r>
              <a:rPr lang="en-US" b="0" i="0" u="sng" dirty="0">
                <a:solidFill>
                  <a:srgbClr val="0000FF"/>
                </a:solidFill>
                <a:effectLst/>
                <a:latin typeface="Aptos" panose="020B0004020202020204" pitchFamily="34" charset="0"/>
                <a:hlinkClick r:id="rId3"/>
              </a:rPr>
              <a:t>https://github.com/USCbiostats/LAsBEST</a:t>
            </a:r>
            <a:endParaRPr lang="en-US" b="0" i="0" u="sng" dirty="0">
              <a:solidFill>
                <a:srgbClr val="0000FF"/>
              </a:solidFill>
              <a:effectLst/>
              <a:latin typeface="Aptos" panose="020B0004020202020204" pitchFamily="34" charset="0"/>
            </a:endParaRPr>
          </a:p>
          <a:p>
            <a:endParaRPr lang="en-US" dirty="0"/>
          </a:p>
        </p:txBody>
      </p:sp>
      <p:sp>
        <p:nvSpPr>
          <p:cNvPr id="4" name="Slide Number Placeholder 3">
            <a:extLst>
              <a:ext uri="{FF2B5EF4-FFF2-40B4-BE49-F238E27FC236}">
                <a16:creationId xmlns:a16="http://schemas.microsoft.com/office/drawing/2014/main" id="{3A4FBCF3-B9E6-6A9F-B7BC-B4F5507408BE}"/>
              </a:ext>
            </a:extLst>
          </p:cNvPr>
          <p:cNvSpPr>
            <a:spLocks noGrp="1"/>
          </p:cNvSpPr>
          <p:nvPr>
            <p:ph type="sldNum" sz="quarter" idx="5"/>
          </p:nvPr>
        </p:nvSpPr>
        <p:spPr/>
        <p:txBody>
          <a:bodyPr/>
          <a:lstStyle/>
          <a:p>
            <a:fld id="{43D0D763-ACF2-0B4C-B355-8331FDF1D5B0}" type="slidenum">
              <a:rPr lang="en-US" smtClean="0"/>
              <a:t>29</a:t>
            </a:fld>
            <a:endParaRPr lang="en-US"/>
          </a:p>
        </p:txBody>
      </p:sp>
    </p:spTree>
    <p:extLst>
      <p:ext uri="{BB962C8B-B14F-4D97-AF65-F5344CB8AC3E}">
        <p14:creationId xmlns:p14="http://schemas.microsoft.com/office/powerpoint/2010/main" val="1849478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36E-EA11-21B9-26C0-07B12B7AC7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2566CC-7EA2-82DF-020E-7E2012126F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513C3-49D2-E86B-02C4-EBCA4CDE08D1}"/>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5F62E534-E00D-413E-CE6E-2D0BB74A7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57A2F5-441C-742F-591A-550623046C4D}"/>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384396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16CA6-206A-5A81-285D-5F2BEB912A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AFD679-4341-B57B-EE86-BC4647FB3B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EF48B7-5B2A-2568-86F8-74B445E330B2}"/>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95E14388-1B73-D4B6-D537-42CCD415EA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FED5A-0B85-D681-3A30-08B7BBC40972}"/>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1030439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7D52-3B38-9AEE-471D-FF763EDBCC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1599AB-DA58-C90A-8FA0-5851F4D235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836747-BAFE-D8F5-6FD3-0D6D85B4089B}"/>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1175F033-E99B-296C-DEB3-DC1A3A21A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CB322-0BE6-A5DD-B342-C9077C4F2C20}"/>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3685577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011C9-823C-76A4-087F-F5AEDAF36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26D96-D229-78A8-C139-FDC48DBF29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C47B45-AE26-C4F2-527D-E4B7962FC8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CB4277-4C79-E938-2C99-2B168B3CAF37}"/>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6" name="Footer Placeholder 5">
            <a:extLst>
              <a:ext uri="{FF2B5EF4-FFF2-40B4-BE49-F238E27FC236}">
                <a16:creationId xmlns:a16="http://schemas.microsoft.com/office/drawing/2014/main" id="{84A501C8-39FB-0E42-0E69-04F8F72810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DCC021-C704-C36F-E195-B009551588D3}"/>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672850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C39D-ED93-8F5E-6B4B-985BF67AF2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1E6CE-5CE4-5639-92E2-2DF9913DBC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899FB3-0847-59F2-1174-643145C75B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EEA34-FAD3-1CC5-9A16-3DA250E6C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A40E5A-FEDF-D090-A2D1-93762A0DC5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50B517-6829-6025-1362-45D8880C7456}"/>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8" name="Footer Placeholder 7">
            <a:extLst>
              <a:ext uri="{FF2B5EF4-FFF2-40B4-BE49-F238E27FC236}">
                <a16:creationId xmlns:a16="http://schemas.microsoft.com/office/drawing/2014/main" id="{4B6DE6AF-9673-64A0-A20E-868C65E8F2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92B35C-AB39-F774-7A22-51340F8852F8}"/>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936573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2850-E009-DFA2-49E8-2C5D3DD9C2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701FB8-D96B-23A0-6549-2DFAABD0644B}"/>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4" name="Footer Placeholder 3">
            <a:extLst>
              <a:ext uri="{FF2B5EF4-FFF2-40B4-BE49-F238E27FC236}">
                <a16:creationId xmlns:a16="http://schemas.microsoft.com/office/drawing/2014/main" id="{8AF27466-2849-D172-2CE8-BEC4A28E5D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875642-D44E-D254-11C4-6A676BD6C6A2}"/>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75621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1D2CD1-1668-B83E-F1A2-3B63915D09F9}"/>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3" name="Footer Placeholder 2">
            <a:extLst>
              <a:ext uri="{FF2B5EF4-FFF2-40B4-BE49-F238E27FC236}">
                <a16:creationId xmlns:a16="http://schemas.microsoft.com/office/drawing/2014/main" id="{530E9AF7-9BD0-5F04-97B6-3FF78F89F9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2086E6-7713-53A3-17F6-7248FDC8E7D8}"/>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412453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4AC7A-9589-FB65-FB6E-75C908F80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2EEC6C-9DA8-17B7-4C93-B11F84992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4C8C85-96EC-C852-EB70-BC822EDE3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0858F9-6B6F-BA7A-0D8B-549C213DAB1E}"/>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6" name="Footer Placeholder 5">
            <a:extLst>
              <a:ext uri="{FF2B5EF4-FFF2-40B4-BE49-F238E27FC236}">
                <a16:creationId xmlns:a16="http://schemas.microsoft.com/office/drawing/2014/main" id="{6D808586-8AAE-CC64-E85F-52BC2F45BE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91DFBF-FD90-0A6B-626D-4CB4B2FC1BF9}"/>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394395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AE7E-42BB-0096-98F4-8FED75F64D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8D5E84-7491-1722-DEFB-560EFC42ED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606C8A-244A-0DD8-8D82-FB515982B2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E501D5-18C5-C91E-08CA-466D99F880C6}"/>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6" name="Footer Placeholder 5">
            <a:extLst>
              <a:ext uri="{FF2B5EF4-FFF2-40B4-BE49-F238E27FC236}">
                <a16:creationId xmlns:a16="http://schemas.microsoft.com/office/drawing/2014/main" id="{7AFE0DC6-D9B5-9764-EE22-241A1B1698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A6E762-9F6D-E684-5113-3176A47686F4}"/>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369950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AE3D-6C21-4634-4495-C7C39F7D9A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E6E9F-86E7-6827-0A00-54C9D30842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C975D-BCB8-9012-BAD0-4E2BF8FBB353}"/>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CE31DD06-82A8-0B9B-23A0-09AEC7786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8A6FF9-78D4-1CFB-5809-72DEACC0C7FD}"/>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05495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42314A-1C6C-18C2-AD6E-CDA2F41D71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AE8335-76A9-7375-1E36-5FE5E7F5AB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655FF3-7828-2E65-40E2-120241114CD2}"/>
              </a:ext>
            </a:extLst>
          </p:cNvPr>
          <p:cNvSpPr>
            <a:spLocks noGrp="1"/>
          </p:cNvSpPr>
          <p:nvPr>
            <p:ph type="dt" sz="half" idx="10"/>
          </p:nvPr>
        </p:nvSpPr>
        <p:spPr/>
        <p:txBody>
          <a:body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7DB9BBA0-5E25-C04D-90C1-C13A7C1707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E5070F-C2EA-8744-1EE0-305B40F64769}"/>
              </a:ext>
            </a:extLst>
          </p:cNvPr>
          <p:cNvSpPr>
            <a:spLocks noGrp="1"/>
          </p:cNvSpPr>
          <p:nvPr>
            <p:ph type="sldNum" sz="quarter" idx="12"/>
          </p:nvPr>
        </p:nvSpPr>
        <p:spPr/>
        <p:txBody>
          <a:bodyPr/>
          <a:lstStyle/>
          <a:p>
            <a:fld id="{5CB1C1BB-566A-5A4F-81FD-30D060C6D4E0}" type="slidenum">
              <a:rPr lang="en-US" smtClean="0"/>
              <a:t>‹#›</a:t>
            </a:fld>
            <a:endParaRPr lang="en-US"/>
          </a:p>
        </p:txBody>
      </p:sp>
    </p:spTree>
    <p:extLst>
      <p:ext uri="{BB962C8B-B14F-4D97-AF65-F5344CB8AC3E}">
        <p14:creationId xmlns:p14="http://schemas.microsoft.com/office/powerpoint/2010/main" val="264135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C80863-B64B-3CAC-B87B-DF20FA4ED2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77CE18-BA9B-E8E4-A68B-D7C2C5477B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7F84A-EE1F-83C2-C2B2-4AE93FF18E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EEB0B6-3E14-F74E-8CB3-59124210D269}" type="datetimeFigureOut">
              <a:rPr lang="en-US" smtClean="0"/>
              <a:t>6/15/25</a:t>
            </a:fld>
            <a:endParaRPr lang="en-US"/>
          </a:p>
        </p:txBody>
      </p:sp>
      <p:sp>
        <p:nvSpPr>
          <p:cNvPr id="5" name="Footer Placeholder 4">
            <a:extLst>
              <a:ext uri="{FF2B5EF4-FFF2-40B4-BE49-F238E27FC236}">
                <a16:creationId xmlns:a16="http://schemas.microsoft.com/office/drawing/2014/main" id="{9000CA01-3E9F-26DA-D414-4C63864BC9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19B97D-B24F-83A1-96A3-20F4A9A9D4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B1C1BB-566A-5A4F-81FD-30D060C6D4E0}" type="slidenum">
              <a:rPr lang="en-US" smtClean="0"/>
              <a:t>‹#›</a:t>
            </a:fld>
            <a:endParaRPr lang="en-US"/>
          </a:p>
        </p:txBody>
      </p:sp>
    </p:spTree>
    <p:extLst>
      <p:ext uri="{BB962C8B-B14F-4D97-AF65-F5344CB8AC3E}">
        <p14:creationId xmlns:p14="http://schemas.microsoft.com/office/powerpoint/2010/main" val="67270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hyperlink" Target="https://rfortherestofus.com/2021/02/how-to-use-git-github-with-r" TargetMode="External"/><Relationship Id="rId7" Type="http://schemas.openxmlformats.org/officeDocument/2006/relationships/image" Target="../media/image2.svg"/><Relationship Id="rId2" Type="http://schemas.openxmlformats.org/officeDocument/2006/relationships/hyperlink" Target="https://happygitwithr.com/big-picture"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peerj.com/preprints/3159v2/" TargetMode="External"/><Relationship Id="rId4" Type="http://schemas.openxmlformats.org/officeDocument/2006/relationships/hyperlink" Target="https://youtu.be/eWxxfttcMt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doi.org/10.7287/peerj.preprints.3159v2" TargetMode="Externa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youtu.be/eWxxfttcMt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youtu.be/eWxxfttcMts" TargetMode="Externa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youtu.be/eWxxfttcMt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hyperlink" Target="https://youtu.be/eWxxfttcMt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hyperlink" Target="https://youtu.be/eWxxfttcMt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hyperlink" Target="https://youtu.be/eWxxfttcMt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sv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urldefense.com/v3/__https:/github.com/USCbiostats/LAsBEST__;!!LIr3w8kk_Xxm!rl0WDOpC3RwzxzTcBklLESsl58op8YShY00-8-zHgyPJc7OX8Ti4Yih_QA7IUmJ1bL_vGZHa1Y3i-Gs$" TargetMode="External"/><Relationship Id="rId5" Type="http://schemas.openxmlformats.org/officeDocument/2006/relationships/image" Target="../media/image37.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8938-7D06-5113-D25A-6123ADBB6C66}"/>
              </a:ext>
            </a:extLst>
          </p:cNvPr>
          <p:cNvSpPr>
            <a:spLocks noGrp="1"/>
          </p:cNvSpPr>
          <p:nvPr>
            <p:ph type="ctrTitle"/>
          </p:nvPr>
        </p:nvSpPr>
        <p:spPr>
          <a:xfrm>
            <a:off x="1523999" y="1122363"/>
            <a:ext cx="9480331" cy="2387600"/>
          </a:xfrm>
        </p:spPr>
        <p:txBody>
          <a:bodyPr/>
          <a:lstStyle/>
          <a:p>
            <a:r>
              <a:rPr lang="en-US" dirty="0"/>
              <a:t>How to Use Git/</a:t>
            </a:r>
            <a:r>
              <a:rPr lang="en-US" dirty="0" err="1"/>
              <a:t>Github</a:t>
            </a:r>
            <a:r>
              <a:rPr lang="en-US" dirty="0"/>
              <a:t> with R</a:t>
            </a:r>
          </a:p>
        </p:txBody>
      </p:sp>
      <p:sp>
        <p:nvSpPr>
          <p:cNvPr id="3" name="Subtitle 2">
            <a:extLst>
              <a:ext uri="{FF2B5EF4-FFF2-40B4-BE49-F238E27FC236}">
                <a16:creationId xmlns:a16="http://schemas.microsoft.com/office/drawing/2014/main" id="{EEDD6BB2-29F8-6B82-8E51-550904970F69}"/>
              </a:ext>
            </a:extLst>
          </p:cNvPr>
          <p:cNvSpPr>
            <a:spLocks noGrp="1"/>
          </p:cNvSpPr>
          <p:nvPr>
            <p:ph type="subTitle" idx="1"/>
          </p:nvPr>
        </p:nvSpPr>
        <p:spPr/>
        <p:txBody>
          <a:bodyPr/>
          <a:lstStyle/>
          <a:p>
            <a:r>
              <a:rPr lang="en-US" dirty="0"/>
              <a:t>Joel Sanchez Mendez</a:t>
            </a:r>
          </a:p>
          <a:p>
            <a:r>
              <a:rPr lang="en-US" dirty="0"/>
              <a:t>Jessica George</a:t>
            </a:r>
          </a:p>
        </p:txBody>
      </p:sp>
      <p:sp>
        <p:nvSpPr>
          <p:cNvPr id="4" name="Rectangle 3">
            <a:extLst>
              <a:ext uri="{FF2B5EF4-FFF2-40B4-BE49-F238E27FC236}">
                <a16:creationId xmlns:a16="http://schemas.microsoft.com/office/drawing/2014/main" id="{3F190F3A-DB20-EB98-FCE7-28F75A654F1E}"/>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FB61438E-127F-F1A5-E046-1D8872B131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903C3E55-2A13-0519-E210-D75EF3D33385}"/>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270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035B-3429-1217-E142-F7A0875780FC}"/>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D2375006-645F-C487-FD69-E0057A239757}"/>
              </a:ext>
            </a:extLst>
          </p:cNvPr>
          <p:cNvSpPr>
            <a:spLocks noGrp="1"/>
          </p:cNvSpPr>
          <p:nvPr>
            <p:ph idx="1"/>
          </p:nvPr>
        </p:nvSpPr>
        <p:spPr/>
        <p:txBody>
          <a:bodyPr>
            <a:normAutofit lnSpcReduction="10000"/>
          </a:bodyPr>
          <a:lstStyle/>
          <a:p>
            <a:r>
              <a:rPr lang="en-US" dirty="0"/>
              <a:t>Book Happy Git and </a:t>
            </a:r>
            <a:r>
              <a:rPr lang="en-US" dirty="0" err="1"/>
              <a:t>Github</a:t>
            </a:r>
            <a:r>
              <a:rPr lang="en-US" dirty="0"/>
              <a:t> for the </a:t>
            </a:r>
            <a:r>
              <a:rPr lang="en-US" dirty="0" err="1"/>
              <a:t>useR</a:t>
            </a:r>
            <a:r>
              <a:rPr lang="en-US" dirty="0"/>
              <a:t>: </a:t>
            </a:r>
          </a:p>
          <a:p>
            <a:r>
              <a:rPr lang="en-US" dirty="0">
                <a:hlinkClick r:id="rId2"/>
              </a:rPr>
              <a:t>https://happygitwithr.com/big-picture</a:t>
            </a:r>
            <a:endParaRPr lang="en-US" dirty="0"/>
          </a:p>
          <a:p>
            <a:r>
              <a:rPr lang="en-US" dirty="0"/>
              <a:t>Video tutorial to set-up Git and </a:t>
            </a:r>
            <a:r>
              <a:rPr lang="en-US" dirty="0" err="1"/>
              <a:t>Github</a:t>
            </a:r>
            <a:r>
              <a:rPr lang="en-US" dirty="0"/>
              <a:t> in </a:t>
            </a:r>
            <a:r>
              <a:rPr lang="en-US" dirty="0" err="1"/>
              <a:t>Rstudio</a:t>
            </a:r>
            <a:r>
              <a:rPr lang="en-US" dirty="0"/>
              <a:t>: </a:t>
            </a:r>
          </a:p>
          <a:p>
            <a:r>
              <a:rPr lang="en-US" dirty="0">
                <a:hlinkClick r:id="rId3"/>
              </a:rPr>
              <a:t>https://rfortherestofus.com/2021/02/how-to-use-git-github-with-r</a:t>
            </a:r>
            <a:endParaRPr lang="en-US" dirty="0"/>
          </a:p>
          <a:p>
            <a:r>
              <a:rPr lang="en-US" dirty="0" err="1"/>
              <a:t>Youtube</a:t>
            </a:r>
            <a:r>
              <a:rPr lang="en-US" dirty="0"/>
              <a:t> video explaining Git basics: </a:t>
            </a:r>
          </a:p>
          <a:p>
            <a:r>
              <a:rPr lang="en-US" dirty="0">
                <a:hlinkClick r:id="rId4"/>
              </a:rPr>
              <a:t>https://youtu.be/eWxxfttcMts</a:t>
            </a:r>
            <a:endParaRPr lang="en-US" dirty="0"/>
          </a:p>
          <a:p>
            <a:r>
              <a:rPr lang="en-US" dirty="0"/>
              <a:t>Paper: </a:t>
            </a:r>
            <a:r>
              <a:rPr lang="en-US" b="0" i="0" u="none" strike="noStrike" dirty="0">
                <a:solidFill>
                  <a:srgbClr val="333333"/>
                </a:solidFill>
                <a:effectLst/>
                <a:latin typeface="Georgia" panose="02040502050405020303" pitchFamily="18" charset="0"/>
              </a:rPr>
              <a:t>Excuse me, do you have a moment to talk about version control?</a:t>
            </a:r>
          </a:p>
          <a:p>
            <a:r>
              <a:rPr lang="en-US" dirty="0">
                <a:hlinkClick r:id="rId5"/>
              </a:rPr>
              <a:t>https://peerj.com/preprints/3159v2/#</a:t>
            </a:r>
            <a:endParaRPr lang="en-US" dirty="0"/>
          </a:p>
          <a:p>
            <a:endParaRPr lang="en-US" dirty="0"/>
          </a:p>
          <a:p>
            <a:pPr marL="0" indent="0">
              <a:buNone/>
            </a:pPr>
            <a:endParaRPr lang="en-US" dirty="0"/>
          </a:p>
        </p:txBody>
      </p:sp>
      <p:sp>
        <p:nvSpPr>
          <p:cNvPr id="4" name="Rectangle 3">
            <a:extLst>
              <a:ext uri="{FF2B5EF4-FFF2-40B4-BE49-F238E27FC236}">
                <a16:creationId xmlns:a16="http://schemas.microsoft.com/office/drawing/2014/main" id="{8B7FB5C8-1D10-2A5A-9B0C-2F01BCDCCFC9}"/>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9814DE43-4500-105A-AF37-B3CB5F5FE3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FD60FBB4-568B-9566-EE99-48F43962389D}"/>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41842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paper&#10;&#10;Description automatically generated">
            <a:extLst>
              <a:ext uri="{FF2B5EF4-FFF2-40B4-BE49-F238E27FC236}">
                <a16:creationId xmlns:a16="http://schemas.microsoft.com/office/drawing/2014/main" id="{30B31DCD-26C7-DC47-44FF-5DB2C858F77C}"/>
              </a:ext>
            </a:extLst>
          </p:cNvPr>
          <p:cNvPicPr>
            <a:picLocks noChangeAspect="1"/>
          </p:cNvPicPr>
          <p:nvPr/>
        </p:nvPicPr>
        <p:blipFill>
          <a:blip r:embed="rId3"/>
          <a:stretch>
            <a:fillRect/>
          </a:stretch>
        </p:blipFill>
        <p:spPr>
          <a:xfrm>
            <a:off x="3027722" y="434072"/>
            <a:ext cx="6347506" cy="5769584"/>
          </a:xfrm>
          <a:prstGeom prst="rect">
            <a:avLst/>
          </a:prstGeom>
        </p:spPr>
      </p:pic>
      <p:sp>
        <p:nvSpPr>
          <p:cNvPr id="8" name="Rectangle 7">
            <a:extLst>
              <a:ext uri="{FF2B5EF4-FFF2-40B4-BE49-F238E27FC236}">
                <a16:creationId xmlns:a16="http://schemas.microsoft.com/office/drawing/2014/main" id="{97898467-424B-43D9-C0A9-10D2D44B4FB6}"/>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9">
            <a:extLst>
              <a:ext uri="{FF2B5EF4-FFF2-40B4-BE49-F238E27FC236}">
                <a16:creationId xmlns:a16="http://schemas.microsoft.com/office/drawing/2014/main" id="{DA4B8945-0E2E-89AD-A715-88FE03FA65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3904"/>
            <a:ext cx="2538783" cy="679716"/>
          </a:xfrm>
          <a:prstGeom prst="rect">
            <a:avLst/>
          </a:prstGeom>
        </p:spPr>
      </p:pic>
      <p:sp>
        <p:nvSpPr>
          <p:cNvPr id="10" name="Rectangle 9">
            <a:extLst>
              <a:ext uri="{FF2B5EF4-FFF2-40B4-BE49-F238E27FC236}">
                <a16:creationId xmlns:a16="http://schemas.microsoft.com/office/drawing/2014/main" id="{BB83A616-E2F3-AE2D-7561-2F49195E8F6C}"/>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78E7F972-1618-4CAD-0DFA-D5A2CECFD4EF}"/>
              </a:ext>
            </a:extLst>
          </p:cNvPr>
          <p:cNvSpPr txBox="1"/>
          <p:nvPr/>
        </p:nvSpPr>
        <p:spPr>
          <a:xfrm>
            <a:off x="2538783" y="6639237"/>
            <a:ext cx="10084675" cy="261610"/>
          </a:xfrm>
          <a:prstGeom prst="rect">
            <a:avLst/>
          </a:prstGeom>
          <a:noFill/>
        </p:spPr>
        <p:txBody>
          <a:bodyPr wrap="square">
            <a:spAutoFit/>
          </a:bodyPr>
          <a:lstStyle/>
          <a:p>
            <a:r>
              <a:rPr lang="en-US" sz="1100" b="0" i="0" u="none" strike="noStrike" dirty="0">
                <a:effectLst/>
                <a:latin typeface="Helvetica Neue" panose="02000503000000020004" pitchFamily="2" charset="0"/>
              </a:rPr>
              <a:t>Bryan J. 2017. Excuse me, do you have a moment to talk about version </a:t>
            </a:r>
            <a:r>
              <a:rPr lang="en-US" sz="1100" b="0" i="0" u="none" strike="noStrike" dirty="0" err="1">
                <a:effectLst/>
                <a:latin typeface="Helvetica Neue" panose="02000503000000020004" pitchFamily="2" charset="0"/>
              </a:rPr>
              <a:t>control?</a:t>
            </a:r>
            <a:r>
              <a:rPr lang="en-US" sz="1100" b="0" i="1" u="none" strike="noStrike" dirty="0" err="1">
                <a:effectLst/>
                <a:latin typeface="Helvetica Neue" panose="02000503000000020004" pitchFamily="2" charset="0"/>
              </a:rPr>
              <a:t>PeerJ</a:t>
            </a:r>
            <a:r>
              <a:rPr lang="en-US" sz="1100" b="0" i="1" u="none" strike="noStrike" dirty="0">
                <a:effectLst/>
                <a:latin typeface="Helvetica Neue" panose="02000503000000020004" pitchFamily="2" charset="0"/>
              </a:rPr>
              <a:t> Preprints</a:t>
            </a:r>
            <a:r>
              <a:rPr lang="en-US" sz="1100" b="0" i="0" u="none" strike="noStrike" dirty="0">
                <a:effectLst/>
                <a:latin typeface="Helvetica Neue" panose="02000503000000020004" pitchFamily="2" charset="0"/>
              </a:rPr>
              <a:t> 5:e3159v2 </a:t>
            </a:r>
            <a:r>
              <a:rPr lang="en-US" sz="1100" b="0" i="0" u="none" strike="noStrike" dirty="0">
                <a:effectLst/>
                <a:latin typeface="Helvetica Neue" panose="02000503000000020004" pitchFamily="2" charset="0"/>
                <a:hlinkClick r:id="rId6">
                  <a:extLst>
                    <a:ext uri="{A12FA001-AC4F-418D-AE19-62706E023703}">
                      <ahyp:hlinkClr xmlns:ahyp="http://schemas.microsoft.com/office/drawing/2018/hyperlinkcolor" val="tx"/>
                    </a:ext>
                  </a:extLst>
                </a:hlinkClick>
              </a:rPr>
              <a:t>https://doi.org/10.7287/peerj.preprints.3159v2</a:t>
            </a:r>
            <a:endParaRPr lang="en-US" sz="1100" dirty="0"/>
          </a:p>
        </p:txBody>
      </p:sp>
    </p:spTree>
    <p:extLst>
      <p:ext uri="{BB962C8B-B14F-4D97-AF65-F5344CB8AC3E}">
        <p14:creationId xmlns:p14="http://schemas.microsoft.com/office/powerpoint/2010/main" val="2793959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6DAB6-1661-85D0-5FB0-EF21BBBE9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01901-4539-E736-90A6-8B400BA50C82}"/>
              </a:ext>
            </a:extLst>
          </p:cNvPr>
          <p:cNvSpPr>
            <a:spLocks noGrp="1"/>
          </p:cNvSpPr>
          <p:nvPr>
            <p:ph type="title"/>
          </p:nvPr>
        </p:nvSpPr>
        <p:spPr/>
        <p:txBody>
          <a:bodyPr/>
          <a:lstStyle/>
          <a:p>
            <a:r>
              <a:rPr lang="en-US" dirty="0"/>
              <a:t>What is Git?</a:t>
            </a:r>
          </a:p>
        </p:txBody>
      </p:sp>
      <p:sp>
        <p:nvSpPr>
          <p:cNvPr id="3" name="Content Placeholder 2">
            <a:extLst>
              <a:ext uri="{FF2B5EF4-FFF2-40B4-BE49-F238E27FC236}">
                <a16:creationId xmlns:a16="http://schemas.microsoft.com/office/drawing/2014/main" id="{E557879F-0024-658C-F8F1-8DE020EE7A81}"/>
              </a:ext>
            </a:extLst>
          </p:cNvPr>
          <p:cNvSpPr>
            <a:spLocks noGrp="1"/>
          </p:cNvSpPr>
          <p:nvPr>
            <p:ph idx="1"/>
          </p:nvPr>
        </p:nvSpPr>
        <p:spPr/>
        <p:txBody>
          <a:bodyPr/>
          <a:lstStyle/>
          <a:p>
            <a:r>
              <a:rPr lang="en-US" sz="1800" dirty="0">
                <a:effectLst/>
                <a:latin typeface="CMR12"/>
              </a:rPr>
              <a:t>Git is a </a:t>
            </a:r>
            <a:r>
              <a:rPr lang="en-US" sz="1800" dirty="0">
                <a:effectLst/>
                <a:latin typeface="CMBX12"/>
              </a:rPr>
              <a:t>version control system</a:t>
            </a:r>
            <a:r>
              <a:rPr lang="en-US" sz="1800" dirty="0">
                <a:effectLst/>
                <a:latin typeface="CMR12"/>
              </a:rPr>
              <a:t>. Its original purpose was to help groups of developers work collaboratively on big software projects. Git manages the evolution of a set of files – called a </a:t>
            </a:r>
            <a:r>
              <a:rPr lang="en-US" sz="1800" dirty="0">
                <a:effectLst/>
                <a:latin typeface="CMBX12"/>
              </a:rPr>
              <a:t>repository </a:t>
            </a:r>
            <a:r>
              <a:rPr lang="en-US" sz="1800" dirty="0">
                <a:effectLst/>
                <a:latin typeface="CMR12"/>
              </a:rPr>
              <a:t>or </a:t>
            </a:r>
            <a:r>
              <a:rPr lang="en-US" sz="1800" dirty="0">
                <a:effectLst/>
                <a:latin typeface="CMBX12"/>
              </a:rPr>
              <a:t>repo </a:t>
            </a:r>
            <a:r>
              <a:rPr lang="en-US" sz="1800" dirty="0">
                <a:effectLst/>
                <a:latin typeface="CMR12"/>
              </a:rPr>
              <a:t>– in a sane, highly structured way. It is like the “Track Changes” feature from Microsoft Word, but more rigorous, powerful, and scaled up to multiple files. </a:t>
            </a:r>
            <a:endParaRPr lang="en-US" dirty="0"/>
          </a:p>
        </p:txBody>
      </p:sp>
      <p:sp>
        <p:nvSpPr>
          <p:cNvPr id="4" name="Down Arrow 3">
            <a:extLst>
              <a:ext uri="{FF2B5EF4-FFF2-40B4-BE49-F238E27FC236}">
                <a16:creationId xmlns:a16="http://schemas.microsoft.com/office/drawing/2014/main" id="{8198CC40-D087-FA64-0063-A39474446524}"/>
              </a:ext>
            </a:extLst>
          </p:cNvPr>
          <p:cNvSpPr/>
          <p:nvPr/>
        </p:nvSpPr>
        <p:spPr>
          <a:xfrm>
            <a:off x="5722882" y="2960495"/>
            <a:ext cx="746235" cy="1282262"/>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37EC1D7-6FC7-3553-F308-38F6A4A38777}"/>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9">
            <a:extLst>
              <a:ext uri="{FF2B5EF4-FFF2-40B4-BE49-F238E27FC236}">
                <a16:creationId xmlns:a16="http://schemas.microsoft.com/office/drawing/2014/main" id="{219CA711-74E4-4D58-A780-5D30116DEF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7" name="Rectangle 6">
            <a:extLst>
              <a:ext uri="{FF2B5EF4-FFF2-40B4-BE49-F238E27FC236}">
                <a16:creationId xmlns:a16="http://schemas.microsoft.com/office/drawing/2014/main" id="{93DDDFF0-D156-63B4-F3F6-61D57D6784BE}"/>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2">
            <a:extLst>
              <a:ext uri="{FF2B5EF4-FFF2-40B4-BE49-F238E27FC236}">
                <a16:creationId xmlns:a16="http://schemas.microsoft.com/office/drawing/2014/main" id="{85FFC5AB-66CC-E272-DAC2-3888DB870B2B}"/>
              </a:ext>
            </a:extLst>
          </p:cNvPr>
          <p:cNvSpPr txBox="1">
            <a:spLocks/>
          </p:cNvSpPr>
          <p:nvPr/>
        </p:nvSpPr>
        <p:spPr>
          <a:xfrm>
            <a:off x="959070" y="4547078"/>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effectLst/>
                <a:latin typeface="CMR12"/>
              </a:rPr>
              <a:t>Git has been re-purposed by the data science community. We use it to manage the motley collection of files that make up typical data analytical projects, which consist of data, figures, reports, and, yes, source code. Even those who identify more as statistician than data scientist generally have a similar mix of files that are the artifacts of a project. </a:t>
            </a:r>
            <a:endParaRPr lang="en-US" sz="1200" dirty="0"/>
          </a:p>
        </p:txBody>
      </p:sp>
      <p:sp>
        <p:nvSpPr>
          <p:cNvPr id="9" name="TextBox 8">
            <a:extLst>
              <a:ext uri="{FF2B5EF4-FFF2-40B4-BE49-F238E27FC236}">
                <a16:creationId xmlns:a16="http://schemas.microsoft.com/office/drawing/2014/main" id="{A42B4037-33AC-F642-D91B-94FD67D8DD76}"/>
              </a:ext>
            </a:extLst>
          </p:cNvPr>
          <p:cNvSpPr txBox="1"/>
          <p:nvPr/>
        </p:nvSpPr>
        <p:spPr>
          <a:xfrm>
            <a:off x="11143593" y="6639250"/>
            <a:ext cx="1269658" cy="261610"/>
          </a:xfrm>
          <a:prstGeom prst="rect">
            <a:avLst/>
          </a:prstGeom>
          <a:noFill/>
        </p:spPr>
        <p:txBody>
          <a:bodyPr wrap="square">
            <a:spAutoFit/>
          </a:bodyPr>
          <a:lstStyle/>
          <a:p>
            <a:r>
              <a:rPr lang="en-US" sz="1100" b="0" i="0" u="none" strike="noStrike" dirty="0">
                <a:effectLst/>
                <a:latin typeface="Helvetica Neue" panose="02000503000000020004" pitchFamily="2" charset="0"/>
              </a:rPr>
              <a:t>Bryan J. 2017</a:t>
            </a:r>
            <a:endParaRPr lang="en-US" sz="1100" dirty="0"/>
          </a:p>
        </p:txBody>
      </p:sp>
    </p:spTree>
    <p:extLst>
      <p:ext uri="{BB962C8B-B14F-4D97-AF65-F5344CB8AC3E}">
        <p14:creationId xmlns:p14="http://schemas.microsoft.com/office/powerpoint/2010/main" val="1081253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75E51-EFF1-B360-D99C-25C2C5AB806F}"/>
            </a:ext>
          </a:extLst>
        </p:cNvPr>
        <p:cNvGrpSpPr/>
        <p:nvPr/>
      </p:nvGrpSpPr>
      <p:grpSpPr>
        <a:xfrm>
          <a:off x="0" y="0"/>
          <a:ext cx="0" cy="0"/>
          <a:chOff x="0" y="0"/>
          <a:chExt cx="0" cy="0"/>
        </a:xfrm>
      </p:grpSpPr>
      <p:pic>
        <p:nvPicPr>
          <p:cNvPr id="8" name="Content Placeholder 7" descr="A screenshot of a computer&#10;&#10;Description automatically generated">
            <a:extLst>
              <a:ext uri="{FF2B5EF4-FFF2-40B4-BE49-F238E27FC236}">
                <a16:creationId xmlns:a16="http://schemas.microsoft.com/office/drawing/2014/main" id="{49891290-CCB5-E9E1-4B95-CDB9D4FC6EB5}"/>
              </a:ext>
            </a:extLst>
          </p:cNvPr>
          <p:cNvPicPr>
            <a:picLocks noGrp="1" noChangeAspect="1"/>
          </p:cNvPicPr>
          <p:nvPr>
            <p:ph idx="1"/>
          </p:nvPr>
        </p:nvPicPr>
        <p:blipFill>
          <a:blip r:embed="rId2"/>
          <a:stretch>
            <a:fillRect/>
          </a:stretch>
        </p:blipFill>
        <p:spPr>
          <a:xfrm>
            <a:off x="2694391" y="381885"/>
            <a:ext cx="7114079" cy="6094229"/>
          </a:xfrm>
        </p:spPr>
      </p:pic>
      <p:sp>
        <p:nvSpPr>
          <p:cNvPr id="4" name="Rectangle 3">
            <a:extLst>
              <a:ext uri="{FF2B5EF4-FFF2-40B4-BE49-F238E27FC236}">
                <a16:creationId xmlns:a16="http://schemas.microsoft.com/office/drawing/2014/main" id="{BDBF6376-8D7D-07AD-6532-3284904BB092}"/>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3A5669A8-C18C-1EDD-856E-12B4BE9F67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A7E5EAF5-DFA9-0023-5D49-743156EA9E4D}"/>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284D8CA-D8B0-6F4D-FA97-46E767002286}"/>
              </a:ext>
            </a:extLst>
          </p:cNvPr>
          <p:cNvSpPr txBox="1"/>
          <p:nvPr/>
        </p:nvSpPr>
        <p:spPr>
          <a:xfrm>
            <a:off x="11143593" y="6639250"/>
            <a:ext cx="1269658" cy="261610"/>
          </a:xfrm>
          <a:prstGeom prst="rect">
            <a:avLst/>
          </a:prstGeom>
          <a:noFill/>
        </p:spPr>
        <p:txBody>
          <a:bodyPr wrap="square">
            <a:spAutoFit/>
          </a:bodyPr>
          <a:lstStyle/>
          <a:p>
            <a:r>
              <a:rPr lang="en-US" sz="1100" b="0" i="0" u="none" strike="noStrike" dirty="0">
                <a:effectLst/>
                <a:latin typeface="Helvetica Neue" panose="02000503000000020004" pitchFamily="2" charset="0"/>
              </a:rPr>
              <a:t>Bryan J. 2017</a:t>
            </a:r>
            <a:endParaRPr lang="en-US" sz="1100" dirty="0"/>
          </a:p>
        </p:txBody>
      </p:sp>
    </p:spTree>
    <p:extLst>
      <p:ext uri="{BB962C8B-B14F-4D97-AF65-F5344CB8AC3E}">
        <p14:creationId xmlns:p14="http://schemas.microsoft.com/office/powerpoint/2010/main" val="36044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BF03D-DE1D-21DA-B8EB-604CE5ABB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459E2-2EAD-3488-5541-4E8BC9E7134A}"/>
              </a:ext>
            </a:extLst>
          </p:cNvPr>
          <p:cNvSpPr>
            <a:spLocks noGrp="1"/>
          </p:cNvSpPr>
          <p:nvPr>
            <p:ph type="title"/>
          </p:nvPr>
        </p:nvSpPr>
        <p:spPr/>
        <p:txBody>
          <a:bodyPr/>
          <a:lstStyle/>
          <a:p>
            <a:r>
              <a:rPr lang="en-US" dirty="0"/>
              <a:t>What is GitHub?</a:t>
            </a:r>
          </a:p>
        </p:txBody>
      </p:sp>
      <p:sp>
        <p:nvSpPr>
          <p:cNvPr id="3" name="Content Placeholder 2">
            <a:extLst>
              <a:ext uri="{FF2B5EF4-FFF2-40B4-BE49-F238E27FC236}">
                <a16:creationId xmlns:a16="http://schemas.microsoft.com/office/drawing/2014/main" id="{7F39806F-B226-F9AA-FA43-EB61CC31D803}"/>
              </a:ext>
            </a:extLst>
          </p:cNvPr>
          <p:cNvSpPr>
            <a:spLocks noGrp="1"/>
          </p:cNvSpPr>
          <p:nvPr>
            <p:ph idx="1"/>
          </p:nvPr>
        </p:nvSpPr>
        <p:spPr>
          <a:xfrm>
            <a:off x="838199" y="1422784"/>
            <a:ext cx="10515600" cy="4351338"/>
          </a:xfrm>
        </p:spPr>
        <p:txBody>
          <a:bodyPr/>
          <a:lstStyle/>
          <a:p>
            <a:r>
              <a:rPr lang="en-US" sz="1800" dirty="0">
                <a:effectLst/>
                <a:latin typeface="CMR12"/>
              </a:rPr>
              <a:t>Git is the software you will use locally to record changes to a set of files. </a:t>
            </a:r>
          </a:p>
          <a:p>
            <a:r>
              <a:rPr lang="en-US" sz="1800" dirty="0">
                <a:effectLst/>
                <a:latin typeface="CMR12"/>
              </a:rPr>
              <a:t>GitHub is a hosting service that provides a Git-aware home for such projects on the internet. </a:t>
            </a:r>
            <a:endParaRPr lang="en-US" dirty="0"/>
          </a:p>
          <a:p>
            <a:endParaRPr lang="en-US" dirty="0"/>
          </a:p>
        </p:txBody>
      </p:sp>
      <p:sp>
        <p:nvSpPr>
          <p:cNvPr id="4" name="Rectangle 3">
            <a:extLst>
              <a:ext uri="{FF2B5EF4-FFF2-40B4-BE49-F238E27FC236}">
                <a16:creationId xmlns:a16="http://schemas.microsoft.com/office/drawing/2014/main" id="{298F19FF-B908-4BAC-EE76-B7B34821C6C9}"/>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28137075-4E05-0FCB-F692-6F33723BFB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BB4A2B66-8599-A868-4970-7C9E06F3264B}"/>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diagram of a web page&#10;&#10;Description automatically generated">
            <a:extLst>
              <a:ext uri="{FF2B5EF4-FFF2-40B4-BE49-F238E27FC236}">
                <a16:creationId xmlns:a16="http://schemas.microsoft.com/office/drawing/2014/main" id="{1230F909-F57E-C493-7524-6111A5E97F52}"/>
              </a:ext>
            </a:extLst>
          </p:cNvPr>
          <p:cNvPicPr>
            <a:picLocks noChangeAspect="1"/>
          </p:cNvPicPr>
          <p:nvPr/>
        </p:nvPicPr>
        <p:blipFill>
          <a:blip r:embed="rId4"/>
          <a:srcRect t="5960" b="3350"/>
          <a:stretch/>
        </p:blipFill>
        <p:spPr>
          <a:xfrm>
            <a:off x="3470037" y="2163040"/>
            <a:ext cx="5251926" cy="4255427"/>
          </a:xfrm>
          <a:prstGeom prst="rect">
            <a:avLst/>
          </a:prstGeom>
        </p:spPr>
      </p:pic>
      <p:sp>
        <p:nvSpPr>
          <p:cNvPr id="9" name="TextBox 8">
            <a:extLst>
              <a:ext uri="{FF2B5EF4-FFF2-40B4-BE49-F238E27FC236}">
                <a16:creationId xmlns:a16="http://schemas.microsoft.com/office/drawing/2014/main" id="{DB61EC2B-0D10-2440-4B2A-AC6E269B7608}"/>
              </a:ext>
            </a:extLst>
          </p:cNvPr>
          <p:cNvSpPr txBox="1"/>
          <p:nvPr/>
        </p:nvSpPr>
        <p:spPr>
          <a:xfrm>
            <a:off x="11143593" y="6639250"/>
            <a:ext cx="1269658" cy="261610"/>
          </a:xfrm>
          <a:prstGeom prst="rect">
            <a:avLst/>
          </a:prstGeom>
          <a:noFill/>
        </p:spPr>
        <p:txBody>
          <a:bodyPr wrap="square">
            <a:spAutoFit/>
          </a:bodyPr>
          <a:lstStyle/>
          <a:p>
            <a:r>
              <a:rPr lang="en-US" sz="1100" b="0" i="0" u="none" strike="noStrike" dirty="0">
                <a:effectLst/>
                <a:latin typeface="Helvetica Neue" panose="02000503000000020004" pitchFamily="2" charset="0"/>
              </a:rPr>
              <a:t>Bryan J. 2017</a:t>
            </a:r>
            <a:endParaRPr lang="en-US" sz="1100" dirty="0"/>
          </a:p>
        </p:txBody>
      </p:sp>
    </p:spTree>
    <p:extLst>
      <p:ext uri="{BB962C8B-B14F-4D97-AF65-F5344CB8AC3E}">
        <p14:creationId xmlns:p14="http://schemas.microsoft.com/office/powerpoint/2010/main" val="2628619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DCA2F-F563-10D7-E566-DC235BB13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F0D98-F71A-478C-F19A-9C536F2496E7}"/>
              </a:ext>
            </a:extLst>
          </p:cNvPr>
          <p:cNvSpPr>
            <a:spLocks noGrp="1"/>
          </p:cNvSpPr>
          <p:nvPr>
            <p:ph type="title"/>
          </p:nvPr>
        </p:nvSpPr>
        <p:spPr>
          <a:xfrm>
            <a:off x="838200" y="617508"/>
            <a:ext cx="10515600" cy="1325563"/>
          </a:xfrm>
        </p:spPr>
        <p:txBody>
          <a:bodyPr/>
          <a:lstStyle/>
          <a:p>
            <a:r>
              <a:rPr lang="en-US" dirty="0"/>
              <a:t>Git is unfriendly </a:t>
            </a:r>
          </a:p>
        </p:txBody>
      </p:sp>
      <p:pic>
        <p:nvPicPr>
          <p:cNvPr id="8" name="Content Placeholder 7" descr="A screenshot of a computer&#10;&#10;Description automatically generated">
            <a:extLst>
              <a:ext uri="{FF2B5EF4-FFF2-40B4-BE49-F238E27FC236}">
                <a16:creationId xmlns:a16="http://schemas.microsoft.com/office/drawing/2014/main" id="{E78CD68F-169A-D0C7-BC85-5F8E1091F304}"/>
              </a:ext>
            </a:extLst>
          </p:cNvPr>
          <p:cNvPicPr>
            <a:picLocks noGrp="1" noChangeAspect="1"/>
          </p:cNvPicPr>
          <p:nvPr>
            <p:ph idx="1"/>
          </p:nvPr>
        </p:nvPicPr>
        <p:blipFill>
          <a:blip r:embed="rId2"/>
          <a:stretch>
            <a:fillRect/>
          </a:stretch>
        </p:blipFill>
        <p:spPr>
          <a:xfrm>
            <a:off x="2167554" y="1738987"/>
            <a:ext cx="7856891" cy="4351338"/>
          </a:xfrm>
        </p:spPr>
      </p:pic>
      <p:sp>
        <p:nvSpPr>
          <p:cNvPr id="4" name="Rectangle 3">
            <a:extLst>
              <a:ext uri="{FF2B5EF4-FFF2-40B4-BE49-F238E27FC236}">
                <a16:creationId xmlns:a16="http://schemas.microsoft.com/office/drawing/2014/main" id="{328E3E2F-A743-F8D0-449F-B3C58776841F}"/>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F3F2A0A2-C77A-3198-A293-332D71A5B1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48CD2375-EA24-57FD-DA54-204B15FD9E5F}"/>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932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C2774-8F70-94CD-65E4-113748E1D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42B41-0B1C-9A15-728B-708A849693F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C7B5679-4977-5AD2-90AE-39C1DD92224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63C2B085-A068-ABCB-0038-B63078456FEF}"/>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5E0CE78C-7CEE-42A6-E241-ACEB6E7689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A86660A9-9698-FD79-33B5-191C985C3DCA}"/>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Linus Torvalds Returns to Linux After Time Off for Being a Jerk | PCMag">
            <a:extLst>
              <a:ext uri="{FF2B5EF4-FFF2-40B4-BE49-F238E27FC236}">
                <a16:creationId xmlns:a16="http://schemas.microsoft.com/office/drawing/2014/main" id="{409F4A29-25A0-0B2E-D1C6-A050C92C3E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181" y="1180859"/>
            <a:ext cx="7823638" cy="4404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480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26AC5-55F2-ED76-81E7-1704F734FE9E}"/>
            </a:ext>
          </a:extLst>
        </p:cNvPr>
        <p:cNvGrpSpPr/>
        <p:nvPr/>
      </p:nvGrpSpPr>
      <p:grpSpPr>
        <a:xfrm>
          <a:off x="0" y="0"/>
          <a:ext cx="0" cy="0"/>
          <a:chOff x="0" y="0"/>
          <a:chExt cx="0" cy="0"/>
        </a:xfrm>
      </p:grpSpPr>
      <p:pic>
        <p:nvPicPr>
          <p:cNvPr id="8" name="Content Placeholder 7" descr="A person in a suit pointing his finger&#10;&#10;Description automatically generated">
            <a:extLst>
              <a:ext uri="{FF2B5EF4-FFF2-40B4-BE49-F238E27FC236}">
                <a16:creationId xmlns:a16="http://schemas.microsoft.com/office/drawing/2014/main" id="{9466E94F-DDA5-A3C8-559B-27120D52B169}"/>
              </a:ext>
            </a:extLst>
          </p:cNvPr>
          <p:cNvPicPr>
            <a:picLocks noGrp="1" noChangeAspect="1"/>
          </p:cNvPicPr>
          <p:nvPr>
            <p:ph idx="1"/>
          </p:nvPr>
        </p:nvPicPr>
        <p:blipFill>
          <a:blip r:embed="rId2"/>
          <a:stretch>
            <a:fillRect/>
          </a:stretch>
        </p:blipFill>
        <p:spPr>
          <a:xfrm>
            <a:off x="326123" y="773930"/>
            <a:ext cx="6829061" cy="5319479"/>
          </a:xfrm>
        </p:spPr>
      </p:pic>
      <p:sp>
        <p:nvSpPr>
          <p:cNvPr id="4" name="Rectangle 3">
            <a:extLst>
              <a:ext uri="{FF2B5EF4-FFF2-40B4-BE49-F238E27FC236}">
                <a16:creationId xmlns:a16="http://schemas.microsoft.com/office/drawing/2014/main" id="{0743721B-07C0-9822-4D05-12924C57A5ED}"/>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8FD703B4-D2D0-321E-08D2-DC024C10F7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DE9913A8-B733-4D87-6021-5E0367AB212E}"/>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ack screen with white text&#10;&#10;Description automatically generated">
            <a:extLst>
              <a:ext uri="{FF2B5EF4-FFF2-40B4-BE49-F238E27FC236}">
                <a16:creationId xmlns:a16="http://schemas.microsoft.com/office/drawing/2014/main" id="{BBBF0A5C-08DF-CC66-5A7A-7F0ECD7CD50F}"/>
              </a:ext>
            </a:extLst>
          </p:cNvPr>
          <p:cNvPicPr>
            <a:picLocks noChangeAspect="1"/>
          </p:cNvPicPr>
          <p:nvPr/>
        </p:nvPicPr>
        <p:blipFill>
          <a:blip r:embed="rId5"/>
          <a:srcRect t="-1464" r="28815" b="1464"/>
          <a:stretch/>
        </p:blipFill>
        <p:spPr>
          <a:xfrm>
            <a:off x="7526283" y="1814618"/>
            <a:ext cx="4466021" cy="3136900"/>
          </a:xfrm>
          <a:prstGeom prst="rect">
            <a:avLst/>
          </a:prstGeom>
        </p:spPr>
      </p:pic>
    </p:spTree>
    <p:extLst>
      <p:ext uri="{BB962C8B-B14F-4D97-AF65-F5344CB8AC3E}">
        <p14:creationId xmlns:p14="http://schemas.microsoft.com/office/powerpoint/2010/main" val="200092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930A-E584-CF0D-6890-6ACDE1315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5639C-EBEF-6923-C8BB-C784B8170186}"/>
              </a:ext>
            </a:extLst>
          </p:cNvPr>
          <p:cNvSpPr>
            <a:spLocks noGrp="1"/>
          </p:cNvSpPr>
          <p:nvPr>
            <p:ph type="title"/>
          </p:nvPr>
        </p:nvSpPr>
        <p:spPr>
          <a:xfrm>
            <a:off x="838200" y="757866"/>
            <a:ext cx="10515600" cy="1325563"/>
          </a:xfrm>
        </p:spPr>
        <p:txBody>
          <a:bodyPr/>
          <a:lstStyle/>
          <a:p>
            <a:r>
              <a:rPr lang="en-US" dirty="0"/>
              <a:t>Top 5 things that git can do </a:t>
            </a:r>
          </a:p>
        </p:txBody>
      </p:sp>
      <p:sp>
        <p:nvSpPr>
          <p:cNvPr id="3" name="Content Placeholder 2">
            <a:extLst>
              <a:ext uri="{FF2B5EF4-FFF2-40B4-BE49-F238E27FC236}">
                <a16:creationId xmlns:a16="http://schemas.microsoft.com/office/drawing/2014/main" id="{72291323-AE25-0074-14E5-44F53E8B4926}"/>
              </a:ext>
            </a:extLst>
          </p:cNvPr>
          <p:cNvSpPr>
            <a:spLocks noGrp="1"/>
          </p:cNvSpPr>
          <p:nvPr>
            <p:ph idx="1"/>
          </p:nvPr>
        </p:nvSpPr>
        <p:spPr>
          <a:xfrm>
            <a:off x="838200" y="2081137"/>
            <a:ext cx="10515600" cy="4351338"/>
          </a:xfrm>
        </p:spPr>
        <p:txBody>
          <a:bodyPr/>
          <a:lstStyle/>
          <a:p>
            <a:pPr marL="0" indent="0">
              <a:buNone/>
            </a:pPr>
            <a:r>
              <a:rPr lang="en-US" dirty="0"/>
              <a:t>…and some basic lingo</a:t>
            </a:r>
          </a:p>
        </p:txBody>
      </p:sp>
      <p:sp>
        <p:nvSpPr>
          <p:cNvPr id="4" name="Rectangle 3">
            <a:extLst>
              <a:ext uri="{FF2B5EF4-FFF2-40B4-BE49-F238E27FC236}">
                <a16:creationId xmlns:a16="http://schemas.microsoft.com/office/drawing/2014/main" id="{026F5664-172B-CFD5-B7DB-14FB4A822C78}"/>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1F033006-4585-2E90-4117-F20A1860EB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E388A571-947B-5A2A-A8C8-7E2F4F855A52}"/>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A66B417-3DA3-3277-D01C-888F366283A5}"/>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4"/>
              </a:rPr>
              <a:t>https://youtu.be/eWxxfttcMts</a:t>
            </a:r>
            <a:r>
              <a:rPr lang="en-US" sz="1100" dirty="0"/>
              <a:t> </a:t>
            </a:r>
          </a:p>
        </p:txBody>
      </p:sp>
    </p:spTree>
    <p:extLst>
      <p:ext uri="{BB962C8B-B14F-4D97-AF65-F5344CB8AC3E}">
        <p14:creationId xmlns:p14="http://schemas.microsoft.com/office/powerpoint/2010/main" val="1749907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542BB-B441-408E-EB42-158E8BB82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73ABD-F8FD-2020-8A6B-1DA6648E0434}"/>
              </a:ext>
            </a:extLst>
          </p:cNvPr>
          <p:cNvSpPr>
            <a:spLocks noGrp="1"/>
          </p:cNvSpPr>
          <p:nvPr>
            <p:ph type="title"/>
          </p:nvPr>
        </p:nvSpPr>
        <p:spPr>
          <a:xfrm>
            <a:off x="838200" y="572827"/>
            <a:ext cx="10515600" cy="1325563"/>
          </a:xfrm>
        </p:spPr>
        <p:txBody>
          <a:bodyPr/>
          <a:lstStyle/>
          <a:p>
            <a:r>
              <a:rPr lang="en-US" dirty="0"/>
              <a:t>Thing #1: Git let’s you tell the story of your project</a:t>
            </a:r>
          </a:p>
        </p:txBody>
      </p:sp>
      <p:sp>
        <p:nvSpPr>
          <p:cNvPr id="3" name="Content Placeholder 2">
            <a:extLst>
              <a:ext uri="{FF2B5EF4-FFF2-40B4-BE49-F238E27FC236}">
                <a16:creationId xmlns:a16="http://schemas.microsoft.com/office/drawing/2014/main" id="{BC7C66F3-EE23-593D-96EE-E16DAA35E2C7}"/>
              </a:ext>
            </a:extLst>
          </p:cNvPr>
          <p:cNvSpPr>
            <a:spLocks noGrp="1"/>
          </p:cNvSpPr>
          <p:nvPr>
            <p:ph idx="1"/>
          </p:nvPr>
        </p:nvSpPr>
        <p:spPr>
          <a:xfrm>
            <a:off x="838200" y="1854343"/>
            <a:ext cx="10515600" cy="3208554"/>
          </a:xfrm>
        </p:spPr>
        <p:txBody>
          <a:bodyPr/>
          <a:lstStyle/>
          <a:p>
            <a:r>
              <a:rPr lang="en-US" dirty="0"/>
              <a:t>You use Git to take snapshots of all the files in a </a:t>
            </a:r>
            <a:r>
              <a:rPr lang="en-US" dirty="0">
                <a:solidFill>
                  <a:srgbClr val="C00000"/>
                </a:solidFill>
              </a:rPr>
              <a:t>folder</a:t>
            </a:r>
            <a:r>
              <a:rPr lang="en-US" dirty="0"/>
              <a:t> </a:t>
            </a:r>
          </a:p>
          <a:p>
            <a:pPr lvl="1"/>
            <a:r>
              <a:rPr lang="en-US" dirty="0"/>
              <a:t>This folder is called a </a:t>
            </a:r>
            <a:r>
              <a:rPr lang="en-US" dirty="0">
                <a:solidFill>
                  <a:srgbClr val="C00000"/>
                </a:solidFill>
              </a:rPr>
              <a:t>repository</a:t>
            </a:r>
            <a:r>
              <a:rPr lang="en-US" dirty="0"/>
              <a:t> </a:t>
            </a:r>
            <a:r>
              <a:rPr lang="en-US" dirty="0">
                <a:sym typeface="Wingdings" pitchFamily="2" charset="2"/>
              </a:rPr>
              <a:t></a:t>
            </a:r>
            <a:r>
              <a:rPr lang="en-US" dirty="0"/>
              <a:t> </a:t>
            </a:r>
            <a:r>
              <a:rPr lang="en-US" dirty="0">
                <a:solidFill>
                  <a:srgbClr val="C00000"/>
                </a:solidFill>
              </a:rPr>
              <a:t>repo</a:t>
            </a:r>
          </a:p>
          <a:p>
            <a:r>
              <a:rPr lang="en-US" dirty="0"/>
              <a:t>When you take a snapshot of a file or files, you create a </a:t>
            </a:r>
            <a:r>
              <a:rPr lang="en-US" dirty="0">
                <a:solidFill>
                  <a:srgbClr val="C00000"/>
                </a:solidFill>
              </a:rPr>
              <a:t>commit</a:t>
            </a:r>
          </a:p>
          <a:p>
            <a:pPr lvl="1"/>
            <a:r>
              <a:rPr lang="en-US" dirty="0"/>
              <a:t>When you make a commit, information is saved along with the changes to the file</a:t>
            </a:r>
          </a:p>
        </p:txBody>
      </p:sp>
      <p:sp>
        <p:nvSpPr>
          <p:cNvPr id="4" name="Rectangle 3">
            <a:extLst>
              <a:ext uri="{FF2B5EF4-FFF2-40B4-BE49-F238E27FC236}">
                <a16:creationId xmlns:a16="http://schemas.microsoft.com/office/drawing/2014/main" id="{362BE9EB-C04D-C797-16D4-5CB6CD69DD12}"/>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C3E18F65-0910-51E0-E79C-38C14A4630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D2F5EAD7-B867-B9B2-DFE4-06E15E530691}"/>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screenshot of a computer program&#10;&#10;Description automatically generated">
            <a:extLst>
              <a:ext uri="{FF2B5EF4-FFF2-40B4-BE49-F238E27FC236}">
                <a16:creationId xmlns:a16="http://schemas.microsoft.com/office/drawing/2014/main" id="{63E46C7C-A5A4-B9C0-9273-1565DF8941C1}"/>
              </a:ext>
            </a:extLst>
          </p:cNvPr>
          <p:cNvPicPr>
            <a:picLocks noChangeAspect="1"/>
          </p:cNvPicPr>
          <p:nvPr/>
        </p:nvPicPr>
        <p:blipFill>
          <a:blip r:embed="rId4"/>
          <a:srcRect t="-7145" b="7145"/>
          <a:stretch/>
        </p:blipFill>
        <p:spPr>
          <a:xfrm>
            <a:off x="3324415" y="3547286"/>
            <a:ext cx="5543169" cy="2824649"/>
          </a:xfrm>
          <a:prstGeom prst="rect">
            <a:avLst/>
          </a:prstGeom>
        </p:spPr>
      </p:pic>
      <p:sp>
        <p:nvSpPr>
          <p:cNvPr id="11" name="TextBox 10">
            <a:extLst>
              <a:ext uri="{FF2B5EF4-FFF2-40B4-BE49-F238E27FC236}">
                <a16:creationId xmlns:a16="http://schemas.microsoft.com/office/drawing/2014/main" id="{E0DD31EF-4686-8D42-D819-22D3752819AE}"/>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5"/>
              </a:rPr>
              <a:t>https://youtu.be/eWxxfttcMts</a:t>
            </a:r>
            <a:r>
              <a:rPr lang="en-US" sz="1100" dirty="0"/>
              <a:t> </a:t>
            </a:r>
          </a:p>
        </p:txBody>
      </p:sp>
    </p:spTree>
    <p:extLst>
      <p:ext uri="{BB962C8B-B14F-4D97-AF65-F5344CB8AC3E}">
        <p14:creationId xmlns:p14="http://schemas.microsoft.com/office/powerpoint/2010/main" val="1504509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19BE5-7002-762F-DC73-2BB28E5C4C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5E003B-BC92-6943-D943-D2E474FA9D54}"/>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576E0EBC-5EEB-CA0E-6198-A5E8C74211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B0183461-7EFF-7F8F-6BCA-9EFA3D343A55}"/>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diagram of a diagram&#10;&#10;Description automatically generated">
            <a:extLst>
              <a:ext uri="{FF2B5EF4-FFF2-40B4-BE49-F238E27FC236}">
                <a16:creationId xmlns:a16="http://schemas.microsoft.com/office/drawing/2014/main" id="{80589C77-51F7-F4E9-9538-13DD22B00CB4}"/>
              </a:ext>
            </a:extLst>
          </p:cNvPr>
          <p:cNvPicPr>
            <a:picLocks noChangeAspect="1"/>
          </p:cNvPicPr>
          <p:nvPr/>
        </p:nvPicPr>
        <p:blipFill>
          <a:blip r:embed="rId4"/>
          <a:srcRect l="1947"/>
          <a:stretch/>
        </p:blipFill>
        <p:spPr>
          <a:xfrm>
            <a:off x="1774535" y="1558834"/>
            <a:ext cx="8642929" cy="4531491"/>
          </a:xfrm>
          <a:prstGeom prst="rect">
            <a:avLst/>
          </a:prstGeom>
        </p:spPr>
      </p:pic>
      <p:sp>
        <p:nvSpPr>
          <p:cNvPr id="16" name="Content Placeholder 2">
            <a:extLst>
              <a:ext uri="{FF2B5EF4-FFF2-40B4-BE49-F238E27FC236}">
                <a16:creationId xmlns:a16="http://schemas.microsoft.com/office/drawing/2014/main" id="{CEE28471-645E-05BC-9110-29B7910A24A4}"/>
              </a:ext>
            </a:extLst>
          </p:cNvPr>
          <p:cNvSpPr>
            <a:spLocks noGrp="1"/>
          </p:cNvSpPr>
          <p:nvPr>
            <p:ph idx="1"/>
          </p:nvPr>
        </p:nvSpPr>
        <p:spPr>
          <a:xfrm>
            <a:off x="838199" y="939943"/>
            <a:ext cx="10515600" cy="3208554"/>
          </a:xfrm>
        </p:spPr>
        <p:txBody>
          <a:bodyPr/>
          <a:lstStyle/>
          <a:p>
            <a:r>
              <a:rPr lang="en-US" dirty="0"/>
              <a:t>You can add a </a:t>
            </a:r>
            <a:r>
              <a:rPr lang="en-US" dirty="0">
                <a:solidFill>
                  <a:srgbClr val="C00000"/>
                </a:solidFill>
              </a:rPr>
              <a:t>commit message</a:t>
            </a:r>
          </a:p>
        </p:txBody>
      </p:sp>
    </p:spTree>
    <p:extLst>
      <p:ext uri="{BB962C8B-B14F-4D97-AF65-F5344CB8AC3E}">
        <p14:creationId xmlns:p14="http://schemas.microsoft.com/office/powerpoint/2010/main" val="4105932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F911F-8E67-F10B-7E29-5968627A5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A0F10-58E7-B040-2183-06F0E7EB7B6F}"/>
              </a:ext>
            </a:extLst>
          </p:cNvPr>
          <p:cNvSpPr>
            <a:spLocks noGrp="1"/>
          </p:cNvSpPr>
          <p:nvPr>
            <p:ph type="title"/>
          </p:nvPr>
        </p:nvSpPr>
        <p:spPr>
          <a:xfrm>
            <a:off x="838200" y="572827"/>
            <a:ext cx="10515600" cy="1325563"/>
          </a:xfrm>
        </p:spPr>
        <p:txBody>
          <a:bodyPr/>
          <a:lstStyle/>
          <a:p>
            <a:r>
              <a:rPr lang="en-US" dirty="0"/>
              <a:t>Thing #2: Git let’s you time travel</a:t>
            </a:r>
          </a:p>
        </p:txBody>
      </p:sp>
      <p:sp>
        <p:nvSpPr>
          <p:cNvPr id="3" name="Content Placeholder 2">
            <a:extLst>
              <a:ext uri="{FF2B5EF4-FFF2-40B4-BE49-F238E27FC236}">
                <a16:creationId xmlns:a16="http://schemas.microsoft.com/office/drawing/2014/main" id="{BDD80D8F-3A7C-4894-0B1F-A502B1A2E88D}"/>
              </a:ext>
            </a:extLst>
          </p:cNvPr>
          <p:cNvSpPr>
            <a:spLocks noGrp="1"/>
          </p:cNvSpPr>
          <p:nvPr>
            <p:ph idx="1"/>
          </p:nvPr>
        </p:nvSpPr>
        <p:spPr>
          <a:xfrm>
            <a:off x="838200" y="1854343"/>
            <a:ext cx="10515600" cy="3208554"/>
          </a:xfrm>
        </p:spPr>
        <p:txBody>
          <a:bodyPr/>
          <a:lstStyle/>
          <a:p>
            <a:r>
              <a:rPr lang="en-US" dirty="0"/>
              <a:t>Once you’ve saves snapshots, Git lets you move through them. </a:t>
            </a:r>
          </a:p>
          <a:p>
            <a:pPr lvl="1"/>
            <a:r>
              <a:rPr lang="en-US" dirty="0"/>
              <a:t>Each commit has as computer-generated ID </a:t>
            </a:r>
            <a:r>
              <a:rPr lang="en-US" dirty="0">
                <a:sym typeface="Wingdings" pitchFamily="2" charset="2"/>
              </a:rPr>
              <a:t> </a:t>
            </a:r>
            <a:r>
              <a:rPr lang="en-US" dirty="0">
                <a:solidFill>
                  <a:srgbClr val="C00000"/>
                </a:solidFill>
                <a:sym typeface="Wingdings" pitchFamily="2" charset="2"/>
              </a:rPr>
              <a:t>hash</a:t>
            </a:r>
            <a:endParaRPr lang="en-US" dirty="0">
              <a:solidFill>
                <a:srgbClr val="C00000"/>
              </a:solidFill>
            </a:endParaRPr>
          </a:p>
        </p:txBody>
      </p:sp>
      <p:sp>
        <p:nvSpPr>
          <p:cNvPr id="4" name="Rectangle 3">
            <a:extLst>
              <a:ext uri="{FF2B5EF4-FFF2-40B4-BE49-F238E27FC236}">
                <a16:creationId xmlns:a16="http://schemas.microsoft.com/office/drawing/2014/main" id="{FA9D0967-0B2C-D8ED-F145-48E9A8488031}"/>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0BA61C6B-DAB5-9684-8EB0-EF7DDABC72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3480AB65-C268-D5DA-E92D-CC5C6C22C7B4}"/>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2C09E9D-2D1A-29D2-9F9D-AC377E898F1A}"/>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4"/>
              </a:rPr>
              <a:t>https://youtu.be/eWxxfttcMts</a:t>
            </a:r>
            <a:r>
              <a:rPr lang="en-US" sz="1100" dirty="0"/>
              <a:t> </a:t>
            </a:r>
          </a:p>
        </p:txBody>
      </p:sp>
      <p:pic>
        <p:nvPicPr>
          <p:cNvPr id="8" name="Picture 7" descr="A diagram of a timeline&#10;&#10;Description automatically generated">
            <a:extLst>
              <a:ext uri="{FF2B5EF4-FFF2-40B4-BE49-F238E27FC236}">
                <a16:creationId xmlns:a16="http://schemas.microsoft.com/office/drawing/2014/main" id="{8E2EEB20-3653-F1DC-6928-7CE009A7A20E}"/>
              </a:ext>
            </a:extLst>
          </p:cNvPr>
          <p:cNvPicPr>
            <a:picLocks noChangeAspect="1"/>
          </p:cNvPicPr>
          <p:nvPr/>
        </p:nvPicPr>
        <p:blipFill>
          <a:blip r:embed="rId5"/>
          <a:srcRect t="38103" r="21839"/>
          <a:stretch/>
        </p:blipFill>
        <p:spPr>
          <a:xfrm>
            <a:off x="403209" y="3179906"/>
            <a:ext cx="5429503" cy="2368173"/>
          </a:xfrm>
          <a:prstGeom prst="rect">
            <a:avLst/>
          </a:prstGeom>
        </p:spPr>
      </p:pic>
      <p:pic>
        <p:nvPicPr>
          <p:cNvPr id="12" name="Picture 11" descr="A graph of numbers and arrows&#10;&#10;Description automatically generated">
            <a:extLst>
              <a:ext uri="{FF2B5EF4-FFF2-40B4-BE49-F238E27FC236}">
                <a16:creationId xmlns:a16="http://schemas.microsoft.com/office/drawing/2014/main" id="{72D6F5C3-3BF4-8931-62B9-8169235DD71D}"/>
              </a:ext>
            </a:extLst>
          </p:cNvPr>
          <p:cNvPicPr>
            <a:picLocks noChangeAspect="1"/>
          </p:cNvPicPr>
          <p:nvPr/>
        </p:nvPicPr>
        <p:blipFill>
          <a:blip r:embed="rId6"/>
          <a:srcRect t="40226" r="20520"/>
          <a:stretch/>
        </p:blipFill>
        <p:spPr>
          <a:xfrm>
            <a:off x="6359290" y="3150285"/>
            <a:ext cx="5521088" cy="2368173"/>
          </a:xfrm>
          <a:prstGeom prst="rect">
            <a:avLst/>
          </a:prstGeom>
        </p:spPr>
      </p:pic>
    </p:spTree>
    <p:extLst>
      <p:ext uri="{BB962C8B-B14F-4D97-AF65-F5344CB8AC3E}">
        <p14:creationId xmlns:p14="http://schemas.microsoft.com/office/powerpoint/2010/main" val="3180619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FAAD-D8AD-A60E-8114-A2A1C2E61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6B576-7E03-F9A3-BD86-C56FAA3A206C}"/>
              </a:ext>
            </a:extLst>
          </p:cNvPr>
          <p:cNvSpPr>
            <a:spLocks noGrp="1"/>
          </p:cNvSpPr>
          <p:nvPr>
            <p:ph type="title"/>
          </p:nvPr>
        </p:nvSpPr>
        <p:spPr>
          <a:xfrm>
            <a:off x="838200" y="572827"/>
            <a:ext cx="10515600" cy="1325563"/>
          </a:xfrm>
        </p:spPr>
        <p:txBody>
          <a:bodyPr/>
          <a:lstStyle/>
          <a:p>
            <a:r>
              <a:rPr lang="en-US" dirty="0"/>
              <a:t>Thing #3: Git let’s you experiment</a:t>
            </a:r>
          </a:p>
        </p:txBody>
      </p:sp>
      <p:sp>
        <p:nvSpPr>
          <p:cNvPr id="3" name="Content Placeholder 2">
            <a:extLst>
              <a:ext uri="{FF2B5EF4-FFF2-40B4-BE49-F238E27FC236}">
                <a16:creationId xmlns:a16="http://schemas.microsoft.com/office/drawing/2014/main" id="{65212402-49B8-5784-7937-0AACF143531F}"/>
              </a:ext>
            </a:extLst>
          </p:cNvPr>
          <p:cNvSpPr>
            <a:spLocks noGrp="1"/>
          </p:cNvSpPr>
          <p:nvPr>
            <p:ph idx="1"/>
          </p:nvPr>
        </p:nvSpPr>
        <p:spPr>
          <a:xfrm>
            <a:off x="838200" y="1854343"/>
            <a:ext cx="10515600" cy="3208554"/>
          </a:xfrm>
        </p:spPr>
        <p:txBody>
          <a:bodyPr/>
          <a:lstStyle/>
          <a:p>
            <a:r>
              <a:rPr lang="en-US" dirty="0"/>
              <a:t>You do this with </a:t>
            </a:r>
            <a:r>
              <a:rPr lang="en-US" dirty="0">
                <a:solidFill>
                  <a:srgbClr val="C00000"/>
                </a:solidFill>
              </a:rPr>
              <a:t>branches</a:t>
            </a:r>
            <a:r>
              <a:rPr lang="en-US" dirty="0"/>
              <a:t>. </a:t>
            </a:r>
          </a:p>
          <a:p>
            <a:pPr lvl="1"/>
            <a:r>
              <a:rPr lang="en-US" dirty="0"/>
              <a:t>A </a:t>
            </a:r>
            <a:r>
              <a:rPr lang="en-US" dirty="0">
                <a:solidFill>
                  <a:srgbClr val="C00000"/>
                </a:solidFill>
              </a:rPr>
              <a:t>branch</a:t>
            </a:r>
            <a:r>
              <a:rPr lang="en-US" dirty="0"/>
              <a:t> is a moveable label attached to a </a:t>
            </a:r>
            <a:r>
              <a:rPr lang="en-US" dirty="0">
                <a:solidFill>
                  <a:srgbClr val="C00000"/>
                </a:solidFill>
              </a:rPr>
              <a:t>commit</a:t>
            </a:r>
            <a:r>
              <a:rPr lang="en-US" dirty="0"/>
              <a:t>. </a:t>
            </a:r>
            <a:endParaRPr lang="en-US" dirty="0">
              <a:solidFill>
                <a:srgbClr val="C00000"/>
              </a:solidFill>
            </a:endParaRPr>
          </a:p>
        </p:txBody>
      </p:sp>
      <p:sp>
        <p:nvSpPr>
          <p:cNvPr id="4" name="Rectangle 3">
            <a:extLst>
              <a:ext uri="{FF2B5EF4-FFF2-40B4-BE49-F238E27FC236}">
                <a16:creationId xmlns:a16="http://schemas.microsoft.com/office/drawing/2014/main" id="{30A7BC63-23F6-8D35-EC08-02B420C1B82F}"/>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E132DDF2-340E-49FD-9A84-CC0729EFAC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54848097-B4C3-1C09-F5E8-7B559774C1C0}"/>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1C2E5A2E-0B5A-9E36-DFB8-0EFB9F882204}"/>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4"/>
              </a:rPr>
              <a:t>https://youtu.be/eWxxfttcMts</a:t>
            </a:r>
            <a:r>
              <a:rPr lang="en-US" sz="1100" dirty="0"/>
              <a:t> </a:t>
            </a:r>
          </a:p>
        </p:txBody>
      </p:sp>
      <p:pic>
        <p:nvPicPr>
          <p:cNvPr id="9" name="Picture 8" descr="A diagram of two people&#10;&#10;Description automatically generated">
            <a:extLst>
              <a:ext uri="{FF2B5EF4-FFF2-40B4-BE49-F238E27FC236}">
                <a16:creationId xmlns:a16="http://schemas.microsoft.com/office/drawing/2014/main" id="{84E5B2CB-4D7C-7AFC-8361-15EE677D0C92}"/>
              </a:ext>
            </a:extLst>
          </p:cNvPr>
          <p:cNvPicPr>
            <a:picLocks noChangeAspect="1"/>
          </p:cNvPicPr>
          <p:nvPr/>
        </p:nvPicPr>
        <p:blipFill>
          <a:blip r:embed="rId5"/>
          <a:stretch>
            <a:fillRect/>
          </a:stretch>
        </p:blipFill>
        <p:spPr>
          <a:xfrm>
            <a:off x="423918" y="3557483"/>
            <a:ext cx="5137424" cy="1717128"/>
          </a:xfrm>
          <a:prstGeom prst="rect">
            <a:avLst/>
          </a:prstGeom>
        </p:spPr>
      </p:pic>
      <p:pic>
        <p:nvPicPr>
          <p:cNvPr id="13" name="Picture 12" descr="A diagram of a diagram&#10;&#10;Description automatically generated">
            <a:extLst>
              <a:ext uri="{FF2B5EF4-FFF2-40B4-BE49-F238E27FC236}">
                <a16:creationId xmlns:a16="http://schemas.microsoft.com/office/drawing/2014/main" id="{71CDCB93-1667-457C-9449-EF8B3FFE1A81}"/>
              </a:ext>
            </a:extLst>
          </p:cNvPr>
          <p:cNvPicPr>
            <a:picLocks noChangeAspect="1"/>
          </p:cNvPicPr>
          <p:nvPr/>
        </p:nvPicPr>
        <p:blipFill>
          <a:blip r:embed="rId6"/>
          <a:stretch>
            <a:fillRect/>
          </a:stretch>
        </p:blipFill>
        <p:spPr>
          <a:xfrm>
            <a:off x="6464301" y="3120968"/>
            <a:ext cx="5035654" cy="2590158"/>
          </a:xfrm>
          <a:prstGeom prst="rect">
            <a:avLst/>
          </a:prstGeom>
        </p:spPr>
      </p:pic>
    </p:spTree>
    <p:extLst>
      <p:ext uri="{BB962C8B-B14F-4D97-AF65-F5344CB8AC3E}">
        <p14:creationId xmlns:p14="http://schemas.microsoft.com/office/powerpoint/2010/main" val="295644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2567-0DD8-6C37-6FB5-1674CA50D362}"/>
            </a:ext>
          </a:extLst>
        </p:cNvPr>
        <p:cNvGrpSpPr/>
        <p:nvPr/>
      </p:nvGrpSpPr>
      <p:grpSpPr>
        <a:xfrm>
          <a:off x="0" y="0"/>
          <a:ext cx="0" cy="0"/>
          <a:chOff x="0" y="0"/>
          <a:chExt cx="0" cy="0"/>
        </a:xfrm>
      </p:grpSpPr>
      <p:pic>
        <p:nvPicPr>
          <p:cNvPr id="8" name="Content Placeholder 7" descr="A diagram of a diagram&#10;&#10;Description automatically generated">
            <a:extLst>
              <a:ext uri="{FF2B5EF4-FFF2-40B4-BE49-F238E27FC236}">
                <a16:creationId xmlns:a16="http://schemas.microsoft.com/office/drawing/2014/main" id="{D4B619F5-AAB6-BE5A-B987-912732368F25}"/>
              </a:ext>
            </a:extLst>
          </p:cNvPr>
          <p:cNvPicPr>
            <a:picLocks noGrp="1" noChangeAspect="1"/>
          </p:cNvPicPr>
          <p:nvPr>
            <p:ph idx="1"/>
          </p:nvPr>
        </p:nvPicPr>
        <p:blipFill>
          <a:blip r:embed="rId2"/>
          <a:stretch>
            <a:fillRect/>
          </a:stretch>
        </p:blipFill>
        <p:spPr>
          <a:xfrm>
            <a:off x="5784939" y="2064207"/>
            <a:ext cx="6259915" cy="3218661"/>
          </a:xfrm>
        </p:spPr>
      </p:pic>
      <p:sp>
        <p:nvSpPr>
          <p:cNvPr id="4" name="Rectangle 3">
            <a:extLst>
              <a:ext uri="{FF2B5EF4-FFF2-40B4-BE49-F238E27FC236}">
                <a16:creationId xmlns:a16="http://schemas.microsoft.com/office/drawing/2014/main" id="{2A974A50-4A94-43FE-03E3-9C948E2D05B5}"/>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6D90CBFF-4035-FD54-2825-1CFFE682BD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BDDD6E79-7A1C-0248-0F62-1FAAF57F5A92}"/>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diagram of a line of dots&#10;&#10;Description automatically generated">
            <a:extLst>
              <a:ext uri="{FF2B5EF4-FFF2-40B4-BE49-F238E27FC236}">
                <a16:creationId xmlns:a16="http://schemas.microsoft.com/office/drawing/2014/main" id="{14D38C36-BFEE-0AB6-A917-DC806A2D97FB}"/>
              </a:ext>
            </a:extLst>
          </p:cNvPr>
          <p:cNvPicPr>
            <a:picLocks noChangeAspect="1"/>
          </p:cNvPicPr>
          <p:nvPr/>
        </p:nvPicPr>
        <p:blipFill>
          <a:blip r:embed="rId5"/>
          <a:stretch>
            <a:fillRect/>
          </a:stretch>
        </p:blipFill>
        <p:spPr>
          <a:xfrm>
            <a:off x="147146" y="2122328"/>
            <a:ext cx="5529330" cy="3040000"/>
          </a:xfrm>
          <a:prstGeom prst="rect">
            <a:avLst/>
          </a:prstGeom>
        </p:spPr>
      </p:pic>
      <p:sp>
        <p:nvSpPr>
          <p:cNvPr id="10" name="Content Placeholder 2">
            <a:extLst>
              <a:ext uri="{FF2B5EF4-FFF2-40B4-BE49-F238E27FC236}">
                <a16:creationId xmlns:a16="http://schemas.microsoft.com/office/drawing/2014/main" id="{228458B7-8056-2472-B4F5-85396508A875}"/>
              </a:ext>
            </a:extLst>
          </p:cNvPr>
          <p:cNvSpPr txBox="1">
            <a:spLocks/>
          </p:cNvSpPr>
          <p:nvPr/>
        </p:nvSpPr>
        <p:spPr>
          <a:xfrm>
            <a:off x="733097" y="1129009"/>
            <a:ext cx="10515600" cy="3208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get changes from one branch into another, you</a:t>
            </a:r>
            <a:r>
              <a:rPr lang="en-US" dirty="0">
                <a:solidFill>
                  <a:srgbClr val="C00000"/>
                </a:solidFill>
              </a:rPr>
              <a:t> merge </a:t>
            </a:r>
            <a:r>
              <a:rPr lang="en-US" dirty="0"/>
              <a:t>them</a:t>
            </a:r>
          </a:p>
        </p:txBody>
      </p:sp>
    </p:spTree>
    <p:extLst>
      <p:ext uri="{BB962C8B-B14F-4D97-AF65-F5344CB8AC3E}">
        <p14:creationId xmlns:p14="http://schemas.microsoft.com/office/powerpoint/2010/main" val="1908431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CBB37-3F13-89AA-D117-CB77B862E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04AA5-17B4-9592-4627-E512E542B8A6}"/>
              </a:ext>
            </a:extLst>
          </p:cNvPr>
          <p:cNvSpPr>
            <a:spLocks noGrp="1"/>
          </p:cNvSpPr>
          <p:nvPr>
            <p:ph type="title"/>
          </p:nvPr>
        </p:nvSpPr>
        <p:spPr>
          <a:xfrm>
            <a:off x="838200" y="572827"/>
            <a:ext cx="10515600" cy="1325563"/>
          </a:xfrm>
        </p:spPr>
        <p:txBody>
          <a:bodyPr/>
          <a:lstStyle/>
          <a:p>
            <a:r>
              <a:rPr lang="en-US" dirty="0"/>
              <a:t>Thing #4: Git let’s you back up your work</a:t>
            </a:r>
          </a:p>
        </p:txBody>
      </p:sp>
      <p:sp>
        <p:nvSpPr>
          <p:cNvPr id="3" name="Content Placeholder 2">
            <a:extLst>
              <a:ext uri="{FF2B5EF4-FFF2-40B4-BE49-F238E27FC236}">
                <a16:creationId xmlns:a16="http://schemas.microsoft.com/office/drawing/2014/main" id="{6858CEFC-B2CF-44E6-1497-A7317AB0AC55}"/>
              </a:ext>
            </a:extLst>
          </p:cNvPr>
          <p:cNvSpPr>
            <a:spLocks noGrp="1"/>
          </p:cNvSpPr>
          <p:nvPr>
            <p:ph idx="1"/>
          </p:nvPr>
        </p:nvSpPr>
        <p:spPr>
          <a:xfrm>
            <a:off x="838200" y="1854343"/>
            <a:ext cx="10515600" cy="3208554"/>
          </a:xfrm>
        </p:spPr>
        <p:txBody>
          <a:bodyPr/>
          <a:lstStyle/>
          <a:p>
            <a:r>
              <a:rPr lang="en-US" dirty="0"/>
              <a:t>In git the place where you store your </a:t>
            </a:r>
            <a:r>
              <a:rPr lang="en-US" dirty="0">
                <a:solidFill>
                  <a:srgbClr val="C00000"/>
                </a:solidFill>
              </a:rPr>
              <a:t>repo</a:t>
            </a:r>
            <a:r>
              <a:rPr lang="en-US" dirty="0"/>
              <a:t> is a called a </a:t>
            </a:r>
            <a:r>
              <a:rPr lang="en-US" dirty="0">
                <a:solidFill>
                  <a:srgbClr val="C00000"/>
                </a:solidFill>
              </a:rPr>
              <a:t>remote</a:t>
            </a:r>
          </a:p>
        </p:txBody>
      </p:sp>
      <p:sp>
        <p:nvSpPr>
          <p:cNvPr id="4" name="Rectangle 3">
            <a:extLst>
              <a:ext uri="{FF2B5EF4-FFF2-40B4-BE49-F238E27FC236}">
                <a16:creationId xmlns:a16="http://schemas.microsoft.com/office/drawing/2014/main" id="{1C1D2B7A-A713-BEC6-27E2-CCEB13B40AC7}"/>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CA52425F-27CF-7AF2-422B-E2B46B1558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CF988900-6752-0936-EB5F-FE0E63585C24}"/>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13390119-C04F-E5B8-7CD1-7B1792BF13A3}"/>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4"/>
              </a:rPr>
              <a:t>https://youtu.be/eWxxfttcMts</a:t>
            </a:r>
            <a:r>
              <a:rPr lang="en-US" sz="1100" dirty="0"/>
              <a:t> </a:t>
            </a:r>
          </a:p>
        </p:txBody>
      </p:sp>
      <p:pic>
        <p:nvPicPr>
          <p:cNvPr id="17" name="Picture 16" descr="A logo with a cat in the middle&#10;&#10;Description automatically generated">
            <a:extLst>
              <a:ext uri="{FF2B5EF4-FFF2-40B4-BE49-F238E27FC236}">
                <a16:creationId xmlns:a16="http://schemas.microsoft.com/office/drawing/2014/main" id="{A8A31B58-32C8-5715-A6CD-CE6F9FB6E251}"/>
              </a:ext>
            </a:extLst>
          </p:cNvPr>
          <p:cNvPicPr>
            <a:picLocks noChangeAspect="1"/>
          </p:cNvPicPr>
          <p:nvPr/>
        </p:nvPicPr>
        <p:blipFill>
          <a:blip r:embed="rId5"/>
          <a:stretch>
            <a:fillRect/>
          </a:stretch>
        </p:blipFill>
        <p:spPr>
          <a:xfrm>
            <a:off x="1642679" y="3480490"/>
            <a:ext cx="3538922" cy="1257678"/>
          </a:xfrm>
          <a:prstGeom prst="rect">
            <a:avLst/>
          </a:prstGeom>
        </p:spPr>
      </p:pic>
      <p:pic>
        <p:nvPicPr>
          <p:cNvPr id="18" name="Picture 17" descr="A diagram of a web page&#10;&#10;Description automatically generated">
            <a:extLst>
              <a:ext uri="{FF2B5EF4-FFF2-40B4-BE49-F238E27FC236}">
                <a16:creationId xmlns:a16="http://schemas.microsoft.com/office/drawing/2014/main" id="{6887AFED-F72D-B166-C1F3-93E6B79A721A}"/>
              </a:ext>
            </a:extLst>
          </p:cNvPr>
          <p:cNvPicPr>
            <a:picLocks noChangeAspect="1"/>
          </p:cNvPicPr>
          <p:nvPr/>
        </p:nvPicPr>
        <p:blipFill>
          <a:blip r:embed="rId6"/>
          <a:srcRect t="5960" b="3350"/>
          <a:stretch/>
        </p:blipFill>
        <p:spPr>
          <a:xfrm>
            <a:off x="5802329" y="2475121"/>
            <a:ext cx="4463312" cy="3616444"/>
          </a:xfrm>
          <a:prstGeom prst="rect">
            <a:avLst/>
          </a:prstGeom>
        </p:spPr>
      </p:pic>
    </p:spTree>
    <p:extLst>
      <p:ext uri="{BB962C8B-B14F-4D97-AF65-F5344CB8AC3E}">
        <p14:creationId xmlns:p14="http://schemas.microsoft.com/office/powerpoint/2010/main" val="3675825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2ED31-C880-FC7B-00A9-4D60FDE2983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47C96F-8C75-667F-ADCA-9972529ACDE9}"/>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F9D5C0CA-8680-DCD6-05E1-49B51C45F1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034E3343-CC94-2913-8AB8-2027D3B2C183}"/>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ontent Placeholder 2">
            <a:extLst>
              <a:ext uri="{FF2B5EF4-FFF2-40B4-BE49-F238E27FC236}">
                <a16:creationId xmlns:a16="http://schemas.microsoft.com/office/drawing/2014/main" id="{01BBB1E5-301D-0F9C-7F0E-13B157FF249E}"/>
              </a:ext>
            </a:extLst>
          </p:cNvPr>
          <p:cNvSpPr>
            <a:spLocks noGrp="1"/>
          </p:cNvSpPr>
          <p:nvPr>
            <p:ph idx="1"/>
          </p:nvPr>
        </p:nvSpPr>
        <p:spPr>
          <a:xfrm>
            <a:off x="911772" y="773930"/>
            <a:ext cx="10515600" cy="4351338"/>
          </a:xfrm>
        </p:spPr>
        <p:txBody>
          <a:bodyPr/>
          <a:lstStyle/>
          <a:p>
            <a:r>
              <a:rPr lang="en-US" dirty="0"/>
              <a:t>To get some work from a </a:t>
            </a:r>
            <a:r>
              <a:rPr lang="en-US" dirty="0">
                <a:solidFill>
                  <a:srgbClr val="C00000"/>
                </a:solidFill>
              </a:rPr>
              <a:t>remote</a:t>
            </a:r>
            <a:r>
              <a:rPr lang="en-US" dirty="0"/>
              <a:t> for the first time you </a:t>
            </a:r>
            <a:r>
              <a:rPr lang="en-US" dirty="0">
                <a:solidFill>
                  <a:srgbClr val="C00000"/>
                </a:solidFill>
              </a:rPr>
              <a:t>clone</a:t>
            </a:r>
            <a:r>
              <a:rPr lang="en-US" dirty="0"/>
              <a:t> it. </a:t>
            </a:r>
          </a:p>
          <a:p>
            <a:r>
              <a:rPr lang="en-US" dirty="0"/>
              <a:t>To send changes from your local </a:t>
            </a:r>
            <a:r>
              <a:rPr lang="en-US" dirty="0">
                <a:solidFill>
                  <a:srgbClr val="C00000"/>
                </a:solidFill>
              </a:rPr>
              <a:t>repo</a:t>
            </a:r>
            <a:r>
              <a:rPr lang="en-US" dirty="0"/>
              <a:t> to the </a:t>
            </a:r>
            <a:r>
              <a:rPr lang="en-US" dirty="0">
                <a:solidFill>
                  <a:srgbClr val="C00000"/>
                </a:solidFill>
              </a:rPr>
              <a:t>remote</a:t>
            </a:r>
            <a:r>
              <a:rPr lang="en-US" dirty="0"/>
              <a:t> you </a:t>
            </a:r>
            <a:r>
              <a:rPr lang="en-US" dirty="0">
                <a:solidFill>
                  <a:srgbClr val="C00000"/>
                </a:solidFill>
              </a:rPr>
              <a:t>push</a:t>
            </a:r>
            <a:r>
              <a:rPr lang="en-US" dirty="0"/>
              <a:t> the change. </a:t>
            </a:r>
          </a:p>
          <a:p>
            <a:r>
              <a:rPr lang="en-US" dirty="0"/>
              <a:t>To get the latest version of the </a:t>
            </a:r>
            <a:r>
              <a:rPr lang="en-US" dirty="0">
                <a:solidFill>
                  <a:srgbClr val="C00000"/>
                </a:solidFill>
              </a:rPr>
              <a:t>repo</a:t>
            </a:r>
            <a:r>
              <a:rPr lang="en-US" dirty="0"/>
              <a:t> from the </a:t>
            </a:r>
            <a:r>
              <a:rPr lang="en-US" dirty="0">
                <a:solidFill>
                  <a:srgbClr val="C00000"/>
                </a:solidFill>
              </a:rPr>
              <a:t>remote</a:t>
            </a:r>
            <a:r>
              <a:rPr lang="en-US" dirty="0"/>
              <a:t> you make a </a:t>
            </a:r>
            <a:r>
              <a:rPr lang="en-US" dirty="0">
                <a:solidFill>
                  <a:srgbClr val="C00000"/>
                </a:solidFill>
              </a:rPr>
              <a:t>pull</a:t>
            </a:r>
            <a:r>
              <a:rPr lang="en-US" dirty="0"/>
              <a:t>. </a:t>
            </a:r>
          </a:p>
        </p:txBody>
      </p:sp>
      <p:pic>
        <p:nvPicPr>
          <p:cNvPr id="9" name="Picture 8" descr="A group of people with text&#10;&#10;Description automatically generated">
            <a:extLst>
              <a:ext uri="{FF2B5EF4-FFF2-40B4-BE49-F238E27FC236}">
                <a16:creationId xmlns:a16="http://schemas.microsoft.com/office/drawing/2014/main" id="{1951750C-8EAB-AF6C-FE10-B36C6F1E30CD}"/>
              </a:ext>
            </a:extLst>
          </p:cNvPr>
          <p:cNvPicPr>
            <a:picLocks noChangeAspect="1"/>
          </p:cNvPicPr>
          <p:nvPr/>
        </p:nvPicPr>
        <p:blipFill>
          <a:blip r:embed="rId4"/>
          <a:srcRect r="41029"/>
          <a:stretch/>
        </p:blipFill>
        <p:spPr>
          <a:xfrm>
            <a:off x="122328" y="3429000"/>
            <a:ext cx="2236390" cy="2492905"/>
          </a:xfrm>
          <a:prstGeom prst="rect">
            <a:avLst/>
          </a:prstGeom>
        </p:spPr>
      </p:pic>
      <p:pic>
        <p:nvPicPr>
          <p:cNvPr id="11" name="Picture 10" descr="A group of people with text and images&#10;&#10;Description automatically generated with medium confidence">
            <a:extLst>
              <a:ext uri="{FF2B5EF4-FFF2-40B4-BE49-F238E27FC236}">
                <a16:creationId xmlns:a16="http://schemas.microsoft.com/office/drawing/2014/main" id="{0CB22CB1-AB46-6E36-09CA-8100D231396E}"/>
              </a:ext>
            </a:extLst>
          </p:cNvPr>
          <p:cNvPicPr>
            <a:picLocks noChangeAspect="1"/>
          </p:cNvPicPr>
          <p:nvPr/>
        </p:nvPicPr>
        <p:blipFill>
          <a:blip r:embed="rId5"/>
          <a:stretch>
            <a:fillRect/>
          </a:stretch>
        </p:blipFill>
        <p:spPr>
          <a:xfrm>
            <a:off x="2461741" y="3549137"/>
            <a:ext cx="3462113" cy="2372768"/>
          </a:xfrm>
          <a:prstGeom prst="rect">
            <a:avLst/>
          </a:prstGeom>
        </p:spPr>
      </p:pic>
      <p:pic>
        <p:nvPicPr>
          <p:cNvPr id="13" name="Picture 12" descr="A line of dots with black and blue dots&#10;&#10;Description automatically generated">
            <a:extLst>
              <a:ext uri="{FF2B5EF4-FFF2-40B4-BE49-F238E27FC236}">
                <a16:creationId xmlns:a16="http://schemas.microsoft.com/office/drawing/2014/main" id="{EB70526A-EDDD-219F-E594-31F4C48000DB}"/>
              </a:ext>
            </a:extLst>
          </p:cNvPr>
          <p:cNvPicPr>
            <a:picLocks noChangeAspect="1"/>
          </p:cNvPicPr>
          <p:nvPr/>
        </p:nvPicPr>
        <p:blipFill>
          <a:blip r:embed="rId6"/>
          <a:srcRect r="48317"/>
          <a:stretch/>
        </p:blipFill>
        <p:spPr>
          <a:xfrm>
            <a:off x="6022687" y="3549137"/>
            <a:ext cx="2344358" cy="2372768"/>
          </a:xfrm>
          <a:prstGeom prst="rect">
            <a:avLst/>
          </a:prstGeom>
        </p:spPr>
      </p:pic>
      <p:pic>
        <p:nvPicPr>
          <p:cNvPr id="15" name="Picture 14" descr="A person's face with a line of dots&#10;&#10;Description automatically generated">
            <a:extLst>
              <a:ext uri="{FF2B5EF4-FFF2-40B4-BE49-F238E27FC236}">
                <a16:creationId xmlns:a16="http://schemas.microsoft.com/office/drawing/2014/main" id="{D399163B-3C39-4BA0-54F7-897225B89F14}"/>
              </a:ext>
            </a:extLst>
          </p:cNvPr>
          <p:cNvPicPr>
            <a:picLocks noChangeAspect="1"/>
          </p:cNvPicPr>
          <p:nvPr/>
        </p:nvPicPr>
        <p:blipFill>
          <a:blip r:embed="rId7"/>
          <a:srcRect t="-186" r="29719"/>
          <a:stretch/>
        </p:blipFill>
        <p:spPr>
          <a:xfrm>
            <a:off x="8607559" y="3352800"/>
            <a:ext cx="3462113" cy="2823244"/>
          </a:xfrm>
          <a:prstGeom prst="rect">
            <a:avLst/>
          </a:prstGeom>
        </p:spPr>
      </p:pic>
    </p:spTree>
    <p:extLst>
      <p:ext uri="{BB962C8B-B14F-4D97-AF65-F5344CB8AC3E}">
        <p14:creationId xmlns:p14="http://schemas.microsoft.com/office/powerpoint/2010/main" val="3589121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8B5D-43B9-5470-66F2-59DC2B1F9A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2387C5F-DACC-0EB0-03AB-AD742A9599B7}"/>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39486390-D4BD-7C9C-4D98-1C5F45C043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CDEEA9B2-0052-AA2F-9592-43D648348EF7}"/>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ontent Placeholder 2">
            <a:extLst>
              <a:ext uri="{FF2B5EF4-FFF2-40B4-BE49-F238E27FC236}">
                <a16:creationId xmlns:a16="http://schemas.microsoft.com/office/drawing/2014/main" id="{F714777F-309C-3C4C-A2C2-1623388FBBBD}"/>
              </a:ext>
            </a:extLst>
          </p:cNvPr>
          <p:cNvSpPr>
            <a:spLocks noGrp="1"/>
          </p:cNvSpPr>
          <p:nvPr>
            <p:ph idx="1"/>
          </p:nvPr>
        </p:nvSpPr>
        <p:spPr>
          <a:xfrm>
            <a:off x="911772" y="773930"/>
            <a:ext cx="10515600" cy="4351338"/>
          </a:xfrm>
        </p:spPr>
        <p:txBody>
          <a:bodyPr/>
          <a:lstStyle/>
          <a:p>
            <a:r>
              <a:rPr lang="en-US" dirty="0">
                <a:solidFill>
                  <a:srgbClr val="C00000"/>
                </a:solidFill>
              </a:rPr>
              <a:t>Remote</a:t>
            </a:r>
            <a:r>
              <a:rPr lang="en-US" dirty="0"/>
              <a:t> </a:t>
            </a:r>
            <a:r>
              <a:rPr lang="en-US" dirty="0">
                <a:sym typeface="Wingdings" pitchFamily="2" charset="2"/>
              </a:rPr>
              <a:t> Computer with a repo in it</a:t>
            </a:r>
          </a:p>
          <a:p>
            <a:r>
              <a:rPr lang="en-US" dirty="0">
                <a:solidFill>
                  <a:srgbClr val="C00000"/>
                </a:solidFill>
                <a:sym typeface="Wingdings" pitchFamily="2" charset="2"/>
              </a:rPr>
              <a:t>Clone</a:t>
            </a:r>
            <a:r>
              <a:rPr lang="en-US" dirty="0">
                <a:sym typeface="Wingdings" pitchFamily="2" charset="2"/>
              </a:rPr>
              <a:t> Get a repo from the remote</a:t>
            </a:r>
          </a:p>
          <a:p>
            <a:r>
              <a:rPr lang="en-US" dirty="0">
                <a:solidFill>
                  <a:srgbClr val="C00000"/>
                </a:solidFill>
                <a:sym typeface="Wingdings" pitchFamily="2" charset="2"/>
              </a:rPr>
              <a:t>Pull</a:t>
            </a:r>
            <a:r>
              <a:rPr lang="en-US" dirty="0">
                <a:sym typeface="Wingdings" pitchFamily="2" charset="2"/>
              </a:rPr>
              <a:t>  Get new commits to the repo from the remote</a:t>
            </a:r>
          </a:p>
          <a:p>
            <a:r>
              <a:rPr lang="en-US" dirty="0">
                <a:solidFill>
                  <a:srgbClr val="C00000"/>
                </a:solidFill>
                <a:sym typeface="Wingdings" pitchFamily="2" charset="2"/>
              </a:rPr>
              <a:t>Push</a:t>
            </a:r>
            <a:r>
              <a:rPr lang="en-US" dirty="0">
                <a:sym typeface="Wingdings" pitchFamily="2" charset="2"/>
              </a:rPr>
              <a:t>   Send your new commits to the remote</a:t>
            </a:r>
          </a:p>
          <a:p>
            <a:endParaRPr lang="en-US" dirty="0"/>
          </a:p>
        </p:txBody>
      </p:sp>
      <p:pic>
        <p:nvPicPr>
          <p:cNvPr id="9" name="Picture 8" descr="A group of people with text&#10;&#10;Description automatically generated">
            <a:extLst>
              <a:ext uri="{FF2B5EF4-FFF2-40B4-BE49-F238E27FC236}">
                <a16:creationId xmlns:a16="http://schemas.microsoft.com/office/drawing/2014/main" id="{9E8AEC3B-68D1-410C-A664-27CDE71A2F1F}"/>
              </a:ext>
            </a:extLst>
          </p:cNvPr>
          <p:cNvPicPr>
            <a:picLocks noChangeAspect="1"/>
          </p:cNvPicPr>
          <p:nvPr/>
        </p:nvPicPr>
        <p:blipFill>
          <a:blip r:embed="rId4"/>
          <a:srcRect r="41029"/>
          <a:stretch/>
        </p:blipFill>
        <p:spPr>
          <a:xfrm>
            <a:off x="122328" y="3429000"/>
            <a:ext cx="2236390" cy="2492905"/>
          </a:xfrm>
          <a:prstGeom prst="rect">
            <a:avLst/>
          </a:prstGeom>
        </p:spPr>
      </p:pic>
      <p:pic>
        <p:nvPicPr>
          <p:cNvPr id="11" name="Picture 10" descr="A group of people with text and images&#10;&#10;Description automatically generated with medium confidence">
            <a:extLst>
              <a:ext uri="{FF2B5EF4-FFF2-40B4-BE49-F238E27FC236}">
                <a16:creationId xmlns:a16="http://schemas.microsoft.com/office/drawing/2014/main" id="{C49D199B-6F42-870D-BD72-6B5692CA50C3}"/>
              </a:ext>
            </a:extLst>
          </p:cNvPr>
          <p:cNvPicPr>
            <a:picLocks noChangeAspect="1"/>
          </p:cNvPicPr>
          <p:nvPr/>
        </p:nvPicPr>
        <p:blipFill>
          <a:blip r:embed="rId5"/>
          <a:stretch>
            <a:fillRect/>
          </a:stretch>
        </p:blipFill>
        <p:spPr>
          <a:xfrm>
            <a:off x="2461741" y="3549137"/>
            <a:ext cx="3462113" cy="2372768"/>
          </a:xfrm>
          <a:prstGeom prst="rect">
            <a:avLst/>
          </a:prstGeom>
        </p:spPr>
      </p:pic>
      <p:pic>
        <p:nvPicPr>
          <p:cNvPr id="13" name="Picture 12" descr="A line of dots with black and blue dots&#10;&#10;Description automatically generated">
            <a:extLst>
              <a:ext uri="{FF2B5EF4-FFF2-40B4-BE49-F238E27FC236}">
                <a16:creationId xmlns:a16="http://schemas.microsoft.com/office/drawing/2014/main" id="{FFF242A9-093C-20A4-CB39-2D800599077F}"/>
              </a:ext>
            </a:extLst>
          </p:cNvPr>
          <p:cNvPicPr>
            <a:picLocks noChangeAspect="1"/>
          </p:cNvPicPr>
          <p:nvPr/>
        </p:nvPicPr>
        <p:blipFill>
          <a:blip r:embed="rId6"/>
          <a:srcRect r="48317"/>
          <a:stretch/>
        </p:blipFill>
        <p:spPr>
          <a:xfrm>
            <a:off x="6022687" y="3549137"/>
            <a:ext cx="2344358" cy="2372768"/>
          </a:xfrm>
          <a:prstGeom prst="rect">
            <a:avLst/>
          </a:prstGeom>
        </p:spPr>
      </p:pic>
      <p:pic>
        <p:nvPicPr>
          <p:cNvPr id="15" name="Picture 14" descr="A person's face with a line of dots&#10;&#10;Description automatically generated">
            <a:extLst>
              <a:ext uri="{FF2B5EF4-FFF2-40B4-BE49-F238E27FC236}">
                <a16:creationId xmlns:a16="http://schemas.microsoft.com/office/drawing/2014/main" id="{DEA2F9E3-D187-D9D9-2512-F80AE1E0467A}"/>
              </a:ext>
            </a:extLst>
          </p:cNvPr>
          <p:cNvPicPr>
            <a:picLocks noChangeAspect="1"/>
          </p:cNvPicPr>
          <p:nvPr/>
        </p:nvPicPr>
        <p:blipFill>
          <a:blip r:embed="rId7"/>
          <a:srcRect t="-186" r="29719"/>
          <a:stretch/>
        </p:blipFill>
        <p:spPr>
          <a:xfrm>
            <a:off x="8607559" y="3352800"/>
            <a:ext cx="3462113" cy="2823244"/>
          </a:xfrm>
          <a:prstGeom prst="rect">
            <a:avLst/>
          </a:prstGeom>
        </p:spPr>
      </p:pic>
    </p:spTree>
    <p:extLst>
      <p:ext uri="{BB962C8B-B14F-4D97-AF65-F5344CB8AC3E}">
        <p14:creationId xmlns:p14="http://schemas.microsoft.com/office/powerpoint/2010/main" val="2074127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630D-4A55-AF75-7808-ACEA16390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203CA-1D5C-CF79-C5D3-0DDDC836BEFD}"/>
              </a:ext>
            </a:extLst>
          </p:cNvPr>
          <p:cNvSpPr>
            <a:spLocks noGrp="1"/>
          </p:cNvSpPr>
          <p:nvPr>
            <p:ph type="title"/>
          </p:nvPr>
        </p:nvSpPr>
        <p:spPr>
          <a:xfrm>
            <a:off x="838200" y="572827"/>
            <a:ext cx="10515600" cy="1325563"/>
          </a:xfrm>
        </p:spPr>
        <p:txBody>
          <a:bodyPr/>
          <a:lstStyle/>
          <a:p>
            <a:r>
              <a:rPr lang="en-US" dirty="0"/>
              <a:t>Thing #5: Git helps you collaborate</a:t>
            </a:r>
          </a:p>
        </p:txBody>
      </p:sp>
      <p:sp>
        <p:nvSpPr>
          <p:cNvPr id="4" name="Rectangle 3">
            <a:extLst>
              <a:ext uri="{FF2B5EF4-FFF2-40B4-BE49-F238E27FC236}">
                <a16:creationId xmlns:a16="http://schemas.microsoft.com/office/drawing/2014/main" id="{1470A78E-CE5F-C629-236D-C127EFB1729E}"/>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321928FE-1EC2-1FBD-B088-BF88B1A77F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CE3C37CF-CCFC-37D7-C6EC-F877594FC794}"/>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FD8CAB05-A587-975A-8031-CAA20ECF2ED5}"/>
              </a:ext>
            </a:extLst>
          </p:cNvPr>
          <p:cNvSpPr txBox="1"/>
          <p:nvPr/>
        </p:nvSpPr>
        <p:spPr>
          <a:xfrm>
            <a:off x="8203324" y="6617585"/>
            <a:ext cx="4314497" cy="261610"/>
          </a:xfrm>
          <a:prstGeom prst="rect">
            <a:avLst/>
          </a:prstGeom>
          <a:noFill/>
        </p:spPr>
        <p:txBody>
          <a:bodyPr wrap="square">
            <a:spAutoFit/>
          </a:bodyPr>
          <a:lstStyle/>
          <a:p>
            <a:pPr marL="0" indent="0">
              <a:buNone/>
            </a:pPr>
            <a:r>
              <a:rPr lang="en-US" sz="1100" dirty="0"/>
              <a:t>Alice Bartlett at UX Brighton 2016: </a:t>
            </a:r>
            <a:r>
              <a:rPr lang="en-US" sz="1100" dirty="0">
                <a:hlinkClick r:id="rId4"/>
              </a:rPr>
              <a:t>https://youtu.be/eWxxfttcMts</a:t>
            </a:r>
            <a:r>
              <a:rPr lang="en-US" sz="1100" dirty="0"/>
              <a:t> </a:t>
            </a:r>
          </a:p>
        </p:txBody>
      </p:sp>
      <p:pic>
        <p:nvPicPr>
          <p:cNvPr id="10" name="Picture 9" descr="A diagram of a cat&#10;&#10;Description automatically generated">
            <a:extLst>
              <a:ext uri="{FF2B5EF4-FFF2-40B4-BE49-F238E27FC236}">
                <a16:creationId xmlns:a16="http://schemas.microsoft.com/office/drawing/2014/main" id="{E3283D1A-B493-585E-721C-9568D2B253C2}"/>
              </a:ext>
            </a:extLst>
          </p:cNvPr>
          <p:cNvPicPr>
            <a:picLocks noChangeAspect="1"/>
          </p:cNvPicPr>
          <p:nvPr/>
        </p:nvPicPr>
        <p:blipFill>
          <a:blip r:embed="rId5"/>
          <a:stretch>
            <a:fillRect/>
          </a:stretch>
        </p:blipFill>
        <p:spPr>
          <a:xfrm>
            <a:off x="2538783" y="1620363"/>
            <a:ext cx="7327900" cy="4483100"/>
          </a:xfrm>
          <a:prstGeom prst="rect">
            <a:avLst/>
          </a:prstGeom>
        </p:spPr>
      </p:pic>
    </p:spTree>
    <p:extLst>
      <p:ext uri="{BB962C8B-B14F-4D97-AF65-F5344CB8AC3E}">
        <p14:creationId xmlns:p14="http://schemas.microsoft.com/office/powerpoint/2010/main" val="1683944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3B648-C03B-045A-9DAE-EDFD0D13E5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0E7E6-45FE-307D-3C25-81E80075C9AF}"/>
              </a:ext>
            </a:extLst>
          </p:cNvPr>
          <p:cNvSpPr>
            <a:spLocks noGrp="1"/>
          </p:cNvSpPr>
          <p:nvPr>
            <p:ph idx="1"/>
          </p:nvPr>
        </p:nvSpPr>
        <p:spPr/>
        <p:txBody>
          <a:bodyPr/>
          <a:lstStyle/>
          <a:p>
            <a:r>
              <a:rPr lang="en-US" dirty="0"/>
              <a:t>1.- Create an account in </a:t>
            </a:r>
            <a:r>
              <a:rPr lang="en-US" dirty="0" err="1"/>
              <a:t>Github</a:t>
            </a:r>
            <a:r>
              <a:rPr lang="en-US" dirty="0"/>
              <a:t>. </a:t>
            </a:r>
          </a:p>
          <a:p>
            <a:r>
              <a:rPr lang="en-US" dirty="0"/>
              <a:t>2.- Install Git </a:t>
            </a:r>
          </a:p>
          <a:p>
            <a:r>
              <a:rPr lang="en-US" dirty="0"/>
              <a:t>3.- Configure Git</a:t>
            </a:r>
          </a:p>
          <a:p>
            <a:r>
              <a:rPr lang="en-US" dirty="0"/>
              <a:t>4.- Create a Personal Access Token (PAT) on </a:t>
            </a:r>
            <a:r>
              <a:rPr lang="en-US" dirty="0" err="1"/>
              <a:t>Github</a:t>
            </a:r>
            <a:endParaRPr lang="en-US" dirty="0"/>
          </a:p>
          <a:p>
            <a:pPr lvl="1"/>
            <a:r>
              <a:rPr lang="en-US" dirty="0"/>
              <a:t>Store Personal Access Token to Connect </a:t>
            </a:r>
            <a:r>
              <a:rPr lang="en-US" dirty="0" err="1"/>
              <a:t>Rstudio</a:t>
            </a:r>
            <a:r>
              <a:rPr lang="en-US" dirty="0"/>
              <a:t> and </a:t>
            </a:r>
            <a:r>
              <a:rPr lang="en-US" dirty="0" err="1"/>
              <a:t>Github</a:t>
            </a:r>
            <a:endParaRPr lang="en-US" dirty="0"/>
          </a:p>
          <a:p>
            <a:r>
              <a:rPr lang="en-US" dirty="0"/>
              <a:t>5.- Clone </a:t>
            </a:r>
            <a:r>
              <a:rPr lang="en-US" dirty="0" err="1"/>
              <a:t>Github</a:t>
            </a:r>
            <a:r>
              <a:rPr lang="en-US" dirty="0"/>
              <a:t> repository for </a:t>
            </a:r>
            <a:r>
              <a:rPr lang="en-US" dirty="0" err="1"/>
              <a:t>LAsBest</a:t>
            </a:r>
            <a:endParaRPr lang="en-US" dirty="0"/>
          </a:p>
        </p:txBody>
      </p:sp>
      <p:sp>
        <p:nvSpPr>
          <p:cNvPr id="4" name="Rectangle 3">
            <a:extLst>
              <a:ext uri="{FF2B5EF4-FFF2-40B4-BE49-F238E27FC236}">
                <a16:creationId xmlns:a16="http://schemas.microsoft.com/office/drawing/2014/main" id="{28C10FDA-BE42-D8A4-A61D-B473919D2673}"/>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AE472F6C-87E6-3392-DC07-6B5599C6E3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AE063F7D-7C8F-A01A-698C-9D22EEDD74E5}"/>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6788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6E79-8EE3-C2B3-D0D5-D20315E5DE0D}"/>
            </a:ext>
          </a:extLst>
        </p:cNvPr>
        <p:cNvGrpSpPr/>
        <p:nvPr/>
      </p:nvGrpSpPr>
      <p:grpSpPr>
        <a:xfrm>
          <a:off x="0" y="0"/>
          <a:ext cx="0" cy="0"/>
          <a:chOff x="0" y="0"/>
          <a:chExt cx="0" cy="0"/>
        </a:xfrm>
      </p:grpSpPr>
      <p:pic>
        <p:nvPicPr>
          <p:cNvPr id="8" name="Picture 7" descr="A computer screen shot of a program&#10;&#10;Description automatically generated">
            <a:extLst>
              <a:ext uri="{FF2B5EF4-FFF2-40B4-BE49-F238E27FC236}">
                <a16:creationId xmlns:a16="http://schemas.microsoft.com/office/drawing/2014/main" id="{3B080CD7-BA5C-3C22-0CD3-65D450B3CB99}"/>
              </a:ext>
            </a:extLst>
          </p:cNvPr>
          <p:cNvPicPr>
            <a:picLocks noChangeAspect="1"/>
          </p:cNvPicPr>
          <p:nvPr/>
        </p:nvPicPr>
        <p:blipFill>
          <a:blip r:embed="rId2"/>
          <a:stretch>
            <a:fillRect/>
          </a:stretch>
        </p:blipFill>
        <p:spPr>
          <a:xfrm>
            <a:off x="1445763" y="664814"/>
            <a:ext cx="9113380" cy="5562958"/>
          </a:xfrm>
          <a:prstGeom prst="rect">
            <a:avLst/>
          </a:prstGeom>
        </p:spPr>
      </p:pic>
      <p:sp>
        <p:nvSpPr>
          <p:cNvPr id="9" name="TextBox 8">
            <a:extLst>
              <a:ext uri="{FF2B5EF4-FFF2-40B4-BE49-F238E27FC236}">
                <a16:creationId xmlns:a16="http://schemas.microsoft.com/office/drawing/2014/main" id="{44C3B843-6A95-F645-B122-D1E06C3E454E}"/>
              </a:ext>
            </a:extLst>
          </p:cNvPr>
          <p:cNvSpPr txBox="1"/>
          <p:nvPr/>
        </p:nvSpPr>
        <p:spPr>
          <a:xfrm>
            <a:off x="4227063" y="4746858"/>
            <a:ext cx="3182257"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200" dirty="0"/>
              <a:t>$git --version</a:t>
            </a:r>
          </a:p>
        </p:txBody>
      </p:sp>
      <p:sp>
        <p:nvSpPr>
          <p:cNvPr id="10" name="Rectangle 9">
            <a:extLst>
              <a:ext uri="{FF2B5EF4-FFF2-40B4-BE49-F238E27FC236}">
                <a16:creationId xmlns:a16="http://schemas.microsoft.com/office/drawing/2014/main" id="{5DFA9B8C-8B7D-25D1-F428-2CA2BDD44335}"/>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9">
            <a:extLst>
              <a:ext uri="{FF2B5EF4-FFF2-40B4-BE49-F238E27FC236}">
                <a16:creationId xmlns:a16="http://schemas.microsoft.com/office/drawing/2014/main" id="{CA95B7F7-D64B-3766-A5E6-23844814BE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12" name="Rectangle 11">
            <a:extLst>
              <a:ext uri="{FF2B5EF4-FFF2-40B4-BE49-F238E27FC236}">
                <a16:creationId xmlns:a16="http://schemas.microsoft.com/office/drawing/2014/main" id="{0DAB4F26-F817-DDB8-EAC2-3FC745FDD379}"/>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06739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B5FA-B3C6-395F-2645-0BC0D2406605}"/>
              </a:ext>
            </a:extLst>
          </p:cNvPr>
          <p:cNvSpPr>
            <a:spLocks noGrp="1"/>
          </p:cNvSpPr>
          <p:nvPr>
            <p:ph type="title"/>
          </p:nvPr>
        </p:nvSpPr>
        <p:spPr/>
        <p:txBody>
          <a:bodyPr/>
          <a:lstStyle/>
          <a:p>
            <a:r>
              <a:rPr lang="en-US" dirty="0"/>
              <a:t>2.- Install Git: https://git-</a:t>
            </a:r>
            <a:r>
              <a:rPr lang="en-US" dirty="0" err="1"/>
              <a:t>scm.com</a:t>
            </a:r>
            <a:r>
              <a:rPr lang="en-US" dirty="0"/>
              <a:t>/downloads</a:t>
            </a:r>
          </a:p>
        </p:txBody>
      </p:sp>
      <p:pic>
        <p:nvPicPr>
          <p:cNvPr id="5" name="Content Placeholder 4" descr="A screenshot of a computer&#10;&#10;Description automatically generated">
            <a:extLst>
              <a:ext uri="{FF2B5EF4-FFF2-40B4-BE49-F238E27FC236}">
                <a16:creationId xmlns:a16="http://schemas.microsoft.com/office/drawing/2014/main" id="{090965EB-9CCB-EF0B-1B5D-F2A711BC77BA}"/>
              </a:ext>
            </a:extLst>
          </p:cNvPr>
          <p:cNvPicPr>
            <a:picLocks noGrp="1" noChangeAspect="1"/>
          </p:cNvPicPr>
          <p:nvPr>
            <p:ph idx="1"/>
          </p:nvPr>
        </p:nvPicPr>
        <p:blipFill>
          <a:blip r:embed="rId2"/>
          <a:stretch>
            <a:fillRect/>
          </a:stretch>
        </p:blipFill>
        <p:spPr>
          <a:xfrm>
            <a:off x="230553" y="1747812"/>
            <a:ext cx="5699558" cy="4351338"/>
          </a:xfrm>
        </p:spPr>
      </p:pic>
      <p:pic>
        <p:nvPicPr>
          <p:cNvPr id="7" name="Picture 6" descr="A screenshot of a computer&#10;&#10;Description automatically generated">
            <a:extLst>
              <a:ext uri="{FF2B5EF4-FFF2-40B4-BE49-F238E27FC236}">
                <a16:creationId xmlns:a16="http://schemas.microsoft.com/office/drawing/2014/main" id="{2107C263-1A89-21CF-597D-A36ABF6B91AD}"/>
              </a:ext>
            </a:extLst>
          </p:cNvPr>
          <p:cNvPicPr>
            <a:picLocks noChangeAspect="1"/>
          </p:cNvPicPr>
          <p:nvPr/>
        </p:nvPicPr>
        <p:blipFill>
          <a:blip r:embed="rId3"/>
          <a:stretch>
            <a:fillRect/>
          </a:stretch>
        </p:blipFill>
        <p:spPr>
          <a:xfrm>
            <a:off x="6261890" y="1747812"/>
            <a:ext cx="5699558" cy="4491089"/>
          </a:xfrm>
          <a:prstGeom prst="rect">
            <a:avLst/>
          </a:prstGeom>
        </p:spPr>
      </p:pic>
      <p:sp>
        <p:nvSpPr>
          <p:cNvPr id="8" name="Rectangle 7">
            <a:extLst>
              <a:ext uri="{FF2B5EF4-FFF2-40B4-BE49-F238E27FC236}">
                <a16:creationId xmlns:a16="http://schemas.microsoft.com/office/drawing/2014/main" id="{9AD552D0-3360-98C5-93B7-2AED0ACD4B8F}"/>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9">
            <a:extLst>
              <a:ext uri="{FF2B5EF4-FFF2-40B4-BE49-F238E27FC236}">
                <a16:creationId xmlns:a16="http://schemas.microsoft.com/office/drawing/2014/main" id="{FCAF6A36-8040-E74C-712F-1F9D5F851A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3904"/>
            <a:ext cx="2538783" cy="679716"/>
          </a:xfrm>
          <a:prstGeom prst="rect">
            <a:avLst/>
          </a:prstGeom>
        </p:spPr>
      </p:pic>
      <p:sp>
        <p:nvSpPr>
          <p:cNvPr id="10" name="Rectangle 9">
            <a:extLst>
              <a:ext uri="{FF2B5EF4-FFF2-40B4-BE49-F238E27FC236}">
                <a16:creationId xmlns:a16="http://schemas.microsoft.com/office/drawing/2014/main" id="{C7FCB559-CB7B-E0B5-7023-50589BF1B590}"/>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9505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C892-D0CE-A842-56B4-3E5EBF67F636}"/>
              </a:ext>
            </a:extLst>
          </p:cNvPr>
          <p:cNvSpPr>
            <a:spLocks noGrp="1"/>
          </p:cNvSpPr>
          <p:nvPr>
            <p:ph type="title"/>
          </p:nvPr>
        </p:nvSpPr>
        <p:spPr/>
        <p:txBody>
          <a:bodyPr/>
          <a:lstStyle/>
          <a:p>
            <a:r>
              <a:rPr lang="en-US" dirty="0"/>
              <a:t>3.- Configure Git</a:t>
            </a:r>
          </a:p>
        </p:txBody>
      </p:sp>
      <p:sp>
        <p:nvSpPr>
          <p:cNvPr id="4" name="Rectangle 3">
            <a:extLst>
              <a:ext uri="{FF2B5EF4-FFF2-40B4-BE49-F238E27FC236}">
                <a16:creationId xmlns:a16="http://schemas.microsoft.com/office/drawing/2014/main" id="{6607D0C9-158A-027D-F923-0E7B33C574F4}"/>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365B027D-0B98-C084-305D-E20DBA9A68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B4D2A12F-7D8E-AB4E-44B7-06687E69C787}"/>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blue background with white text&#10;&#10;Description automatically generated">
            <a:extLst>
              <a:ext uri="{FF2B5EF4-FFF2-40B4-BE49-F238E27FC236}">
                <a16:creationId xmlns:a16="http://schemas.microsoft.com/office/drawing/2014/main" id="{E2231480-AF64-DD9F-3F73-3DF5D2DB9BD4}"/>
              </a:ext>
            </a:extLst>
          </p:cNvPr>
          <p:cNvPicPr>
            <a:picLocks noChangeAspect="1"/>
          </p:cNvPicPr>
          <p:nvPr/>
        </p:nvPicPr>
        <p:blipFill>
          <a:blip r:embed="rId4"/>
          <a:stretch>
            <a:fillRect/>
          </a:stretch>
        </p:blipFill>
        <p:spPr>
          <a:xfrm>
            <a:off x="339406" y="1937367"/>
            <a:ext cx="11513187" cy="1746740"/>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ED939C54-B745-D2F9-340F-CC604C48EE61}"/>
              </a:ext>
            </a:extLst>
          </p:cNvPr>
          <p:cNvPicPr>
            <a:picLocks noChangeAspect="1"/>
          </p:cNvPicPr>
          <p:nvPr/>
        </p:nvPicPr>
        <p:blipFill>
          <a:blip r:embed="rId5"/>
          <a:stretch>
            <a:fillRect/>
          </a:stretch>
        </p:blipFill>
        <p:spPr>
          <a:xfrm>
            <a:off x="339406" y="4448734"/>
            <a:ext cx="7708900" cy="1498600"/>
          </a:xfrm>
          <a:prstGeom prst="rect">
            <a:avLst/>
          </a:prstGeom>
        </p:spPr>
      </p:pic>
      <p:sp>
        <p:nvSpPr>
          <p:cNvPr id="13" name="Title 1">
            <a:extLst>
              <a:ext uri="{FF2B5EF4-FFF2-40B4-BE49-F238E27FC236}">
                <a16:creationId xmlns:a16="http://schemas.microsoft.com/office/drawing/2014/main" id="{8B687351-F5DD-92D5-6D05-86BCAA3C8912}"/>
              </a:ext>
            </a:extLst>
          </p:cNvPr>
          <p:cNvSpPr txBox="1">
            <a:spLocks/>
          </p:cNvSpPr>
          <p:nvPr/>
        </p:nvSpPr>
        <p:spPr>
          <a:xfrm>
            <a:off x="228600" y="35753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In the terminal</a:t>
            </a:r>
          </a:p>
        </p:txBody>
      </p:sp>
      <p:sp>
        <p:nvSpPr>
          <p:cNvPr id="14" name="Title 1">
            <a:extLst>
              <a:ext uri="{FF2B5EF4-FFF2-40B4-BE49-F238E27FC236}">
                <a16:creationId xmlns:a16="http://schemas.microsoft.com/office/drawing/2014/main" id="{3B00BD54-FCD1-0517-F282-7EF5CFCA6993}"/>
              </a:ext>
            </a:extLst>
          </p:cNvPr>
          <p:cNvSpPr txBox="1">
            <a:spLocks/>
          </p:cNvSpPr>
          <p:nvPr/>
        </p:nvSpPr>
        <p:spPr>
          <a:xfrm>
            <a:off x="339406" y="103657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In R console /markdown file</a:t>
            </a:r>
          </a:p>
        </p:txBody>
      </p:sp>
    </p:spTree>
    <p:extLst>
      <p:ext uri="{BB962C8B-B14F-4D97-AF65-F5344CB8AC3E}">
        <p14:creationId xmlns:p14="http://schemas.microsoft.com/office/powerpoint/2010/main" val="2062813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D99D4-138D-3332-5CFD-D8E94078D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C557A-0221-3F68-5C3F-BEA62FD2EF32}"/>
              </a:ext>
            </a:extLst>
          </p:cNvPr>
          <p:cNvSpPr>
            <a:spLocks noGrp="1"/>
          </p:cNvSpPr>
          <p:nvPr>
            <p:ph type="title"/>
          </p:nvPr>
        </p:nvSpPr>
        <p:spPr>
          <a:xfrm>
            <a:off x="339406" y="365125"/>
            <a:ext cx="11852594" cy="1325563"/>
          </a:xfrm>
        </p:spPr>
        <p:txBody>
          <a:bodyPr/>
          <a:lstStyle/>
          <a:p>
            <a:r>
              <a:rPr lang="en-US" dirty="0"/>
              <a:t>4.- Create a Personal Access Token (PAT) on </a:t>
            </a:r>
            <a:r>
              <a:rPr lang="en-US" dirty="0" err="1"/>
              <a:t>Github</a:t>
            </a:r>
            <a:endParaRPr lang="en-US" dirty="0"/>
          </a:p>
        </p:txBody>
      </p:sp>
      <p:sp>
        <p:nvSpPr>
          <p:cNvPr id="4" name="Rectangle 3">
            <a:extLst>
              <a:ext uri="{FF2B5EF4-FFF2-40B4-BE49-F238E27FC236}">
                <a16:creationId xmlns:a16="http://schemas.microsoft.com/office/drawing/2014/main" id="{9905F20B-C78F-5DA3-0DE4-90D526EDCF43}"/>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A6DE0885-86A8-CFEA-D8B8-B0E0E42481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4473348C-6DC9-035A-8225-EAB88645DC93}"/>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6580F05E-BABA-289D-6908-740367E0E692}"/>
              </a:ext>
            </a:extLst>
          </p:cNvPr>
          <p:cNvSpPr txBox="1">
            <a:spLocks/>
          </p:cNvSpPr>
          <p:nvPr/>
        </p:nvSpPr>
        <p:spPr>
          <a:xfrm>
            <a:off x="339406" y="103657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In R console /markdown file</a:t>
            </a:r>
          </a:p>
        </p:txBody>
      </p:sp>
      <p:pic>
        <p:nvPicPr>
          <p:cNvPr id="7" name="Picture 6" descr="A screenshot of a computer program&#10;&#10;Description automatically generated">
            <a:extLst>
              <a:ext uri="{FF2B5EF4-FFF2-40B4-BE49-F238E27FC236}">
                <a16:creationId xmlns:a16="http://schemas.microsoft.com/office/drawing/2014/main" id="{E9F7D2D5-667A-5D6B-9022-4D44EE5AE2F0}"/>
              </a:ext>
            </a:extLst>
          </p:cNvPr>
          <p:cNvPicPr>
            <a:picLocks noChangeAspect="1"/>
          </p:cNvPicPr>
          <p:nvPr/>
        </p:nvPicPr>
        <p:blipFill>
          <a:blip r:embed="rId4"/>
          <a:stretch>
            <a:fillRect/>
          </a:stretch>
        </p:blipFill>
        <p:spPr>
          <a:xfrm>
            <a:off x="486227" y="2109836"/>
            <a:ext cx="11374495" cy="3648897"/>
          </a:xfrm>
          <a:prstGeom prst="rect">
            <a:avLst/>
          </a:prstGeom>
        </p:spPr>
      </p:pic>
    </p:spTree>
    <p:extLst>
      <p:ext uri="{BB962C8B-B14F-4D97-AF65-F5344CB8AC3E}">
        <p14:creationId xmlns:p14="http://schemas.microsoft.com/office/powerpoint/2010/main" val="86921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DA1D-1AD5-47C9-B590-B3F1FA1DE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4693D-B8EC-17CF-66BD-7E1877DD9C10}"/>
              </a:ext>
            </a:extLst>
          </p:cNvPr>
          <p:cNvSpPr>
            <a:spLocks noGrp="1"/>
          </p:cNvSpPr>
          <p:nvPr>
            <p:ph type="title"/>
          </p:nvPr>
        </p:nvSpPr>
        <p:spPr>
          <a:xfrm>
            <a:off x="339406" y="365125"/>
            <a:ext cx="11852594" cy="1325563"/>
          </a:xfrm>
        </p:spPr>
        <p:txBody>
          <a:bodyPr/>
          <a:lstStyle/>
          <a:p>
            <a:r>
              <a:rPr lang="en-US" dirty="0"/>
              <a:t>4.- Create a Personal Access Token (PAT) on </a:t>
            </a:r>
            <a:r>
              <a:rPr lang="en-US" dirty="0" err="1"/>
              <a:t>Github</a:t>
            </a:r>
            <a:endParaRPr lang="en-US" dirty="0"/>
          </a:p>
        </p:txBody>
      </p:sp>
      <p:sp>
        <p:nvSpPr>
          <p:cNvPr id="4" name="Rectangle 3">
            <a:extLst>
              <a:ext uri="{FF2B5EF4-FFF2-40B4-BE49-F238E27FC236}">
                <a16:creationId xmlns:a16="http://schemas.microsoft.com/office/drawing/2014/main" id="{66E95365-6580-305C-DAC6-5C1C75D202ED}"/>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6DEA63E7-5DED-669A-E4EE-1C79CF003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43B851A8-25CF-3751-9C7E-551032402075}"/>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shot of a computer&#10;&#10;Description automatically generated">
            <a:extLst>
              <a:ext uri="{FF2B5EF4-FFF2-40B4-BE49-F238E27FC236}">
                <a16:creationId xmlns:a16="http://schemas.microsoft.com/office/drawing/2014/main" id="{49EA77FD-CB5D-8C60-ACB9-C9C99EF22884}"/>
              </a:ext>
            </a:extLst>
          </p:cNvPr>
          <p:cNvPicPr>
            <a:picLocks noChangeAspect="1"/>
          </p:cNvPicPr>
          <p:nvPr/>
        </p:nvPicPr>
        <p:blipFill>
          <a:blip r:embed="rId4"/>
          <a:stretch>
            <a:fillRect/>
          </a:stretch>
        </p:blipFill>
        <p:spPr>
          <a:xfrm>
            <a:off x="2209800" y="1380045"/>
            <a:ext cx="7772400" cy="3331028"/>
          </a:xfrm>
          <a:prstGeom prst="rect">
            <a:avLst/>
          </a:prstGeom>
        </p:spPr>
      </p:pic>
      <p:sp>
        <p:nvSpPr>
          <p:cNvPr id="9" name="TextBox 8">
            <a:extLst>
              <a:ext uri="{FF2B5EF4-FFF2-40B4-BE49-F238E27FC236}">
                <a16:creationId xmlns:a16="http://schemas.microsoft.com/office/drawing/2014/main" id="{6B1FB05E-9CA6-2607-3746-8BB46CFF4AA6}"/>
              </a:ext>
            </a:extLst>
          </p:cNvPr>
          <p:cNvSpPr txBox="1"/>
          <p:nvPr/>
        </p:nvSpPr>
        <p:spPr>
          <a:xfrm>
            <a:off x="7365391" y="2460784"/>
            <a:ext cx="4405308"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200" dirty="0"/>
              <a:t>Change the name</a:t>
            </a:r>
          </a:p>
        </p:txBody>
      </p:sp>
      <p:pic>
        <p:nvPicPr>
          <p:cNvPr id="11" name="Picture 10" descr="A screenshot of a computer&#10;&#10;Description automatically generated">
            <a:extLst>
              <a:ext uri="{FF2B5EF4-FFF2-40B4-BE49-F238E27FC236}">
                <a16:creationId xmlns:a16="http://schemas.microsoft.com/office/drawing/2014/main" id="{B420EF94-3482-41C6-407E-6EAD4EA92E85}"/>
              </a:ext>
            </a:extLst>
          </p:cNvPr>
          <p:cNvPicPr>
            <a:picLocks noChangeAspect="1"/>
          </p:cNvPicPr>
          <p:nvPr/>
        </p:nvPicPr>
        <p:blipFill>
          <a:blip r:embed="rId5"/>
          <a:srcRect t="87463"/>
          <a:stretch/>
        </p:blipFill>
        <p:spPr>
          <a:xfrm>
            <a:off x="2209800" y="4984353"/>
            <a:ext cx="7772400" cy="448586"/>
          </a:xfrm>
          <a:prstGeom prst="rect">
            <a:avLst/>
          </a:prstGeom>
        </p:spPr>
      </p:pic>
    </p:spTree>
    <p:extLst>
      <p:ext uri="{BB962C8B-B14F-4D97-AF65-F5344CB8AC3E}">
        <p14:creationId xmlns:p14="http://schemas.microsoft.com/office/powerpoint/2010/main" val="2060190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E0D72-6EC8-A717-4FCA-F80A671C1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67DAD-BAA4-8731-27AD-0D5EF9D148AB}"/>
              </a:ext>
            </a:extLst>
          </p:cNvPr>
          <p:cNvSpPr>
            <a:spLocks noGrp="1"/>
          </p:cNvSpPr>
          <p:nvPr>
            <p:ph type="title"/>
          </p:nvPr>
        </p:nvSpPr>
        <p:spPr>
          <a:xfrm>
            <a:off x="339406" y="365125"/>
            <a:ext cx="11852594" cy="1325563"/>
          </a:xfrm>
        </p:spPr>
        <p:txBody>
          <a:bodyPr/>
          <a:lstStyle/>
          <a:p>
            <a:r>
              <a:rPr lang="en-US" dirty="0"/>
              <a:t>4.- Create a Personal Access Token (PAT) on </a:t>
            </a:r>
            <a:r>
              <a:rPr lang="en-US" dirty="0" err="1"/>
              <a:t>Github</a:t>
            </a:r>
            <a:endParaRPr lang="en-US" dirty="0"/>
          </a:p>
        </p:txBody>
      </p:sp>
      <p:sp>
        <p:nvSpPr>
          <p:cNvPr id="4" name="Rectangle 3">
            <a:extLst>
              <a:ext uri="{FF2B5EF4-FFF2-40B4-BE49-F238E27FC236}">
                <a16:creationId xmlns:a16="http://schemas.microsoft.com/office/drawing/2014/main" id="{F9A95781-FB79-89E6-E868-9B0D4A0631FA}"/>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9">
            <a:extLst>
              <a:ext uri="{FF2B5EF4-FFF2-40B4-BE49-F238E27FC236}">
                <a16:creationId xmlns:a16="http://schemas.microsoft.com/office/drawing/2014/main" id="{8C4E7992-F341-CB6A-6C9F-0839AD42EA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E66160B8-D192-7759-43ED-21212765A122}"/>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screenshot of a computer&#10;&#10;Description automatically generated">
            <a:extLst>
              <a:ext uri="{FF2B5EF4-FFF2-40B4-BE49-F238E27FC236}">
                <a16:creationId xmlns:a16="http://schemas.microsoft.com/office/drawing/2014/main" id="{02181E41-F845-3CFB-EC42-BEF3E98DD3A9}"/>
              </a:ext>
            </a:extLst>
          </p:cNvPr>
          <p:cNvPicPr>
            <a:picLocks noChangeAspect="1"/>
          </p:cNvPicPr>
          <p:nvPr/>
        </p:nvPicPr>
        <p:blipFill>
          <a:blip r:embed="rId5"/>
          <a:stretch>
            <a:fillRect/>
          </a:stretch>
        </p:blipFill>
        <p:spPr>
          <a:xfrm>
            <a:off x="704947" y="1577528"/>
            <a:ext cx="11147647" cy="3702944"/>
          </a:xfrm>
          <a:prstGeom prst="rect">
            <a:avLst/>
          </a:prstGeom>
        </p:spPr>
      </p:pic>
    </p:spTree>
    <p:extLst>
      <p:ext uri="{BB962C8B-B14F-4D97-AF65-F5344CB8AC3E}">
        <p14:creationId xmlns:p14="http://schemas.microsoft.com/office/powerpoint/2010/main" val="207407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C953F-6A8A-A188-A8B0-2B7F2ABFA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9453C-6C91-F2E3-8460-17746DED5111}"/>
              </a:ext>
            </a:extLst>
          </p:cNvPr>
          <p:cNvSpPr>
            <a:spLocks noGrp="1"/>
          </p:cNvSpPr>
          <p:nvPr>
            <p:ph type="title"/>
          </p:nvPr>
        </p:nvSpPr>
        <p:spPr>
          <a:xfrm>
            <a:off x="339406" y="365125"/>
            <a:ext cx="11852594" cy="1325563"/>
          </a:xfrm>
        </p:spPr>
        <p:txBody>
          <a:bodyPr/>
          <a:lstStyle/>
          <a:p>
            <a:r>
              <a:rPr lang="en-US" dirty="0"/>
              <a:t>4.- Create a Personal Access Token (PAT) on </a:t>
            </a:r>
            <a:r>
              <a:rPr lang="en-US" dirty="0" err="1"/>
              <a:t>Github</a:t>
            </a:r>
            <a:endParaRPr lang="en-US" dirty="0"/>
          </a:p>
        </p:txBody>
      </p:sp>
      <p:pic>
        <p:nvPicPr>
          <p:cNvPr id="5" name="Graphic 9">
            <a:extLst>
              <a:ext uri="{FF2B5EF4-FFF2-40B4-BE49-F238E27FC236}">
                <a16:creationId xmlns:a16="http://schemas.microsoft.com/office/drawing/2014/main" id="{642BE263-1B3A-3483-5E91-C56B53DD98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5AD90F8E-E775-6AA3-8F71-DB19BFCD28A1}"/>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 shot of a computer program&#10;&#10;Description automatically generated">
            <a:extLst>
              <a:ext uri="{FF2B5EF4-FFF2-40B4-BE49-F238E27FC236}">
                <a16:creationId xmlns:a16="http://schemas.microsoft.com/office/drawing/2014/main" id="{98F5015E-F76D-A2BB-2654-BF8BD47CEBC6}"/>
              </a:ext>
            </a:extLst>
          </p:cNvPr>
          <p:cNvPicPr>
            <a:picLocks noChangeAspect="1"/>
          </p:cNvPicPr>
          <p:nvPr/>
        </p:nvPicPr>
        <p:blipFill>
          <a:blip r:embed="rId5"/>
          <a:srcRect b="9241"/>
          <a:stretch/>
        </p:blipFill>
        <p:spPr>
          <a:xfrm>
            <a:off x="687614" y="1341901"/>
            <a:ext cx="10816771" cy="3135454"/>
          </a:xfrm>
          <a:prstGeom prst="rect">
            <a:avLst/>
          </a:prstGeom>
        </p:spPr>
      </p:pic>
      <p:pic>
        <p:nvPicPr>
          <p:cNvPr id="10" name="Picture 9" descr="A screenshot of a computer screen&#10;&#10;Description automatically generated">
            <a:extLst>
              <a:ext uri="{FF2B5EF4-FFF2-40B4-BE49-F238E27FC236}">
                <a16:creationId xmlns:a16="http://schemas.microsoft.com/office/drawing/2014/main" id="{B2AF1C4D-19F8-F768-6075-5BD7BABA77E4}"/>
              </a:ext>
            </a:extLst>
          </p:cNvPr>
          <p:cNvPicPr>
            <a:picLocks noChangeAspect="1"/>
          </p:cNvPicPr>
          <p:nvPr/>
        </p:nvPicPr>
        <p:blipFill>
          <a:blip r:embed="rId6"/>
          <a:stretch>
            <a:fillRect/>
          </a:stretch>
        </p:blipFill>
        <p:spPr>
          <a:xfrm>
            <a:off x="687614" y="4593501"/>
            <a:ext cx="7772400" cy="2170285"/>
          </a:xfrm>
          <a:prstGeom prst="rect">
            <a:avLst/>
          </a:prstGeom>
        </p:spPr>
      </p:pic>
    </p:spTree>
    <p:extLst>
      <p:ext uri="{BB962C8B-B14F-4D97-AF65-F5344CB8AC3E}">
        <p14:creationId xmlns:p14="http://schemas.microsoft.com/office/powerpoint/2010/main" val="1020940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3DD07-8B97-33A5-88F0-62D416F77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4DE57-2E08-0406-68B4-915239E49222}"/>
              </a:ext>
            </a:extLst>
          </p:cNvPr>
          <p:cNvSpPr>
            <a:spLocks noGrp="1"/>
          </p:cNvSpPr>
          <p:nvPr>
            <p:ph type="title"/>
          </p:nvPr>
        </p:nvSpPr>
        <p:spPr>
          <a:xfrm>
            <a:off x="339406" y="365125"/>
            <a:ext cx="11852594" cy="1325563"/>
          </a:xfrm>
        </p:spPr>
        <p:txBody>
          <a:bodyPr/>
          <a:lstStyle/>
          <a:p>
            <a:r>
              <a:rPr lang="en-US" dirty="0"/>
              <a:t>5.- Clone </a:t>
            </a:r>
            <a:r>
              <a:rPr lang="en-US" dirty="0" err="1"/>
              <a:t>Github</a:t>
            </a:r>
            <a:r>
              <a:rPr lang="en-US" dirty="0"/>
              <a:t> repository for </a:t>
            </a:r>
            <a:r>
              <a:rPr lang="en-US" dirty="0" err="1"/>
              <a:t>LAsBest</a:t>
            </a:r>
            <a:endParaRPr lang="en-US" dirty="0"/>
          </a:p>
        </p:txBody>
      </p:sp>
      <p:pic>
        <p:nvPicPr>
          <p:cNvPr id="5" name="Graphic 9">
            <a:extLst>
              <a:ext uri="{FF2B5EF4-FFF2-40B4-BE49-F238E27FC236}">
                <a16:creationId xmlns:a16="http://schemas.microsoft.com/office/drawing/2014/main" id="{C6B54334-7F30-9BCE-4647-E53E50EE3A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299EA60D-1A20-B4E6-5ADF-8023C8BBDC58}"/>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screenshot of a computer&#10;&#10;Description automatically generated">
            <a:extLst>
              <a:ext uri="{FF2B5EF4-FFF2-40B4-BE49-F238E27FC236}">
                <a16:creationId xmlns:a16="http://schemas.microsoft.com/office/drawing/2014/main" id="{F901191F-4DB9-FAEC-11B2-CBB5A54F3683}"/>
              </a:ext>
            </a:extLst>
          </p:cNvPr>
          <p:cNvPicPr>
            <a:picLocks noChangeAspect="1"/>
          </p:cNvPicPr>
          <p:nvPr/>
        </p:nvPicPr>
        <p:blipFill rotWithShape="1">
          <a:blip r:embed="rId5"/>
          <a:srcRect l="9325" t="4830" r="7202" b="9950"/>
          <a:stretch/>
        </p:blipFill>
        <p:spPr>
          <a:xfrm>
            <a:off x="320671" y="2059717"/>
            <a:ext cx="5734198" cy="4223845"/>
          </a:xfrm>
          <a:prstGeom prst="rect">
            <a:avLst/>
          </a:prstGeom>
        </p:spPr>
      </p:pic>
      <p:sp>
        <p:nvSpPr>
          <p:cNvPr id="7" name="Right Arrow 6">
            <a:extLst>
              <a:ext uri="{FF2B5EF4-FFF2-40B4-BE49-F238E27FC236}">
                <a16:creationId xmlns:a16="http://schemas.microsoft.com/office/drawing/2014/main" id="{AEF09A20-FEC4-8D9D-4DA3-1C542DA7FA42}"/>
              </a:ext>
            </a:extLst>
          </p:cNvPr>
          <p:cNvSpPr/>
          <p:nvPr/>
        </p:nvSpPr>
        <p:spPr>
          <a:xfrm rot="14693098">
            <a:off x="1654627" y="5380631"/>
            <a:ext cx="1099458" cy="849086"/>
          </a:xfrm>
          <a:prstGeom prst="rightArrow">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screenshot of a computer&#10;&#10;Description automatically generated">
            <a:extLst>
              <a:ext uri="{FF2B5EF4-FFF2-40B4-BE49-F238E27FC236}">
                <a16:creationId xmlns:a16="http://schemas.microsoft.com/office/drawing/2014/main" id="{5FFBF371-9D63-0017-9E1D-C8BC0BA409CF}"/>
              </a:ext>
            </a:extLst>
          </p:cNvPr>
          <p:cNvPicPr>
            <a:picLocks noChangeAspect="1"/>
          </p:cNvPicPr>
          <p:nvPr/>
        </p:nvPicPr>
        <p:blipFill>
          <a:blip r:embed="rId6"/>
          <a:stretch>
            <a:fillRect/>
          </a:stretch>
        </p:blipFill>
        <p:spPr>
          <a:xfrm>
            <a:off x="6663870" y="2059717"/>
            <a:ext cx="5111346" cy="4223845"/>
          </a:xfrm>
          <a:prstGeom prst="rect">
            <a:avLst/>
          </a:prstGeom>
        </p:spPr>
      </p:pic>
      <p:sp>
        <p:nvSpPr>
          <p:cNvPr id="12" name="Right Arrow 11">
            <a:extLst>
              <a:ext uri="{FF2B5EF4-FFF2-40B4-BE49-F238E27FC236}">
                <a16:creationId xmlns:a16="http://schemas.microsoft.com/office/drawing/2014/main" id="{9895BDE1-09FC-DC1F-8F23-A9EFCE1CEE59}"/>
              </a:ext>
            </a:extLst>
          </p:cNvPr>
          <p:cNvSpPr/>
          <p:nvPr/>
        </p:nvSpPr>
        <p:spPr>
          <a:xfrm rot="8593787">
            <a:off x="10134598" y="2513976"/>
            <a:ext cx="1099458" cy="849086"/>
          </a:xfrm>
          <a:prstGeom prst="rightArrow">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6516377-1DA9-24CD-281E-C2620282EE76}"/>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38483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AF049-B1B8-8AA4-56D6-B2A7035F7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5E610-392D-21F5-08CA-F0C11BFBB486}"/>
              </a:ext>
            </a:extLst>
          </p:cNvPr>
          <p:cNvSpPr>
            <a:spLocks noGrp="1"/>
          </p:cNvSpPr>
          <p:nvPr>
            <p:ph type="title"/>
          </p:nvPr>
        </p:nvSpPr>
        <p:spPr>
          <a:xfrm>
            <a:off x="339406" y="365125"/>
            <a:ext cx="11852594" cy="1325563"/>
          </a:xfrm>
        </p:spPr>
        <p:txBody>
          <a:bodyPr/>
          <a:lstStyle/>
          <a:p>
            <a:r>
              <a:rPr lang="en-US" dirty="0"/>
              <a:t>5.- Clone </a:t>
            </a:r>
            <a:r>
              <a:rPr lang="en-US" dirty="0" err="1"/>
              <a:t>Github</a:t>
            </a:r>
            <a:r>
              <a:rPr lang="en-US" dirty="0"/>
              <a:t> repository for </a:t>
            </a:r>
            <a:r>
              <a:rPr lang="en-US" dirty="0" err="1"/>
              <a:t>LAsBest</a:t>
            </a:r>
            <a:endParaRPr lang="en-US" dirty="0"/>
          </a:p>
        </p:txBody>
      </p:sp>
      <p:pic>
        <p:nvPicPr>
          <p:cNvPr id="5" name="Graphic 9">
            <a:extLst>
              <a:ext uri="{FF2B5EF4-FFF2-40B4-BE49-F238E27FC236}">
                <a16:creationId xmlns:a16="http://schemas.microsoft.com/office/drawing/2014/main" id="{560207C8-BFE6-78FC-0D11-5C4BF2E5E1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04"/>
            <a:ext cx="2538783" cy="679716"/>
          </a:xfrm>
          <a:prstGeom prst="rect">
            <a:avLst/>
          </a:prstGeom>
        </p:spPr>
      </p:pic>
      <p:sp>
        <p:nvSpPr>
          <p:cNvPr id="6" name="Rectangle 5">
            <a:extLst>
              <a:ext uri="{FF2B5EF4-FFF2-40B4-BE49-F238E27FC236}">
                <a16:creationId xmlns:a16="http://schemas.microsoft.com/office/drawing/2014/main" id="{52E5E40E-BAB5-5E32-4097-3AF9B0E58850}"/>
              </a:ext>
            </a:extLst>
          </p:cNvPr>
          <p:cNvSpPr/>
          <p:nvPr/>
        </p:nvSpPr>
        <p:spPr>
          <a:xfrm>
            <a:off x="2538783" y="94214"/>
            <a:ext cx="9653217" cy="24174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AD6D6D6-CBFA-D22D-9698-983B91CCB23F}"/>
              </a:ext>
            </a:extLst>
          </p:cNvPr>
          <p:cNvSpPr/>
          <p:nvPr/>
        </p:nvSpPr>
        <p:spPr>
          <a:xfrm>
            <a:off x="0" y="6430183"/>
            <a:ext cx="12192000" cy="21745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FD475932-8D85-5AA8-1CEF-BF6213B9EF14}"/>
              </a:ext>
            </a:extLst>
          </p:cNvPr>
          <p:cNvPicPr>
            <a:picLocks noChangeAspect="1"/>
          </p:cNvPicPr>
          <p:nvPr/>
        </p:nvPicPr>
        <p:blipFill>
          <a:blip r:embed="rId5"/>
          <a:stretch>
            <a:fillRect/>
          </a:stretch>
        </p:blipFill>
        <p:spPr>
          <a:xfrm>
            <a:off x="932544" y="1690688"/>
            <a:ext cx="5416495" cy="4113151"/>
          </a:xfrm>
          <a:prstGeom prst="rect">
            <a:avLst/>
          </a:prstGeom>
        </p:spPr>
      </p:pic>
      <p:sp>
        <p:nvSpPr>
          <p:cNvPr id="9" name="TextBox 8">
            <a:extLst>
              <a:ext uri="{FF2B5EF4-FFF2-40B4-BE49-F238E27FC236}">
                <a16:creationId xmlns:a16="http://schemas.microsoft.com/office/drawing/2014/main" id="{D0095F04-9DCB-07F7-358D-1F75A02F1AE3}"/>
              </a:ext>
            </a:extLst>
          </p:cNvPr>
          <p:cNvSpPr txBox="1"/>
          <p:nvPr/>
        </p:nvSpPr>
        <p:spPr>
          <a:xfrm>
            <a:off x="6762696" y="1719859"/>
            <a:ext cx="5603475" cy="369332"/>
          </a:xfrm>
          <a:prstGeom prst="rect">
            <a:avLst/>
          </a:prstGeom>
          <a:noFill/>
        </p:spPr>
        <p:txBody>
          <a:bodyPr wrap="square" rtlCol="0">
            <a:spAutoFit/>
          </a:bodyPr>
          <a:lstStyle/>
          <a:p>
            <a:r>
              <a:rPr lang="en-US" b="0" i="0" u="sng" dirty="0">
                <a:solidFill>
                  <a:srgbClr val="0000FF"/>
                </a:solidFill>
                <a:effectLst/>
                <a:latin typeface="Aptos" panose="020B0004020202020204" pitchFamily="34" charset="0"/>
                <a:hlinkClick r:id="rId6"/>
              </a:rPr>
              <a:t>https://github.com/USCbiostats/LAsBEST</a:t>
            </a:r>
            <a:endParaRPr lang="en-US" dirty="0"/>
          </a:p>
        </p:txBody>
      </p:sp>
    </p:spTree>
    <p:extLst>
      <p:ext uri="{BB962C8B-B14F-4D97-AF65-F5344CB8AC3E}">
        <p14:creationId xmlns:p14="http://schemas.microsoft.com/office/powerpoint/2010/main" val="4280848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679</TotalTime>
  <Words>866</Words>
  <Application>Microsoft Macintosh PowerPoint</Application>
  <PresentationFormat>Widescreen</PresentationFormat>
  <Paragraphs>86</Paragraphs>
  <Slides>29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Aptos Display</vt:lpstr>
      <vt:lpstr>Arial</vt:lpstr>
      <vt:lpstr>CMBX12</vt:lpstr>
      <vt:lpstr>CMR12</vt:lpstr>
      <vt:lpstr>Georgia</vt:lpstr>
      <vt:lpstr>Helvetica Neue</vt:lpstr>
      <vt:lpstr>Wingdings</vt:lpstr>
      <vt:lpstr>Office Theme</vt:lpstr>
      <vt:lpstr>How to Use Git/Github with R</vt:lpstr>
      <vt:lpstr>Resources: </vt:lpstr>
      <vt:lpstr>PowerPoint Presentation</vt:lpstr>
      <vt:lpstr>What is Git?</vt:lpstr>
      <vt:lpstr>PowerPoint Presentation</vt:lpstr>
      <vt:lpstr>What is GitHub?</vt:lpstr>
      <vt:lpstr>Git is unfriendly </vt:lpstr>
      <vt:lpstr>PowerPoint Presentation</vt:lpstr>
      <vt:lpstr>PowerPoint Presentation</vt:lpstr>
      <vt:lpstr>Top 5 things that git can do </vt:lpstr>
      <vt:lpstr>Thing #1: Git let’s you tell the story of your project</vt:lpstr>
      <vt:lpstr>PowerPoint Presentation</vt:lpstr>
      <vt:lpstr>Thing #2: Git let’s you time travel</vt:lpstr>
      <vt:lpstr>Thing #3: Git let’s you experiment</vt:lpstr>
      <vt:lpstr>PowerPoint Presentation</vt:lpstr>
      <vt:lpstr>Thing #4: Git let’s you back up your work</vt:lpstr>
      <vt:lpstr>PowerPoint Presentation</vt:lpstr>
      <vt:lpstr>PowerPoint Presentation</vt:lpstr>
      <vt:lpstr>Thing #5: Git helps you collaborate</vt:lpstr>
      <vt:lpstr>PowerPoint Presentation</vt:lpstr>
      <vt:lpstr>PowerPoint Presentation</vt:lpstr>
      <vt:lpstr>2.- Install Git: https://git-scm.com/downloads</vt:lpstr>
      <vt:lpstr>3.- Configure Git</vt:lpstr>
      <vt:lpstr>4.- Create a Personal Access Token (PAT) on Github</vt:lpstr>
      <vt:lpstr>4.- Create a Personal Access Token (PAT) on Github</vt:lpstr>
      <vt:lpstr>4.- Create a Personal Access Token (PAT) on Github</vt:lpstr>
      <vt:lpstr>4.- Create a Personal Access Token (PAT) on Github</vt:lpstr>
      <vt:lpstr>5.- Clone Github repository for LAsBest</vt:lpstr>
      <vt:lpstr>5.- Clone Github repository for LAsBest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Sanchez Mendez</dc:creator>
  <cp:lastModifiedBy>Joel Sanchez Mendez</cp:lastModifiedBy>
  <cp:revision>28</cp:revision>
  <dcterms:created xsi:type="dcterms:W3CDTF">2025-06-16T06:38:33Z</dcterms:created>
  <dcterms:modified xsi:type="dcterms:W3CDTF">2025-06-16T17:58:28Z</dcterms:modified>
</cp:coreProperties>
</file>