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6" name="Shape 56"/>
          <p:cNvSpPr>
            <a:spLocks noGrp="1" noRot="1" noChangeAspect="1"/>
          </p:cNvSpPr>
          <p:nvPr>
            <p:ph type="sldImg"/>
          </p:nvPr>
        </p:nvSpPr>
        <p:spPr>
          <a:xfrm>
            <a:off x="1143000" y="685800"/>
            <a:ext cx="4572000" cy="3429000"/>
          </a:xfrm>
          <a:prstGeom prst="rect">
            <a:avLst/>
          </a:prstGeom>
        </p:spPr>
        <p:txBody>
          <a:bodyPr/>
          <a:lstStyle/>
          <a:p>
            <a:endParaRPr/>
          </a:p>
        </p:txBody>
      </p:sp>
      <p:sp>
        <p:nvSpPr>
          <p:cNvPr id="57" name="Shape 5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noRot="1" noChangeAspect="1"/>
          </p:cNvSpPr>
          <p:nvPr>
            <p:ph type="sldImg"/>
          </p:nvPr>
        </p:nvSpPr>
        <p:spPr>
          <a:prstGeom prst="rect">
            <a:avLst/>
          </a:prstGeom>
        </p:spPr>
        <p:txBody>
          <a:bodyPr/>
          <a:lstStyle/>
          <a:p>
            <a:endParaRPr/>
          </a:p>
        </p:txBody>
      </p:sp>
      <p:sp>
        <p:nvSpPr>
          <p:cNvPr id="170" name="Shape 170"/>
          <p:cNvSpPr>
            <a:spLocks noGrp="1"/>
          </p:cNvSpPr>
          <p:nvPr>
            <p:ph type="body" sz="quarter" idx="1"/>
          </p:nvPr>
        </p:nvSpPr>
        <p:spPr>
          <a:prstGeom prst="rect">
            <a:avLst/>
          </a:prstGeom>
        </p:spPr>
        <p:txBody>
          <a:bodyPr/>
          <a:lstStyle/>
          <a:p>
            <a:r>
              <a:t>Point Pattern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r>
              <a:t>Areal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prstGeom prst="rect">
            <a:avLst/>
          </a:prstGeom>
        </p:spPr>
        <p:txBody>
          <a:bodyPr/>
          <a:lstStyle/>
          <a:p>
            <a:endParaRPr/>
          </a:p>
        </p:txBody>
      </p:sp>
      <p:sp>
        <p:nvSpPr>
          <p:cNvPr id="180" name="Shape 180"/>
          <p:cNvSpPr>
            <a:spLocks noGrp="1"/>
          </p:cNvSpPr>
          <p:nvPr>
            <p:ph type="body" sz="quarter" idx="1"/>
          </p:nvPr>
        </p:nvSpPr>
        <p:spPr>
          <a:prstGeom prst="rect">
            <a:avLst/>
          </a:prstGeom>
        </p:spPr>
        <p:txBody>
          <a:bodyPr/>
          <a:lstStyle/>
          <a:p>
            <a:r>
              <a:t>Areal</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2" name="LA’s BEST @USC"/>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LA’s BEST @USC</a:t>
            </a:r>
          </a:p>
        </p:txBody>
      </p:sp>
      <p:sp>
        <p:nvSpPr>
          <p:cNvPr id="13" name="Body Level One…"/>
          <p:cNvSpPr txBox="1">
            <a:spLocks noGrp="1"/>
          </p:cNvSpPr>
          <p:nvPr>
            <p:ph type="body" sz="quarter" idx="1" hasCustomPrompt="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Directors: Kim Siegmund and Juan Pablo Lewinger</a:t>
            </a:r>
          </a:p>
          <a:p>
            <a:pPr lvl="1"/>
            <a:endParaRPr/>
          </a:p>
          <a:p>
            <a:pPr lvl="2"/>
            <a:endParaRPr/>
          </a:p>
          <a:p>
            <a:pPr lvl="3"/>
            <a:endParaRPr/>
          </a:p>
          <a:p>
            <a:pPr lvl="4"/>
            <a:endParaRPr/>
          </a:p>
        </p:txBody>
      </p:sp>
      <p:pic>
        <p:nvPicPr>
          <p:cNvPr id="14" name="Picture 6" descr="Picture 6"/>
          <p:cNvPicPr>
            <a:picLocks noChangeAspect="1"/>
          </p:cNvPicPr>
          <p:nvPr/>
        </p:nvPicPr>
        <p:blipFill>
          <a:blip r:embed="rId2"/>
          <a:stretch>
            <a:fillRect/>
          </a:stretch>
        </p:blipFill>
        <p:spPr>
          <a:xfrm>
            <a:off x="9606453" y="180918"/>
            <a:ext cx="2585547" cy="2585548"/>
          </a:xfrm>
          <a:prstGeom prst="rect">
            <a:avLst/>
          </a:prstGeom>
          <a:ln w="12700">
            <a:miter lim="400000"/>
          </a:ln>
        </p:spPr>
      </p:pic>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prstGeom prst="rect">
            <a:avLst/>
          </a:prstGeom>
        </p:spPr>
        <p:txBody>
          <a:bodyPr/>
          <a:lstStyle/>
          <a:p>
            <a:r>
              <a:t>Title Text</a:t>
            </a:r>
          </a:p>
        </p:txBody>
      </p:sp>
      <p:sp>
        <p:nvSpPr>
          <p:cNvPr id="2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1" name="Title Text"/>
          <p:cNvSpPr txBox="1">
            <a:spLocks noGrp="1"/>
          </p:cNvSpPr>
          <p:nvPr>
            <p:ph type="title"/>
          </p:nvPr>
        </p:nvSpPr>
        <p:spPr>
          <a:prstGeom prst="rect">
            <a:avLst/>
          </a:prstGeom>
        </p:spPr>
        <p:txBody>
          <a:bodyPr/>
          <a:lstStyle/>
          <a:p>
            <a:r>
              <a:t>Title Text</a:t>
            </a:r>
          </a:p>
        </p:txBody>
      </p:sp>
      <p:sp>
        <p:nvSpPr>
          <p:cNvPr id="32"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pic>
        <p:nvPicPr>
          <p:cNvPr id="40" name="Picture 3" descr="Picture 3"/>
          <p:cNvPicPr>
            <a:picLocks noChangeAspect="1"/>
          </p:cNvPicPr>
          <p:nvPr/>
        </p:nvPicPr>
        <p:blipFill>
          <a:blip r:embed="rId2"/>
          <a:stretch>
            <a:fillRect/>
          </a:stretch>
        </p:blipFill>
        <p:spPr>
          <a:xfrm>
            <a:off x="78926" y="6028571"/>
            <a:ext cx="856496" cy="784979"/>
          </a:xfrm>
          <a:prstGeom prst="rect">
            <a:avLst/>
          </a:prstGeom>
          <a:ln w="12700">
            <a:miter lim="400000"/>
          </a:ln>
        </p:spPr>
      </p:pic>
      <p:sp>
        <p:nvSpPr>
          <p:cNvPr id="41" name="Title Text"/>
          <p:cNvSpPr txBox="1">
            <a:spLocks noGrp="1"/>
          </p:cNvSpPr>
          <p:nvPr>
            <p:ph type="title"/>
          </p:nvPr>
        </p:nvSpPr>
        <p:spPr>
          <a:prstGeom prst="rect">
            <a:avLst/>
          </a:prstGeom>
        </p:spPr>
        <p:txBody>
          <a:bodyPr/>
          <a:lstStyle/>
          <a:p>
            <a:r>
              <a:t>Title Text</a:t>
            </a:r>
          </a:p>
        </p:txBody>
      </p:sp>
      <p:sp>
        <p:nvSpPr>
          <p:cNvPr id="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pic>
        <p:nvPicPr>
          <p:cNvPr id="49" name="Picture 3" descr="Picture 3"/>
          <p:cNvPicPr>
            <a:picLocks noChangeAspect="1"/>
          </p:cNvPicPr>
          <p:nvPr/>
        </p:nvPicPr>
        <p:blipFill>
          <a:blip r:embed="rId2"/>
          <a:stretch>
            <a:fillRect/>
          </a:stretch>
        </p:blipFill>
        <p:spPr>
          <a:xfrm>
            <a:off x="78926" y="6028571"/>
            <a:ext cx="856496" cy="784979"/>
          </a:xfrm>
          <a:prstGeom prst="rect">
            <a:avLst/>
          </a:prstGeom>
          <a:ln w="12700">
            <a:miter lim="400000"/>
          </a:ln>
        </p:spPr>
      </p:pic>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3" descr="Picture 3"/>
          <p:cNvPicPr>
            <a:picLocks noChangeAspect="1"/>
          </p:cNvPicPr>
          <p:nvPr/>
        </p:nvPicPr>
        <p:blipFill>
          <a:blip r:embed="rId7"/>
          <a:stretch>
            <a:fillRect/>
          </a:stretch>
        </p:blipFill>
        <p:spPr>
          <a:xfrm>
            <a:off x="78926" y="6028571"/>
            <a:ext cx="856496" cy="784979"/>
          </a:xfrm>
          <a:prstGeom prst="rect">
            <a:avLst/>
          </a:prstGeom>
          <a:ln w="12700">
            <a:miter lim="400000"/>
          </a:ln>
        </p:spPr>
      </p:pic>
      <p:sp>
        <p:nvSpPr>
          <p:cNvPr id="3"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leaflet-extras.github.io/leaflet-providers/preview/" TargetMode="Externa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p:cNvSpPr txBox="1">
            <a:spLocks noGrp="1"/>
          </p:cNvSpPr>
          <p:nvPr>
            <p:ph type="ctrTitle"/>
          </p:nvPr>
        </p:nvSpPr>
        <p:spPr>
          <a:xfrm>
            <a:off x="1524000" y="2078802"/>
            <a:ext cx="9144000" cy="2387601"/>
          </a:xfrm>
          <a:prstGeom prst="rect">
            <a:avLst/>
          </a:prstGeom>
        </p:spPr>
        <p:txBody>
          <a:bodyPr/>
          <a:lstStyle/>
          <a:p>
            <a:r>
              <a:t>Spatial Statistics</a:t>
            </a:r>
            <a:br/>
            <a:r>
              <a:rPr sz="4000"/>
              <a:t>Introduction to Spatial Data</a:t>
            </a:r>
          </a:p>
        </p:txBody>
      </p:sp>
      <p:sp>
        <p:nvSpPr>
          <p:cNvPr id="60" name="Subtitle 2"/>
          <p:cNvSpPr txBox="1">
            <a:spLocks noGrp="1"/>
          </p:cNvSpPr>
          <p:nvPr>
            <p:ph type="subTitle" sz="quarter" idx="1"/>
          </p:nvPr>
        </p:nvSpPr>
        <p:spPr>
          <a:xfrm>
            <a:off x="1524000" y="4558477"/>
            <a:ext cx="9144000" cy="1655762"/>
          </a:xfrm>
          <a:prstGeom prst="rect">
            <a:avLst/>
          </a:prstGeom>
        </p:spPr>
        <p:txBody>
          <a:bodyPr/>
          <a:lstStyle/>
          <a:p>
            <a:r>
              <a:t>Lu Zhang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Content Placeholder 2"/>
          <p:cNvSpPr txBox="1">
            <a:spLocks noGrp="1"/>
          </p:cNvSpPr>
          <p:nvPr>
            <p:ph type="body" idx="1"/>
          </p:nvPr>
        </p:nvSpPr>
        <p:spPr>
          <a:xfrm>
            <a:off x="943130" y="1930555"/>
            <a:ext cx="10515601" cy="5032376"/>
          </a:xfrm>
          <a:prstGeom prst="rect">
            <a:avLst/>
          </a:prstGeom>
        </p:spPr>
        <p:txBody>
          <a:bodyPr/>
          <a:lstStyle/>
          <a:p>
            <a:pPr>
              <a:defRPr sz="2400" b="1">
                <a:solidFill>
                  <a:srgbClr val="990000"/>
                </a:solidFill>
                <a:latin typeface="Arial"/>
                <a:ea typeface="Arial"/>
                <a:cs typeface="Arial"/>
                <a:sym typeface="Arial"/>
              </a:defRPr>
            </a:pPr>
            <a:r>
              <a:t>Visualization</a:t>
            </a:r>
            <a:r>
              <a:rPr b="0">
                <a:solidFill>
                  <a:srgbClr val="000000"/>
                </a:solidFill>
              </a:rPr>
              <a:t> “A major pleasure in working with spatial data is their visualization. Maps are amongst the most compelling graphics, because the space they map is the space we think we live in, and maps can show things we cannot see otherwise”. Bivand, Pebesma, Gomez-Rubio, Applied Spatial Data Analysis with R, Springer 2008.</a:t>
            </a:r>
          </a:p>
          <a:p>
            <a:pPr>
              <a:defRPr sz="2400" b="1">
                <a:solidFill>
                  <a:srgbClr val="990000"/>
                </a:solidFill>
                <a:latin typeface="Arial"/>
                <a:ea typeface="Arial"/>
                <a:cs typeface="Arial"/>
                <a:sym typeface="Arial"/>
              </a:defRPr>
            </a:pPr>
            <a:r>
              <a:t>Exploration</a:t>
            </a:r>
            <a:r>
              <a:rPr b="0">
                <a:solidFill>
                  <a:srgbClr val="000000"/>
                </a:solidFill>
              </a:rPr>
              <a:t> This involves looking for patterns in data such as clusters and the behavior of events that are close in space or very distant.</a:t>
            </a:r>
          </a:p>
          <a:p>
            <a:pPr>
              <a:defRPr sz="2400" b="1">
                <a:solidFill>
                  <a:srgbClr val="990000"/>
                </a:solidFill>
                <a:latin typeface="Arial"/>
                <a:ea typeface="Arial"/>
                <a:cs typeface="Arial"/>
                <a:sym typeface="Arial"/>
              </a:defRPr>
            </a:pPr>
            <a:r>
              <a:t>Modeling</a:t>
            </a:r>
            <a:r>
              <a:rPr b="0">
                <a:solidFill>
                  <a:srgbClr val="000000"/>
                </a:solidFill>
              </a:rPr>
              <a:t> We incorporate what we learn from data visualization and exploration into a formal statistical setting. This allows for estimation and inference.</a:t>
            </a:r>
          </a:p>
        </p:txBody>
      </p:sp>
      <p:sp>
        <p:nvSpPr>
          <p:cNvPr id="63" name="Title 1"/>
          <p:cNvSpPr txBox="1"/>
          <p:nvPr/>
        </p:nvSpPr>
        <p:spPr>
          <a:xfrm>
            <a:off x="883919" y="365125"/>
            <a:ext cx="1042416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defTabSz="905255">
              <a:lnSpc>
                <a:spcPct val="81000"/>
              </a:lnSpc>
              <a:defRPr sz="4752">
                <a:solidFill>
                  <a:srgbClr val="990000"/>
                </a:solidFill>
              </a:defRPr>
            </a:lvl1pPr>
          </a:lstStyle>
          <a:p>
            <a:r>
              <a:t>The key components of spatial analysis and spatial statistics are: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1" build="p"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itle 1"/>
          <p:cNvSpPr txBox="1">
            <a:spLocks noGrp="1"/>
          </p:cNvSpPr>
          <p:nvPr>
            <p:ph type="title"/>
          </p:nvPr>
        </p:nvSpPr>
        <p:spPr>
          <a:prstGeom prst="rect">
            <a:avLst/>
          </a:prstGeom>
        </p:spPr>
        <p:txBody>
          <a:bodyPr/>
          <a:lstStyle>
            <a:lvl1pPr>
              <a:defRPr sz="4800">
                <a:solidFill>
                  <a:srgbClr val="990000"/>
                </a:solidFill>
                <a:latin typeface="+mj-lt"/>
                <a:ea typeface="+mj-ea"/>
                <a:cs typeface="+mj-cs"/>
                <a:sym typeface="Calibri"/>
              </a:defRPr>
            </a:lvl1pPr>
          </a:lstStyle>
          <a:p>
            <a:r>
              <a:t>Historical examples of spatial analysis</a:t>
            </a:r>
          </a:p>
        </p:txBody>
      </p:sp>
      <p:sp>
        <p:nvSpPr>
          <p:cNvPr id="66" name="Content Placeholder 2"/>
          <p:cNvSpPr txBox="1">
            <a:spLocks noGrp="1"/>
          </p:cNvSpPr>
          <p:nvPr>
            <p:ph type="body" idx="1"/>
          </p:nvPr>
        </p:nvSpPr>
        <p:spPr>
          <a:prstGeom prst="rect">
            <a:avLst/>
          </a:prstGeom>
        </p:spPr>
        <p:txBody>
          <a:bodyPr/>
          <a:lstStyle/>
          <a:p>
            <a:pPr marL="0" indent="0" defTabSz="886968">
              <a:spcBef>
                <a:spcPts val="0"/>
              </a:spcBef>
              <a:buSzTx/>
              <a:buNone/>
              <a:defRPr sz="2716">
                <a:solidFill>
                  <a:srgbClr val="990000"/>
                </a:solidFill>
              </a:defRPr>
            </a:pPr>
            <a:r>
              <a:rPr dirty="0"/>
              <a:t>John Snow: Early spatial analysis</a:t>
            </a:r>
          </a:p>
          <a:p>
            <a:pPr marL="221742" indent="-221742" defTabSz="886968">
              <a:spcBef>
                <a:spcPts val="900"/>
              </a:spcBef>
              <a:defRPr sz="2716"/>
            </a:pPr>
            <a:r>
              <a:rPr dirty="0"/>
              <a:t>In August 1854 there was a major Cholera outbreak in the Soho neighborhood of London, UK. There were 127 cholera-related deaths around the area.</a:t>
            </a:r>
          </a:p>
          <a:p>
            <a:pPr marL="221742" indent="-221742" defTabSz="886968">
              <a:spcBef>
                <a:spcPts val="900"/>
              </a:spcBef>
              <a:defRPr sz="2716"/>
            </a:pPr>
            <a:r>
              <a:rPr dirty="0"/>
              <a:t>At the time, germ theory (microorganisms causing disease) was not known.</a:t>
            </a:r>
          </a:p>
          <a:p>
            <a:pPr marL="221742" indent="-221742" defTabSz="886968">
              <a:spcBef>
                <a:spcPts val="900"/>
              </a:spcBef>
              <a:defRPr sz="2716"/>
            </a:pPr>
            <a:r>
              <a:rPr dirty="0"/>
              <a:t>Dr. John  Snow spoke to local residents and mapped where cholera cases occurred. As a result of his map, he was able to pinpoint the public water pump on Broad Street as the source of contaminated water causing the cholera outbreak.</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1"/>
          <p:cNvSpPr txBox="1">
            <a:spLocks noGrp="1"/>
          </p:cNvSpPr>
          <p:nvPr>
            <p:ph type="title"/>
          </p:nvPr>
        </p:nvSpPr>
        <p:spPr>
          <a:prstGeom prst="rect">
            <a:avLst/>
          </a:prstGeom>
        </p:spPr>
        <p:txBody>
          <a:bodyPr/>
          <a:lstStyle>
            <a:lvl1pPr>
              <a:defRPr sz="4800">
                <a:solidFill>
                  <a:srgbClr val="990000"/>
                </a:solidFill>
                <a:latin typeface="+mj-lt"/>
                <a:ea typeface="+mj-ea"/>
                <a:cs typeface="+mj-cs"/>
                <a:sym typeface="Calibri"/>
              </a:defRPr>
            </a:lvl1pPr>
          </a:lstStyle>
          <a:p>
            <a:r>
              <a:t>Historical examples of spatial analysis</a:t>
            </a:r>
          </a:p>
        </p:txBody>
      </p:sp>
      <p:pic>
        <p:nvPicPr>
          <p:cNvPr id="69" name="Picture 2" descr="Picture 2"/>
          <p:cNvPicPr>
            <a:picLocks noChangeAspect="1"/>
          </p:cNvPicPr>
          <p:nvPr/>
        </p:nvPicPr>
        <p:blipFill>
          <a:blip r:embed="rId2"/>
          <a:stretch>
            <a:fillRect/>
          </a:stretch>
        </p:blipFill>
        <p:spPr>
          <a:xfrm>
            <a:off x="2468879" y="1656981"/>
            <a:ext cx="5127158" cy="4806711"/>
          </a:xfrm>
          <a:prstGeom prst="rect">
            <a:avLst/>
          </a:prstGeom>
          <a:ln w="12700">
            <a:miter lim="400000"/>
          </a:ln>
        </p:spPr>
      </p:pic>
      <p:pic>
        <p:nvPicPr>
          <p:cNvPr id="70" name="Picture 2" descr="Picture 2"/>
          <p:cNvPicPr>
            <a:picLocks noChangeAspect="1"/>
          </p:cNvPicPr>
          <p:nvPr/>
        </p:nvPicPr>
        <p:blipFill>
          <a:blip r:embed="rId2"/>
          <a:stretch>
            <a:fillRect/>
          </a:stretch>
        </p:blipFill>
        <p:spPr>
          <a:xfrm>
            <a:off x="-1292522" y="-1351023"/>
            <a:ext cx="11544231" cy="10822717"/>
          </a:xfrm>
          <a:prstGeom prst="rect">
            <a:avLst/>
          </a:prstGeom>
          <a:ln w="12700">
            <a:miter lim="400000"/>
          </a:ln>
        </p:spPr>
      </p:pic>
      <p:sp>
        <p:nvSpPr>
          <p:cNvPr id="71" name="Oval 5"/>
          <p:cNvSpPr/>
          <p:nvPr/>
        </p:nvSpPr>
        <p:spPr>
          <a:xfrm>
            <a:off x="4974337" y="3276730"/>
            <a:ext cx="457199" cy="490600"/>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72" name="Straight Arrow Connector 7"/>
          <p:cNvSpPr/>
          <p:nvPr/>
        </p:nvSpPr>
        <p:spPr>
          <a:xfrm flipV="1">
            <a:off x="4588354" y="3968895"/>
            <a:ext cx="444105" cy="419934"/>
          </a:xfrm>
          <a:prstGeom prst="line">
            <a:avLst/>
          </a:prstGeom>
          <a:ln w="57150">
            <a:solidFill>
              <a:srgbClr val="FF0000"/>
            </a:solidFill>
            <a:miter/>
            <a:tailEnd type="triangle"/>
          </a:ln>
        </p:spPr>
        <p:txBody>
          <a:bodyPr lIns="45719" rIns="45719"/>
          <a:lstStyle/>
          <a:p>
            <a:endParaRPr/>
          </a:p>
        </p:txBody>
      </p:sp>
      <p:sp>
        <p:nvSpPr>
          <p:cNvPr id="73" name="Oval 13"/>
          <p:cNvSpPr/>
          <p:nvPr/>
        </p:nvSpPr>
        <p:spPr>
          <a:xfrm>
            <a:off x="9226716" y="4799574"/>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74" name="Oval 14"/>
          <p:cNvSpPr/>
          <p:nvPr/>
        </p:nvSpPr>
        <p:spPr>
          <a:xfrm>
            <a:off x="7632613" y="5065448"/>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75" name="Oval 15"/>
          <p:cNvSpPr/>
          <p:nvPr/>
        </p:nvSpPr>
        <p:spPr>
          <a:xfrm>
            <a:off x="2455345" y="1166384"/>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76" name="Oval 17"/>
          <p:cNvSpPr/>
          <p:nvPr/>
        </p:nvSpPr>
        <p:spPr>
          <a:xfrm>
            <a:off x="7127498" y="7979336"/>
            <a:ext cx="457199" cy="490599"/>
          </a:xfrm>
          <a:prstGeom prst="ellipse">
            <a:avLst/>
          </a:prstGeom>
          <a:ln w="57150">
            <a:solidFill>
              <a:srgbClr val="FF0000"/>
            </a:solidFill>
            <a:miter/>
          </a:ln>
        </p:spPr>
        <p:txBody>
          <a:bodyPr lIns="45719" rIns="45719" anchor="ctr"/>
          <a:lstStyle/>
          <a:p>
            <a:pPr algn="ctr">
              <a:defRPr>
                <a:solidFill>
                  <a:srgbClr val="FFFFFF"/>
                </a:solidFill>
              </a:defRPr>
            </a:pPr>
            <a:endParaRPr/>
          </a:p>
        </p:txBody>
      </p:sp>
      <p:sp>
        <p:nvSpPr>
          <p:cNvPr id="77" name="Oval 18"/>
          <p:cNvSpPr/>
          <p:nvPr/>
        </p:nvSpPr>
        <p:spPr>
          <a:xfrm>
            <a:off x="3640585" y="6218392"/>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78" name="Oval 19"/>
          <p:cNvSpPr/>
          <p:nvPr/>
        </p:nvSpPr>
        <p:spPr>
          <a:xfrm>
            <a:off x="5431535" y="5923596"/>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79" name="Oval 20"/>
          <p:cNvSpPr/>
          <p:nvPr/>
        </p:nvSpPr>
        <p:spPr>
          <a:xfrm>
            <a:off x="2415289" y="2584493"/>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80" name="Oval 12"/>
          <p:cNvSpPr/>
          <p:nvPr/>
        </p:nvSpPr>
        <p:spPr>
          <a:xfrm>
            <a:off x="7138837" y="1757548"/>
            <a:ext cx="457199" cy="490599"/>
          </a:xfrm>
          <a:prstGeom prst="ellipse">
            <a:avLst/>
          </a:prstGeom>
          <a:ln w="57150">
            <a:solidFill>
              <a:srgbClr val="C00000"/>
            </a:solidFill>
            <a:miter/>
          </a:ln>
        </p:spPr>
        <p:txBody>
          <a:bodyPr lIns="45719" rIns="45719" anchor="ctr"/>
          <a:lstStyle/>
          <a:p>
            <a:pPr algn="ctr">
              <a:defRPr>
                <a:solidFill>
                  <a:srgbClr val="FFFFFF"/>
                </a:solidFill>
              </a:defRPr>
            </a:pPr>
            <a:endParaRPr/>
          </a:p>
        </p:txBody>
      </p:sp>
      <p:sp>
        <p:nvSpPr>
          <p:cNvPr id="81" name="Oval 16"/>
          <p:cNvSpPr/>
          <p:nvPr/>
        </p:nvSpPr>
        <p:spPr>
          <a:xfrm>
            <a:off x="4970107" y="3276732"/>
            <a:ext cx="457199" cy="490599"/>
          </a:xfrm>
          <a:prstGeom prst="ellipse">
            <a:avLst/>
          </a:prstGeom>
          <a:ln w="57150">
            <a:solidFill>
              <a:srgbClr val="FF0000"/>
            </a:solidFill>
            <a:miter/>
          </a:ln>
        </p:spPr>
        <p:txBody>
          <a:bodyPr lIns="45719" rIns="45719" anchor="ctr"/>
          <a:lstStyle/>
          <a:p>
            <a:pPr algn="ctr">
              <a:defRPr>
                <a:solidFill>
                  <a:srgbClr val="FFFFFF"/>
                </a:solidFill>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1" nodeType="clickEffect">
                                  <p:stCondLst>
                                    <p:cond delay="0"/>
                                  </p:stCondLst>
                                  <p:iterate>
                                    <p:tmAbs val="0"/>
                                  </p:iterate>
                                  <p:childTnLst>
                                    <p:set>
                                      <p:cBhvr>
                                        <p:cTn id="6" fill="hold"/>
                                        <p:tgtEl>
                                          <p:spTgt spid="70"/>
                                        </p:tgtEl>
                                        <p:attrNameLst>
                                          <p:attrName>style.visibility</p:attrName>
                                        </p:attrNameLst>
                                      </p:cBhvr>
                                      <p:to>
                                        <p:strVal val="visible"/>
                                      </p:to>
                                    </p:set>
                                    <p:anim calcmode="lin" valueType="num">
                                      <p:cBhvr>
                                        <p:cTn id="7" dur="500" fill="hold"/>
                                        <p:tgtEl>
                                          <p:spTgt spid="70"/>
                                        </p:tgtEl>
                                        <p:attrNameLst>
                                          <p:attrName>ppt_w</p:attrName>
                                        </p:attrNameLst>
                                      </p:cBhvr>
                                      <p:tavLst>
                                        <p:tav tm="0">
                                          <p:val>
                                            <p:fltVal val="0"/>
                                          </p:val>
                                        </p:tav>
                                        <p:tav tm="100000">
                                          <p:val>
                                            <p:strVal val="#ppt_w"/>
                                          </p:val>
                                        </p:tav>
                                      </p:tavLst>
                                    </p:anim>
                                    <p:anim calcmode="lin" valueType="num">
                                      <p:cBhvr>
                                        <p:cTn id="8"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71"/>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3" nodeType="afterEffect">
                                  <p:stCondLst>
                                    <p:cond delay="0"/>
                                  </p:stCondLst>
                                  <p:iterate>
                                    <p:tmAbs val="0"/>
                                  </p:iterate>
                                  <p:childTnLst>
                                    <p:set>
                                      <p:cBhvr>
                                        <p:cTn id="15" fill="hold"/>
                                        <p:tgtEl>
                                          <p:spTgt spid="73"/>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4" nodeType="afterEffect">
                                  <p:stCondLst>
                                    <p:cond delay="0"/>
                                  </p:stCondLst>
                                  <p:iterate>
                                    <p:tmAbs val="0"/>
                                  </p:iterate>
                                  <p:childTnLst>
                                    <p:set>
                                      <p:cBhvr>
                                        <p:cTn id="18" fill="hold"/>
                                        <p:tgtEl>
                                          <p:spTgt spid="7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5" nodeType="afterEffect">
                                  <p:stCondLst>
                                    <p:cond delay="0"/>
                                  </p:stCondLst>
                                  <p:iterate>
                                    <p:tmAbs val="0"/>
                                  </p:iterate>
                                  <p:childTnLst>
                                    <p:set>
                                      <p:cBhvr>
                                        <p:cTn id="21" fill="hold"/>
                                        <p:tgtEl>
                                          <p:spTgt spid="7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6" nodeType="afterEffect">
                                  <p:stCondLst>
                                    <p:cond delay="0"/>
                                  </p:stCondLst>
                                  <p:iterate>
                                    <p:tmAbs val="0"/>
                                  </p:iterate>
                                  <p:childTnLst>
                                    <p:set>
                                      <p:cBhvr>
                                        <p:cTn id="24" fill="hold"/>
                                        <p:tgtEl>
                                          <p:spTgt spid="76"/>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7" nodeType="afterEffect">
                                  <p:stCondLst>
                                    <p:cond delay="0"/>
                                  </p:stCondLst>
                                  <p:iterate>
                                    <p:tmAbs val="0"/>
                                  </p:iterate>
                                  <p:childTnLst>
                                    <p:set>
                                      <p:cBhvr>
                                        <p:cTn id="27" fill="hold"/>
                                        <p:tgtEl>
                                          <p:spTgt spid="77"/>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8" nodeType="afterEffect">
                                  <p:stCondLst>
                                    <p:cond delay="0"/>
                                  </p:stCondLst>
                                  <p:iterate>
                                    <p:tmAbs val="0"/>
                                  </p:iterate>
                                  <p:childTnLst>
                                    <p:set>
                                      <p:cBhvr>
                                        <p:cTn id="30" fill="hold"/>
                                        <p:tgtEl>
                                          <p:spTgt spid="7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9" nodeType="afterEffect">
                                  <p:stCondLst>
                                    <p:cond delay="0"/>
                                  </p:stCondLst>
                                  <p:iterate>
                                    <p:tmAbs val="0"/>
                                  </p:iterate>
                                  <p:childTnLst>
                                    <p:set>
                                      <p:cBhvr>
                                        <p:cTn id="33" fill="hold"/>
                                        <p:tgtEl>
                                          <p:spTgt spid="79"/>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10" nodeType="afterEffect">
                                  <p:stCondLst>
                                    <p:cond delay="0"/>
                                  </p:stCondLst>
                                  <p:iterate>
                                    <p:tmAbs val="0"/>
                                  </p:iterate>
                                  <p:childTnLst>
                                    <p:set>
                                      <p:cBhvr>
                                        <p:cTn id="36" fill="hold"/>
                                        <p:tgtEl>
                                          <p:spTgt spid="8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1" nodeType="clickEffect">
                                  <p:stCondLst>
                                    <p:cond delay="0"/>
                                  </p:stCondLst>
                                  <p:iterate>
                                    <p:tmAbs val="0"/>
                                  </p:iterate>
                                  <p:childTnLst>
                                    <p:set>
                                      <p:cBhvr>
                                        <p:cTn id="40" fill="hold"/>
                                        <p:tgtEl>
                                          <p:spTgt spid="7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12" nodeType="clickEffect">
                                  <p:stCondLst>
                                    <p:cond delay="0"/>
                                  </p:stCondLst>
                                  <p:iterate>
                                    <p:tmAbs val="0"/>
                                  </p:iterate>
                                  <p:childTnLst>
                                    <p:set>
                                      <p:cBhvr>
                                        <p:cTn id="44" fill="hold"/>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1" animBg="1" advAuto="0"/>
      <p:bldP spid="71" grpId="2" animBg="1" advAuto="0"/>
      <p:bldP spid="72" grpId="11" animBg="1" advAuto="0"/>
      <p:bldP spid="73" grpId="3" animBg="1" advAuto="0"/>
      <p:bldP spid="74" grpId="4" animBg="1" advAuto="0"/>
      <p:bldP spid="75" grpId="5" animBg="1" advAuto="0"/>
      <p:bldP spid="76" grpId="6" animBg="1" advAuto="0"/>
      <p:bldP spid="77" grpId="7" animBg="1" advAuto="0"/>
      <p:bldP spid="78" grpId="8" animBg="1" advAuto="0"/>
      <p:bldP spid="79" grpId="9" animBg="1" advAuto="0"/>
      <p:bldP spid="80" grpId="10" animBg="1" advAuto="0"/>
      <p:bldP spid="81" grpId="12"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itle 1"/>
          <p:cNvSpPr txBox="1">
            <a:spLocks noGrp="1"/>
          </p:cNvSpPr>
          <p:nvPr>
            <p:ph type="title"/>
          </p:nvPr>
        </p:nvSpPr>
        <p:spPr>
          <a:prstGeom prst="rect">
            <a:avLst/>
          </a:prstGeom>
        </p:spPr>
        <p:txBody>
          <a:bodyPr/>
          <a:lstStyle>
            <a:lvl1pPr>
              <a:defRPr sz="4800">
                <a:solidFill>
                  <a:srgbClr val="990000"/>
                </a:solidFill>
                <a:latin typeface="+mj-lt"/>
                <a:ea typeface="+mj-ea"/>
                <a:cs typeface="+mj-cs"/>
                <a:sym typeface="Calibri"/>
              </a:defRPr>
            </a:lvl1pPr>
          </a:lstStyle>
          <a:p>
            <a:r>
              <a:t>Historical examples of spatial analysis</a:t>
            </a:r>
          </a:p>
        </p:txBody>
      </p:sp>
      <p:sp>
        <p:nvSpPr>
          <p:cNvPr id="84" name="Content Placeholder 2"/>
          <p:cNvSpPr txBox="1">
            <a:spLocks noGrp="1"/>
          </p:cNvSpPr>
          <p:nvPr>
            <p:ph type="body" idx="1"/>
          </p:nvPr>
        </p:nvSpPr>
        <p:spPr>
          <a:prstGeom prst="rect">
            <a:avLst/>
          </a:prstGeom>
        </p:spPr>
        <p:txBody>
          <a:bodyPr/>
          <a:lstStyle/>
          <a:p>
            <a:pPr marL="0" indent="0">
              <a:spcBef>
                <a:spcPts val="0"/>
              </a:spcBef>
              <a:buSzTx/>
              <a:buNone/>
              <a:defRPr>
                <a:solidFill>
                  <a:srgbClr val="990000"/>
                </a:solidFill>
              </a:defRPr>
            </a:pPr>
            <a:r>
              <a:t>John Snow: Early spatial analysis</a:t>
            </a:r>
          </a:p>
          <a:p>
            <a:pPr marL="0" indent="0">
              <a:spcBef>
                <a:spcPts val="0"/>
              </a:spcBef>
              <a:buSzTx/>
              <a:buNone/>
              <a:defRPr>
                <a:solidFill>
                  <a:srgbClr val="990000"/>
                </a:solidFill>
              </a:defRPr>
            </a:pPr>
            <a:endParaRPr/>
          </a:p>
          <a:p>
            <a:pPr>
              <a:spcBef>
                <a:spcPts val="0"/>
              </a:spcBef>
              <a:buClr>
                <a:srgbClr val="C00000"/>
              </a:buClr>
              <a:buSzPct val="60000"/>
              <a:buFont typeface="Helvetica"/>
              <a:buChar char="►"/>
              <a:defRPr>
                <a:solidFill>
                  <a:srgbClr val="0D0D0D"/>
                </a:solidFill>
              </a:defRPr>
            </a:pPr>
            <a:r>
              <a:t>Dr. Snow used statistics to find a relationship between water quality and cholera cases</a:t>
            </a:r>
          </a:p>
          <a:p>
            <a:pPr>
              <a:spcBef>
                <a:spcPts val="0"/>
              </a:spcBef>
              <a:buClr>
                <a:srgbClr val="C00000"/>
              </a:buClr>
              <a:buSzPct val="60000"/>
              <a:buFont typeface="Helvetica"/>
              <a:buChar char="►"/>
              <a:defRPr>
                <a:solidFill>
                  <a:srgbClr val="0D0D0D"/>
                </a:solidFill>
              </a:defRPr>
            </a:pPr>
            <a:r>
              <a:t>He found that the company supplying water to the Broad Street pump was taking water from the sewage polluted area of the Thames river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ontent Placeholder 2"/>
          <p:cNvSpPr txBox="1">
            <a:spLocks noGrp="1"/>
          </p:cNvSpPr>
          <p:nvPr>
            <p:ph type="body" idx="1"/>
          </p:nvPr>
        </p:nvSpPr>
        <p:spPr>
          <a:prstGeom prst="rect">
            <a:avLst/>
          </a:prstGeom>
        </p:spPr>
        <p:txBody>
          <a:bodyPr/>
          <a:lstStyle/>
          <a:p>
            <a:r>
              <a:t>Historical examples of spatial data were often stumbled upon “by chance”</a:t>
            </a:r>
          </a:p>
          <a:p>
            <a:r>
              <a:t>Today, spatial data are seemingly everywhere. Not only do we see countless examples of spatial data in a variety of fields of research (public health,  economics,  sociology, earth sciences, etc.), we often find them used in news articles, apps and pop culture</a:t>
            </a:r>
          </a:p>
          <a:p>
            <a:r>
              <a:t>Let’s first explain what is a spatial analysis and what are spatial data</a:t>
            </a:r>
          </a:p>
        </p:txBody>
      </p:sp>
      <p:sp>
        <p:nvSpPr>
          <p:cNvPr id="87" name="Title 1"/>
          <p:cNvSpPr txBox="1">
            <a:spLocks noGrp="1"/>
          </p:cNvSpPr>
          <p:nvPr>
            <p:ph type="title"/>
          </p:nvPr>
        </p:nvSpPr>
        <p:spPr>
          <a:prstGeom prst="rect">
            <a:avLst/>
          </a:prstGeom>
        </p:spPr>
        <p:txBody>
          <a:bodyPr/>
          <a:lstStyle>
            <a:lvl1pPr>
              <a:defRPr sz="4800">
                <a:solidFill>
                  <a:srgbClr val="990000"/>
                </a:solidFill>
                <a:latin typeface="+mj-lt"/>
                <a:ea typeface="+mj-ea"/>
                <a:cs typeface="+mj-cs"/>
                <a:sym typeface="Calibri"/>
              </a:defRPr>
            </a:lvl1pPr>
          </a:lstStyle>
          <a:p>
            <a:r>
              <a:t>Spatial analyses:   past and present</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ontent Placeholder 2"/>
          <p:cNvSpPr txBox="1">
            <a:spLocks noGrp="1"/>
          </p:cNvSpPr>
          <p:nvPr>
            <p:ph type="body" idx="1"/>
          </p:nvPr>
        </p:nvSpPr>
        <p:spPr>
          <a:prstGeom prst="rect">
            <a:avLst/>
          </a:prstGeom>
        </p:spPr>
        <p:txBody>
          <a:bodyPr/>
          <a:lstStyle/>
          <a:p>
            <a:pPr marL="0" indent="0" defTabSz="896111">
              <a:lnSpc>
                <a:spcPct val="72000"/>
              </a:lnSpc>
              <a:spcBef>
                <a:spcPts val="900"/>
              </a:spcBef>
              <a:buSzTx/>
              <a:buNone/>
              <a:defRPr sz="2450" b="1"/>
            </a:pPr>
            <a:r>
              <a:t>What is spatial analysis?</a:t>
            </a:r>
          </a:p>
          <a:p>
            <a:pPr marL="224027" indent="-224027" defTabSz="896111">
              <a:lnSpc>
                <a:spcPct val="72000"/>
              </a:lnSpc>
              <a:spcBef>
                <a:spcPts val="900"/>
              </a:spcBef>
              <a:defRPr sz="2450"/>
            </a:pPr>
            <a:r>
              <a:t>The quantification of phenomena referenced in space</a:t>
            </a:r>
          </a:p>
          <a:p>
            <a:pPr marL="224027" indent="-224027" defTabSz="896111">
              <a:lnSpc>
                <a:spcPct val="72000"/>
              </a:lnSpc>
              <a:spcBef>
                <a:spcPts val="900"/>
              </a:spcBef>
              <a:defRPr sz="2450"/>
            </a:pPr>
            <a:r>
              <a:t>The study of methods to describe and explain a process that operates in space based on a sample of observations taken at particular locations</a:t>
            </a:r>
          </a:p>
          <a:p>
            <a:pPr marL="224027" indent="-224027" defTabSz="896111">
              <a:lnSpc>
                <a:spcPct val="72000"/>
              </a:lnSpc>
              <a:spcBef>
                <a:spcPts val="900"/>
              </a:spcBef>
              <a:defRPr sz="2450"/>
            </a:pPr>
            <a:r>
              <a:t>Quantitative spatial analysis: Methods</a:t>
            </a:r>
          </a:p>
          <a:p>
            <a:pPr marL="224027" indent="-224027" defTabSz="896111">
              <a:lnSpc>
                <a:spcPct val="72000"/>
              </a:lnSpc>
              <a:spcBef>
                <a:spcPts val="900"/>
              </a:spcBef>
              <a:defRPr sz="2450" b="1">
                <a:solidFill>
                  <a:srgbClr val="BFBFBF"/>
                </a:solidFill>
              </a:defRPr>
            </a:pPr>
            <a:r>
              <a:t>Visualization</a:t>
            </a:r>
          </a:p>
          <a:p>
            <a:pPr marL="0" indent="0" defTabSz="896111">
              <a:lnSpc>
                <a:spcPct val="72000"/>
              </a:lnSpc>
              <a:spcBef>
                <a:spcPts val="900"/>
              </a:spcBef>
              <a:buSzTx/>
              <a:buNone/>
              <a:defRPr sz="2450">
                <a:solidFill>
                  <a:srgbClr val="BFBFBF"/>
                </a:solidFill>
              </a:defRPr>
            </a:pPr>
            <a:r>
              <a:t>	Maps, graphical display</a:t>
            </a:r>
            <a:endParaRPr b="1"/>
          </a:p>
          <a:p>
            <a:pPr marL="224027" indent="-224027" defTabSz="896111">
              <a:lnSpc>
                <a:spcPct val="72000"/>
              </a:lnSpc>
              <a:spcBef>
                <a:spcPts val="900"/>
              </a:spcBef>
              <a:defRPr sz="2450" b="1">
                <a:solidFill>
                  <a:srgbClr val="BFBFBF"/>
                </a:solidFill>
              </a:defRPr>
            </a:pPr>
            <a:r>
              <a:t>Exploration</a:t>
            </a:r>
          </a:p>
          <a:p>
            <a:pPr marL="0" indent="0" defTabSz="896111">
              <a:lnSpc>
                <a:spcPct val="72000"/>
              </a:lnSpc>
              <a:spcBef>
                <a:spcPts val="900"/>
              </a:spcBef>
              <a:buSzTx/>
              <a:buNone/>
              <a:defRPr sz="2450" b="1">
                <a:solidFill>
                  <a:srgbClr val="BFBFBF"/>
                </a:solidFill>
              </a:defRPr>
            </a:pPr>
            <a:r>
              <a:t>	</a:t>
            </a:r>
            <a:r>
              <a:rPr b="0"/>
              <a:t>Tools to broadly look at spatial patterns</a:t>
            </a:r>
          </a:p>
          <a:p>
            <a:pPr marL="224027" indent="-224027" defTabSz="896111">
              <a:lnSpc>
                <a:spcPct val="72000"/>
              </a:lnSpc>
              <a:spcBef>
                <a:spcPts val="900"/>
              </a:spcBef>
              <a:defRPr sz="2450" b="1">
                <a:solidFill>
                  <a:srgbClr val="BFBFBF"/>
                </a:solidFill>
              </a:defRPr>
            </a:pPr>
            <a:r>
              <a:t>Modeling</a:t>
            </a:r>
          </a:p>
          <a:p>
            <a:pPr marL="0" indent="0" defTabSz="896111">
              <a:lnSpc>
                <a:spcPct val="72000"/>
              </a:lnSpc>
              <a:spcBef>
                <a:spcPts val="900"/>
              </a:spcBef>
              <a:buSzTx/>
              <a:buNone/>
              <a:defRPr sz="2450" b="1">
                <a:solidFill>
                  <a:srgbClr val="BFBFBF"/>
                </a:solidFill>
              </a:defRPr>
            </a:pPr>
            <a:r>
              <a:t>	</a:t>
            </a:r>
            <a:r>
              <a:rPr b="0"/>
              <a:t>Fitting models, testing  hypothesis, formalizing spatial dependence</a:t>
            </a:r>
          </a:p>
        </p:txBody>
      </p:sp>
      <p:sp>
        <p:nvSpPr>
          <p:cNvPr id="90"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Introduction to spatial analysis:   general concepts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p:cNvSpPr txBox="1">
            <a:spLocks noGrp="1"/>
          </p:cNvSpPr>
          <p:nvPr>
            <p:ph type="body" idx="1"/>
          </p:nvPr>
        </p:nvSpPr>
        <p:spPr>
          <a:xfrm>
            <a:off x="735205" y="1529649"/>
            <a:ext cx="11049001" cy="4834483"/>
          </a:xfrm>
          <a:prstGeom prst="rect">
            <a:avLst/>
          </a:prstGeom>
        </p:spPr>
        <p:txBody>
          <a:bodyPr/>
          <a:lstStyle/>
          <a:p>
            <a:pPr marL="0" indent="0">
              <a:lnSpc>
                <a:spcPct val="72000"/>
              </a:lnSpc>
              <a:buSzTx/>
              <a:buNone/>
              <a:defRPr sz="2300" b="1"/>
            </a:pPr>
            <a:r>
              <a:t>What are spatial data?</a:t>
            </a:r>
          </a:p>
          <a:p>
            <a:pPr>
              <a:lnSpc>
                <a:spcPct val="72000"/>
              </a:lnSpc>
              <a:defRPr sz="2300"/>
            </a:pPr>
            <a:r>
              <a:t>Data that are location specific and that vary in space</a:t>
            </a:r>
          </a:p>
          <a:p>
            <a:pPr>
              <a:lnSpc>
                <a:spcPct val="72000"/>
              </a:lnSpc>
              <a:defRPr sz="2300"/>
            </a:pPr>
            <a:r>
              <a:t>Referenced by a spatial location, s where s = (x,y)</a:t>
            </a:r>
          </a:p>
          <a:p>
            <a:pPr marL="0" lvl="1" indent="457200">
              <a:lnSpc>
                <a:spcPct val="72000"/>
              </a:lnSpc>
              <a:spcBef>
                <a:spcPts val="500"/>
              </a:spcBef>
              <a:buSzTx/>
              <a:buNone/>
              <a:defRPr sz="2200"/>
            </a:pPr>
            <a:r>
              <a:t>x is longitude (easting) and y is latitude (northing)</a:t>
            </a:r>
            <a:endParaRPr sz="2000"/>
          </a:p>
          <a:p>
            <a:pPr>
              <a:lnSpc>
                <a:spcPct val="72000"/>
              </a:lnSpc>
              <a:defRPr sz="2300"/>
            </a:pPr>
            <a:r>
              <a:t>Spatial locations may represent the center of an area   e.g., zip code, county, state</a:t>
            </a:r>
          </a:p>
          <a:p>
            <a:pPr>
              <a:lnSpc>
                <a:spcPct val="72000"/>
              </a:lnSpc>
              <a:defRPr sz="2300"/>
            </a:pPr>
            <a:r>
              <a:t>We typically have multiple spatial locations to examine, denoted as s</a:t>
            </a:r>
            <a:r>
              <a:rPr baseline="-25000"/>
              <a:t>1</a:t>
            </a:r>
            <a:r>
              <a:t>, s</a:t>
            </a:r>
            <a:r>
              <a:rPr baseline="-25000"/>
              <a:t>2</a:t>
            </a:r>
            <a:r>
              <a:t>,…, s</a:t>
            </a:r>
            <a:r>
              <a:rPr baseline="-25000"/>
              <a:t>n</a:t>
            </a:r>
            <a:r>
              <a:t> = (x</a:t>
            </a:r>
            <a:r>
              <a:rPr baseline="-25000"/>
              <a:t>1</a:t>
            </a:r>
            <a:r>
              <a:t>,y</a:t>
            </a:r>
            <a:r>
              <a:rPr baseline="-25000"/>
              <a:t>1</a:t>
            </a:r>
            <a:r>
              <a:t>), (x</a:t>
            </a:r>
            <a:r>
              <a:rPr baseline="-25000"/>
              <a:t>2</a:t>
            </a:r>
            <a:r>
              <a:t>,y</a:t>
            </a:r>
            <a:r>
              <a:rPr baseline="-25000"/>
              <a:t>2</a:t>
            </a:r>
            <a:r>
              <a:t>),…, (x</a:t>
            </a:r>
            <a:r>
              <a:rPr baseline="-25000"/>
              <a:t>n</a:t>
            </a:r>
            <a:r>
              <a:t>, y</a:t>
            </a:r>
            <a:r>
              <a:rPr baseline="-25000"/>
              <a:t>n</a:t>
            </a:r>
            <a:r>
              <a:t>)</a:t>
            </a:r>
          </a:p>
          <a:p>
            <a:pPr>
              <a:lnSpc>
                <a:spcPct val="72000"/>
              </a:lnSpc>
              <a:defRPr sz="2300"/>
            </a:pPr>
            <a:endParaRPr/>
          </a:p>
          <a:p>
            <a:pPr marL="0" indent="0">
              <a:lnSpc>
                <a:spcPct val="72000"/>
              </a:lnSpc>
              <a:buSzTx/>
              <a:buNone/>
              <a:defRPr sz="2300"/>
            </a:pPr>
            <a:r>
              <a:t>In terms of thinking of how to approach the analysis of spatial data, the motto taken is:</a:t>
            </a:r>
          </a:p>
          <a:p>
            <a:pPr marL="0" indent="0">
              <a:lnSpc>
                <a:spcPct val="72000"/>
              </a:lnSpc>
              <a:buSzTx/>
              <a:buNone/>
              <a:defRPr sz="2300" b="1"/>
            </a:pPr>
            <a:r>
              <a:t>Data that are close together in space (time) are often more alike than those that are far apart</a:t>
            </a:r>
          </a:p>
          <a:p>
            <a:pPr marL="0" lvl="1" indent="457200">
              <a:lnSpc>
                <a:spcPct val="72000"/>
              </a:lnSpc>
              <a:spcBef>
                <a:spcPts val="500"/>
              </a:spcBef>
              <a:buSzTx/>
              <a:buNone/>
              <a:defRPr sz="2300"/>
            </a:pPr>
            <a:r>
              <a:t>Often labeled as Tobler’s first law of geography - “everything is related to everything else, but near things are more related than distant things”</a:t>
            </a:r>
          </a:p>
        </p:txBody>
      </p:sp>
      <p:sp>
        <p:nvSpPr>
          <p:cNvPr id="93"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Spatial data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92">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1" nodeType="afterEffect">
                                  <p:stCondLst>
                                    <p:cond delay="0"/>
                                  </p:stCondLst>
                                  <p:iterate>
                                    <p:tmAbs val="0"/>
                                  </p:iterate>
                                  <p:childTnLst>
                                    <p:set>
                                      <p:cBhvr>
                                        <p:cTn id="13" fill="hold"/>
                                        <p:tgtEl>
                                          <p:spTgt spid="92">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1" nodeType="clickEffect">
                                  <p:stCondLst>
                                    <p:cond delay="0"/>
                                  </p:stCondLst>
                                  <p:iterate>
                                    <p:tmAbs val="0"/>
                                  </p:iterate>
                                  <p:childTnLst>
                                    <p:set>
                                      <p:cBhvr>
                                        <p:cTn id="17" fill="hold"/>
                                        <p:tgtEl>
                                          <p:spTgt spid="92">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p:stCondLst>
                                    <p:cond delay="0"/>
                                  </p:stCondLst>
                                  <p:iterate>
                                    <p:tmAbs val="0"/>
                                  </p:iterate>
                                  <p:childTnLst>
                                    <p:set>
                                      <p:cBhvr>
                                        <p:cTn id="21" fill="hold"/>
                                        <p:tgtEl>
                                          <p:spTgt spid="92">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1" nodeType="afterEffect">
                                  <p:stCondLst>
                                    <p:cond delay="0"/>
                                  </p:stCondLst>
                                  <p:iterate>
                                    <p:tmAbs val="0"/>
                                  </p:iterate>
                                  <p:childTnLst>
                                    <p:set>
                                      <p:cBhvr>
                                        <p:cTn id="24" fill="hold"/>
                                        <p:tgtEl>
                                          <p:spTgt spid="9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9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92">
                                            <p:txEl>
                                              <p:pRg st="8" end="8"/>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1" nodeType="afterEffect">
                                  <p:stCondLst>
                                    <p:cond delay="0"/>
                                  </p:stCondLst>
                                  <p:iterate>
                                    <p:tmAbs val="0"/>
                                  </p:iterate>
                                  <p:childTnLst>
                                    <p:set>
                                      <p:cBhvr>
                                        <p:cTn id="35" fill="hold"/>
                                        <p:tgtEl>
                                          <p:spTgt spid="9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1"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Content Placeholder 2"/>
          <p:cNvSpPr txBox="1">
            <a:spLocks noGrp="1"/>
          </p:cNvSpPr>
          <p:nvPr>
            <p:ph type="body" idx="1"/>
          </p:nvPr>
        </p:nvSpPr>
        <p:spPr>
          <a:prstGeom prst="rect">
            <a:avLst/>
          </a:prstGeom>
        </p:spPr>
        <p:txBody>
          <a:bodyPr/>
          <a:lstStyle/>
          <a:p>
            <a:pPr marL="0" indent="0">
              <a:buSzTx/>
              <a:buNone/>
            </a:pPr>
            <a:r>
              <a:t>We can dissect the broad definition of spatial data into three sub-categories.</a:t>
            </a:r>
          </a:p>
          <a:p>
            <a:pPr>
              <a:buClr>
                <a:srgbClr val="C00000"/>
              </a:buClr>
              <a:buSzPct val="70000"/>
              <a:buFont typeface="Helvetica"/>
              <a:buChar char="►"/>
              <a:defRPr b="1"/>
            </a:pPr>
            <a:r>
              <a:t> Point process data</a:t>
            </a:r>
            <a:r>
              <a:rPr b="0"/>
              <a:t> – </a:t>
            </a:r>
            <a:r>
              <a:t>Geostatistical data</a:t>
            </a:r>
          </a:p>
          <a:p>
            <a:pPr>
              <a:buClr>
                <a:srgbClr val="C00000"/>
              </a:buClr>
              <a:buSzPct val="70000"/>
              <a:buFont typeface="Helvetica"/>
              <a:buChar char="►"/>
              <a:defRPr b="1"/>
            </a:pPr>
            <a:r>
              <a:t> Areal data </a:t>
            </a:r>
            <a:r>
              <a:rPr b="0"/>
              <a:t>(sometimes called aggregate data or lattice data) </a:t>
            </a:r>
          </a:p>
          <a:p>
            <a:pPr>
              <a:buClr>
                <a:srgbClr val="C00000"/>
              </a:buClr>
              <a:buSzPct val="70000"/>
              <a:buFont typeface="Helvetica"/>
              <a:buChar char="►"/>
              <a:defRPr b="1"/>
            </a:pPr>
            <a:r>
              <a:t> Point pattern data</a:t>
            </a:r>
          </a:p>
          <a:p>
            <a:pPr marL="0" indent="0">
              <a:buSzTx/>
              <a:buNone/>
            </a:pPr>
            <a:r>
              <a:t>There are specific statistical analyses for each of these types of spatial data. </a:t>
            </a:r>
          </a:p>
        </p:txBody>
      </p:sp>
      <p:sp>
        <p:nvSpPr>
          <p:cNvPr id="96"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Types of Spatial data</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ontent Placeholder 2"/>
          <p:cNvSpPr txBox="1">
            <a:spLocks noGrp="1"/>
          </p:cNvSpPr>
          <p:nvPr>
            <p:ph type="body" idx="1"/>
          </p:nvPr>
        </p:nvSpPr>
        <p:spPr>
          <a:prstGeom prst="rect">
            <a:avLst/>
          </a:prstGeom>
        </p:spPr>
        <p:txBody>
          <a:bodyPr/>
          <a:lstStyle/>
          <a:p>
            <a:pPr marL="0" indent="0">
              <a:buSzTx/>
              <a:buNone/>
              <a:defRPr b="1"/>
            </a:pPr>
            <a:endParaRPr/>
          </a:p>
          <a:p>
            <a:pPr marL="0" indent="0">
              <a:buSzTx/>
              <a:buNone/>
              <a:defRPr b="1"/>
            </a:pPr>
            <a:endParaRPr/>
          </a:p>
          <a:p>
            <a:pPr marL="0" indent="0">
              <a:buSzTx/>
              <a:buNone/>
              <a:defRPr b="1"/>
            </a:pPr>
            <a:r>
              <a:t>		Geostatistical data (point process)</a:t>
            </a:r>
          </a:p>
        </p:txBody>
      </p:sp>
      <p:sp>
        <p:nvSpPr>
          <p:cNvPr id="99"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Types of Spatial data</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Geostatistical Data: Example</a:t>
            </a:r>
          </a:p>
        </p:txBody>
      </p:sp>
      <p:pic>
        <p:nvPicPr>
          <p:cNvPr id="102" name="Picture 6" descr="Picture 6"/>
          <p:cNvPicPr>
            <a:picLocks noChangeAspect="1"/>
          </p:cNvPicPr>
          <p:nvPr/>
        </p:nvPicPr>
        <p:blipFill>
          <a:blip r:embed="rId2"/>
          <a:stretch>
            <a:fillRect/>
          </a:stretch>
        </p:blipFill>
        <p:spPr>
          <a:xfrm>
            <a:off x="2207941" y="1612444"/>
            <a:ext cx="7161095" cy="4880432"/>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Geostatistical Data: Example</a:t>
            </a:r>
          </a:p>
        </p:txBody>
      </p:sp>
      <p:sp>
        <p:nvSpPr>
          <p:cNvPr id="105" name="Content Placeholder 1"/>
          <p:cNvSpPr txBox="1">
            <a:spLocks noGrp="1"/>
          </p:cNvSpPr>
          <p:nvPr>
            <p:ph type="body" idx="1"/>
          </p:nvPr>
        </p:nvSpPr>
        <p:spPr>
          <a:prstGeom prst="rect">
            <a:avLst/>
          </a:prstGeom>
        </p:spPr>
        <p:txBody>
          <a:bodyPr/>
          <a:lstStyle/>
          <a:p>
            <a:pPr marL="0" indent="0">
              <a:buSzTx/>
              <a:buNone/>
              <a:defRPr b="1"/>
            </a:pPr>
            <a:r>
              <a:t>Data that vary continuously over space, but measured only at discrete locations</a:t>
            </a:r>
          </a:p>
          <a:p>
            <a:pPr marL="0" indent="0">
              <a:buSzTx/>
              <a:buNone/>
            </a:pPr>
            <a:r>
              <a:t>Examples:</a:t>
            </a:r>
          </a:p>
          <a:p>
            <a:r>
              <a:t>housing prices in a metropolitan area</a:t>
            </a:r>
          </a:p>
          <a:p>
            <a:r>
              <a:t>field observations such as soil samples, air pollution measurements (environmental exposures)</a:t>
            </a:r>
          </a:p>
          <a:p>
            <a:r>
              <a:t>meteorological and climate data</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Visualizing Geostatistical Data</a:t>
            </a:r>
          </a:p>
        </p:txBody>
      </p:sp>
      <p:sp>
        <p:nvSpPr>
          <p:cNvPr id="108" name="Content Placeholder 1"/>
          <p:cNvSpPr txBox="1">
            <a:spLocks noGrp="1"/>
          </p:cNvSpPr>
          <p:nvPr>
            <p:ph type="body" idx="1"/>
          </p:nvPr>
        </p:nvSpPr>
        <p:spPr>
          <a:xfrm>
            <a:off x="838200" y="1825625"/>
            <a:ext cx="10844284" cy="4351338"/>
          </a:xfrm>
          <a:prstGeom prst="rect">
            <a:avLst/>
          </a:prstGeom>
        </p:spPr>
        <p:txBody>
          <a:bodyPr/>
          <a:lstStyle/>
          <a:p>
            <a:r>
              <a:t>The components of geostatistical data are: </a:t>
            </a:r>
          </a:p>
          <a:p>
            <a:pPr marL="685800" lvl="1" indent="-228600">
              <a:spcBef>
                <a:spcPts val="500"/>
              </a:spcBef>
              <a:defRPr sz="2400"/>
            </a:pPr>
            <a:r>
              <a:t>the locations (s</a:t>
            </a:r>
            <a:r>
              <a:rPr baseline="-25000"/>
              <a:t>i</a:t>
            </a:r>
            <a:r>
              <a:t>)</a:t>
            </a:r>
          </a:p>
          <a:p>
            <a:pPr marL="685800" lvl="1" indent="-228600">
              <a:spcBef>
                <a:spcPts val="500"/>
              </a:spcBef>
              <a:defRPr sz="2400"/>
            </a:pPr>
            <a:r>
              <a:t>the measurements at each location (z</a:t>
            </a:r>
            <a:r>
              <a:rPr baseline="-25000"/>
              <a:t>s</a:t>
            </a:r>
            <a:r>
              <a:t>)</a:t>
            </a:r>
          </a:p>
          <a:p>
            <a:r>
              <a:t>The best way to visualize these data is to display on a map and differentiate the values of the measurements of interest by color or size</a:t>
            </a:r>
          </a:p>
          <a:p>
            <a:pPr marL="0" indent="0">
              <a:buSzTx/>
              <a:buNone/>
            </a:pPr>
            <a:endParaRPr/>
          </a:p>
          <a:p>
            <a:pPr marL="0" indent="0">
              <a:buSzTx/>
              <a:buNone/>
            </a:pPr>
            <a:r>
              <a:t>Let’s examine field observations of air pollution measurements in the northeast US.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iterate>
                                    <p:tmAbs val="0"/>
                                  </p:iterate>
                                  <p:childTnLst>
                                    <p:set>
                                      <p:cBhvr>
                                        <p:cTn id="6" fill="hold"/>
                                        <p:tgtEl>
                                          <p:spTgt spid="108">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1" nodeType="afterEffect">
                                  <p:stCondLst>
                                    <p:cond delay="0"/>
                                  </p:stCondLst>
                                  <p:iterate>
                                    <p:tmAbs val="0"/>
                                  </p:iterate>
                                  <p:childTnLst>
                                    <p:set>
                                      <p:cBhvr>
                                        <p:cTn id="9" fill="hold"/>
                                        <p:tgtEl>
                                          <p:spTgt spid="108">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1" nodeType="clickEffect">
                                  <p:stCondLst>
                                    <p:cond delay="0"/>
                                  </p:stCondLst>
                                  <p:iterate>
                                    <p:tmAbs val="0"/>
                                  </p:iterate>
                                  <p:childTnLst>
                                    <p:set>
                                      <p:cBhvr>
                                        <p:cTn id="13" fill="hold"/>
                                        <p:tgtEl>
                                          <p:spTgt spid="108">
                                            <p:txEl>
                                              <p:pRg st="3" end="3"/>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1" nodeType="afterEffect">
                                  <p:stCondLst>
                                    <p:cond delay="0"/>
                                  </p:stCondLst>
                                  <p:iterate>
                                    <p:tmAbs val="0"/>
                                  </p:iterate>
                                  <p:childTnLst>
                                    <p:set>
                                      <p:cBhvr>
                                        <p:cTn id="16" fill="hold"/>
                                        <p:tgtEl>
                                          <p:spTgt spid="10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0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1"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ontent Placeholder 1"/>
          <p:cNvSpPr txBox="1">
            <a:spLocks noGrp="1"/>
          </p:cNvSpPr>
          <p:nvPr>
            <p:ph type="body" sz="half" idx="1"/>
          </p:nvPr>
        </p:nvSpPr>
        <p:spPr>
          <a:xfrm>
            <a:off x="838200" y="1825625"/>
            <a:ext cx="5439937" cy="4351338"/>
          </a:xfrm>
          <a:prstGeom prst="rect">
            <a:avLst/>
          </a:prstGeom>
        </p:spPr>
        <p:txBody>
          <a:bodyPr/>
          <a:lstStyle/>
          <a:p>
            <a:pPr marL="0" indent="0">
              <a:buSzTx/>
              <a:buNone/>
            </a:pPr>
            <a:r>
              <a:t>We display:</a:t>
            </a:r>
          </a:p>
          <a:p>
            <a:r>
              <a:t>The points, which are air pollution monitors </a:t>
            </a:r>
          </a:p>
          <a:p>
            <a:r>
              <a:t>The monthly average PM</a:t>
            </a:r>
            <a:r>
              <a:rPr baseline="-25000"/>
              <a:t>2.5</a:t>
            </a:r>
            <a:r>
              <a:t> concentration. Color coded using a gradient from blue (low) to red (high)</a:t>
            </a:r>
          </a:p>
        </p:txBody>
      </p:sp>
      <p:pic>
        <p:nvPicPr>
          <p:cNvPr id="111" name="Picture 4" descr="Picture 4"/>
          <p:cNvPicPr>
            <a:picLocks noChangeAspect="1"/>
          </p:cNvPicPr>
          <p:nvPr/>
        </p:nvPicPr>
        <p:blipFill>
          <a:blip r:embed="rId2"/>
          <a:stretch>
            <a:fillRect/>
          </a:stretch>
        </p:blipFill>
        <p:spPr>
          <a:xfrm>
            <a:off x="6359304" y="233796"/>
            <a:ext cx="5832696" cy="6390408"/>
          </a:xfrm>
          <a:prstGeom prst="rect">
            <a:avLst/>
          </a:prstGeom>
          <a:ln w="12700">
            <a:miter lim="400000"/>
          </a:ln>
        </p:spPr>
      </p:pic>
      <p:sp>
        <p:nvSpPr>
          <p:cNvPr id="112" name="Title 1"/>
          <p:cNvSpPr txBox="1">
            <a:spLocks noGrp="1"/>
          </p:cNvSpPr>
          <p:nvPr>
            <p:ph type="title"/>
          </p:nvPr>
        </p:nvSpPr>
        <p:spPr>
          <a:xfrm>
            <a:off x="320633" y="18255"/>
            <a:ext cx="10515601" cy="1325563"/>
          </a:xfrm>
          <a:prstGeom prst="rect">
            <a:avLst/>
          </a:prstGeom>
        </p:spPr>
        <p:txBody>
          <a:bodyPr/>
          <a:lstStyle>
            <a:lvl1pPr>
              <a:defRPr sz="4000">
                <a:solidFill>
                  <a:srgbClr val="990000"/>
                </a:solidFill>
                <a:latin typeface="+mj-lt"/>
                <a:ea typeface="+mj-ea"/>
                <a:cs typeface="+mj-cs"/>
                <a:sym typeface="Calibri"/>
              </a:defRPr>
            </a:lvl1pPr>
          </a:lstStyle>
          <a:p>
            <a:r>
              <a:t>Visualizing Geostatistical Data</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Picture 5" descr="Picture 5"/>
          <p:cNvPicPr>
            <a:picLocks noChangeAspect="1"/>
          </p:cNvPicPr>
          <p:nvPr/>
        </p:nvPicPr>
        <p:blipFill>
          <a:blip r:embed="rId2"/>
          <a:stretch>
            <a:fillRect/>
          </a:stretch>
        </p:blipFill>
        <p:spPr>
          <a:xfrm>
            <a:off x="6332561" y="72847"/>
            <a:ext cx="5935378" cy="7105875"/>
          </a:xfrm>
          <a:prstGeom prst="rect">
            <a:avLst/>
          </a:prstGeom>
          <a:ln w="12700">
            <a:miter lim="400000"/>
          </a:ln>
        </p:spPr>
      </p:pic>
      <p:sp>
        <p:nvSpPr>
          <p:cNvPr id="115" name="Title 1"/>
          <p:cNvSpPr txBox="1">
            <a:spLocks noGrp="1"/>
          </p:cNvSpPr>
          <p:nvPr>
            <p:ph type="title"/>
          </p:nvPr>
        </p:nvSpPr>
        <p:spPr>
          <a:xfrm>
            <a:off x="320633" y="18255"/>
            <a:ext cx="10515601" cy="1325563"/>
          </a:xfrm>
          <a:prstGeom prst="rect">
            <a:avLst/>
          </a:prstGeom>
        </p:spPr>
        <p:txBody>
          <a:bodyPr/>
          <a:lstStyle>
            <a:lvl1pPr>
              <a:defRPr sz="4000">
                <a:solidFill>
                  <a:srgbClr val="990000"/>
                </a:solidFill>
                <a:latin typeface="+mj-lt"/>
                <a:ea typeface="+mj-ea"/>
                <a:cs typeface="+mj-cs"/>
                <a:sym typeface="Calibri"/>
              </a:defRPr>
            </a:lvl1pPr>
          </a:lstStyle>
          <a:p>
            <a:r>
              <a:t>Visualizing Geostatistical Data</a:t>
            </a:r>
          </a:p>
        </p:txBody>
      </p:sp>
      <p:sp>
        <p:nvSpPr>
          <p:cNvPr id="116" name="Content Placeholder 1"/>
          <p:cNvSpPr txBox="1">
            <a:spLocks noGrp="1"/>
          </p:cNvSpPr>
          <p:nvPr>
            <p:ph type="body" sz="half" idx="1"/>
          </p:nvPr>
        </p:nvSpPr>
        <p:spPr>
          <a:xfrm>
            <a:off x="838199" y="1825625"/>
            <a:ext cx="5617193" cy="4351338"/>
          </a:xfrm>
          <a:prstGeom prst="rect">
            <a:avLst/>
          </a:prstGeom>
        </p:spPr>
        <p:txBody>
          <a:bodyPr/>
          <a:lstStyle/>
          <a:p>
            <a:pPr marL="0" indent="0">
              <a:buSzTx/>
              <a:buNone/>
            </a:pPr>
            <a:r>
              <a:t>Instead of using colors, we can display the points as gradients in size:</a:t>
            </a:r>
          </a:p>
          <a:p>
            <a:pPr marL="514350" indent="-514350">
              <a:buClr>
                <a:srgbClr val="C00000"/>
              </a:buClr>
              <a:buFontTx/>
              <a:buAutoNum type="arabicPeriod"/>
            </a:pPr>
            <a:r>
              <a:t>the points are air pollution monitors </a:t>
            </a:r>
          </a:p>
          <a:p>
            <a:pPr marL="514350" indent="-514350">
              <a:buClr>
                <a:srgbClr val="C00000"/>
              </a:buClr>
              <a:buFontTx/>
              <a:buAutoNum type="arabicPeriod"/>
            </a:pPr>
            <a:r>
              <a:t>the monthly average PM</a:t>
            </a:r>
            <a:r>
              <a:rPr baseline="-25000"/>
              <a:t>2.5</a:t>
            </a:r>
            <a:r>
              <a:t> concentration where larger circles represent higher concentrations, smaller circles are lower concentrations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Visualizing Geostatistical Data</a:t>
            </a:r>
          </a:p>
        </p:txBody>
      </p:sp>
      <p:sp>
        <p:nvSpPr>
          <p:cNvPr id="119" name="Content Placeholder 1"/>
          <p:cNvSpPr txBox="1">
            <a:spLocks noGrp="1"/>
          </p:cNvSpPr>
          <p:nvPr>
            <p:ph type="body" sz="quarter" idx="1"/>
          </p:nvPr>
        </p:nvSpPr>
        <p:spPr>
          <a:xfrm>
            <a:off x="838199" y="1435331"/>
            <a:ext cx="11015548" cy="928728"/>
          </a:xfrm>
          <a:prstGeom prst="rect">
            <a:avLst/>
          </a:prstGeom>
        </p:spPr>
        <p:txBody>
          <a:bodyPr/>
          <a:lstStyle/>
          <a:p>
            <a:pPr marL="221742" indent="-221742" defTabSz="886968">
              <a:lnSpc>
                <a:spcPct val="81000"/>
              </a:lnSpc>
              <a:spcBef>
                <a:spcPts val="900"/>
              </a:spcBef>
              <a:defRPr sz="2716"/>
            </a:pPr>
            <a:r>
              <a:t>Adding a basemap helps provide a spatial reference frame</a:t>
            </a:r>
          </a:p>
          <a:p>
            <a:pPr marL="221742" indent="-221742" defTabSz="886968">
              <a:lnSpc>
                <a:spcPct val="81000"/>
              </a:lnSpc>
              <a:spcBef>
                <a:spcPts val="900"/>
              </a:spcBef>
              <a:defRPr sz="2716"/>
            </a:pPr>
            <a:r>
              <a:t>Adding a legend helps provide context for what is being mapped</a:t>
            </a:r>
          </a:p>
        </p:txBody>
      </p:sp>
      <p:pic>
        <p:nvPicPr>
          <p:cNvPr id="120" name="Picture 4" descr="Picture 4"/>
          <p:cNvPicPr>
            <a:picLocks noChangeAspect="1"/>
          </p:cNvPicPr>
          <p:nvPr/>
        </p:nvPicPr>
        <p:blipFill>
          <a:blip r:embed="rId2"/>
          <a:stretch>
            <a:fillRect/>
          </a:stretch>
        </p:blipFill>
        <p:spPr>
          <a:xfrm>
            <a:off x="2377322" y="2364058"/>
            <a:ext cx="7772401" cy="4747016"/>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Visualizing Geostatistical Data in R</a:t>
            </a:r>
          </a:p>
        </p:txBody>
      </p:sp>
      <p:sp>
        <p:nvSpPr>
          <p:cNvPr id="123" name="Content Placeholder 5"/>
          <p:cNvSpPr txBox="1">
            <a:spLocks noGrp="1"/>
          </p:cNvSpPr>
          <p:nvPr>
            <p:ph type="body" idx="1"/>
          </p:nvPr>
        </p:nvSpPr>
        <p:spPr>
          <a:xfrm>
            <a:off x="838200" y="2542477"/>
            <a:ext cx="10515600" cy="3634485"/>
          </a:xfrm>
          <a:prstGeom prst="rect">
            <a:avLst/>
          </a:prstGeom>
        </p:spPr>
        <p:txBody>
          <a:bodyPr/>
          <a:lstStyle/>
          <a:p>
            <a:r>
              <a:t>The leaflet package is very useful for generating interactive maps</a:t>
            </a:r>
          </a:p>
          <a:p>
            <a:r>
              <a:t>Let’s build a couple of maps for </a:t>
            </a:r>
          </a:p>
          <a:p>
            <a:pPr marL="914400" lvl="1" indent="-457200">
              <a:spcBef>
                <a:spcPts val="500"/>
              </a:spcBef>
              <a:buFontTx/>
              <a:buAutoNum type="arabicParenR"/>
              <a:defRPr sz="2400"/>
            </a:pPr>
            <a:r>
              <a:t>Northeast city populations and </a:t>
            </a:r>
          </a:p>
          <a:p>
            <a:pPr marL="914400" lvl="1" indent="-457200">
              <a:spcBef>
                <a:spcPts val="500"/>
              </a:spcBef>
              <a:buFontTx/>
              <a:buAutoNum type="arabicParenR"/>
              <a:defRPr sz="2400"/>
            </a:pPr>
            <a:r>
              <a:t>Air pollutant data in California</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Exploring and Modeling Geostatistical Data</a:t>
            </a:r>
          </a:p>
        </p:txBody>
      </p:sp>
      <p:sp>
        <p:nvSpPr>
          <p:cNvPr id="126" name="Content Placeholder 5"/>
          <p:cNvSpPr txBox="1">
            <a:spLocks noGrp="1"/>
          </p:cNvSpPr>
          <p:nvPr>
            <p:ph type="body" idx="1"/>
          </p:nvPr>
        </p:nvSpPr>
        <p:spPr>
          <a:xfrm>
            <a:off x="838200" y="1690688"/>
            <a:ext cx="10515600" cy="4802188"/>
          </a:xfrm>
          <a:prstGeom prst="rect">
            <a:avLst/>
          </a:prstGeom>
        </p:spPr>
        <p:txBody>
          <a:bodyPr/>
          <a:lstStyle/>
          <a:p>
            <a:pPr marL="0" indent="0">
              <a:buSzTx/>
              <a:buNone/>
              <a:defRPr b="1"/>
            </a:pPr>
            <a:r>
              <a:t>Goals of spatial statistics applied to geostatistical (point referenced)  data</a:t>
            </a:r>
          </a:p>
          <a:p>
            <a:r>
              <a:t>Explore the spatial pattern in the observations</a:t>
            </a:r>
          </a:p>
          <a:p>
            <a:r>
              <a:t>Quantify the spatial pattern with a function</a:t>
            </a:r>
          </a:p>
          <a:p>
            <a:r>
              <a:t>Model the spatial correlation in the observations</a:t>
            </a:r>
          </a:p>
          <a:p>
            <a:r>
              <a:t>Make predictions at unobserved locations: interpolation, smoothing</a:t>
            </a:r>
          </a:p>
          <a:p>
            <a:pPr marL="0" indent="0">
              <a:buSzTx/>
              <a:buNone/>
            </a:pPr>
            <a:r>
              <a:t>Additional considerations:</a:t>
            </a:r>
          </a:p>
          <a:p>
            <a:r>
              <a:t>Account for spatial structure in regression models</a:t>
            </a:r>
          </a:p>
          <a:p>
            <a:r>
              <a:t>Test a null hypothesis of no spatial correlation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2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2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26">
                                            <p:txEl>
                                              <p:pRg st="5" end="5"/>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1" nodeType="afterEffect">
                                  <p:stCondLst>
                                    <p:cond delay="0"/>
                                  </p:stCondLst>
                                  <p:iterate>
                                    <p:tmAbs val="0"/>
                                  </p:iterate>
                                  <p:childTnLst>
                                    <p:set>
                                      <p:cBhvr>
                                        <p:cTn id="25" fill="hold"/>
                                        <p:tgtEl>
                                          <p:spTgt spid="126">
                                            <p:txEl>
                                              <p:pRg st="6" end="6"/>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1" nodeType="afterEffect">
                                  <p:stCondLst>
                                    <p:cond delay="0"/>
                                  </p:stCondLst>
                                  <p:iterate>
                                    <p:tmAbs val="0"/>
                                  </p:iterate>
                                  <p:childTnLst>
                                    <p:set>
                                      <p:cBhvr>
                                        <p:cTn id="28" fill="hold"/>
                                        <p:tgtEl>
                                          <p:spTgt spid="1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1"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Exploring and Modeling Geostatistical Data</a:t>
            </a:r>
          </a:p>
        </p:txBody>
      </p:sp>
      <p:sp>
        <p:nvSpPr>
          <p:cNvPr id="129" name="Content Placeholder 5"/>
          <p:cNvSpPr txBox="1">
            <a:spLocks noGrp="1"/>
          </p:cNvSpPr>
          <p:nvPr>
            <p:ph type="body" sz="quarter" idx="1"/>
          </p:nvPr>
        </p:nvSpPr>
        <p:spPr>
          <a:xfrm>
            <a:off x="838200" y="1690688"/>
            <a:ext cx="10515600" cy="967846"/>
          </a:xfrm>
          <a:prstGeom prst="rect">
            <a:avLst/>
          </a:prstGeom>
        </p:spPr>
        <p:txBody>
          <a:bodyPr/>
          <a:lstStyle>
            <a:lvl1pPr marL="0" indent="0">
              <a:buSzTx/>
              <a:buNone/>
            </a:lvl1pPr>
          </a:lstStyle>
          <a:p>
            <a:r>
              <a:t>For example, interpolating temperature data from the point measurements can give a map like this</a:t>
            </a:r>
          </a:p>
        </p:txBody>
      </p:sp>
      <p:pic>
        <p:nvPicPr>
          <p:cNvPr id="130" name="Picture 1" descr="Picture 1"/>
          <p:cNvPicPr>
            <a:picLocks noChangeAspect="1"/>
          </p:cNvPicPr>
          <p:nvPr/>
        </p:nvPicPr>
        <p:blipFill>
          <a:blip r:embed="rId2"/>
          <a:stretch>
            <a:fillRect/>
          </a:stretch>
        </p:blipFill>
        <p:spPr>
          <a:xfrm>
            <a:off x="3014134" y="2503831"/>
            <a:ext cx="7870339" cy="4147882"/>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Types of Spatial Data</a:t>
            </a:r>
          </a:p>
        </p:txBody>
      </p:sp>
      <p:sp>
        <p:nvSpPr>
          <p:cNvPr id="133" name="Content Placeholder 5"/>
          <p:cNvSpPr txBox="1">
            <a:spLocks noGrp="1"/>
          </p:cNvSpPr>
          <p:nvPr>
            <p:ph type="body" sz="quarter" idx="1"/>
          </p:nvPr>
        </p:nvSpPr>
        <p:spPr>
          <a:xfrm>
            <a:off x="4910666" y="2945077"/>
            <a:ext cx="6443134" cy="967846"/>
          </a:xfrm>
          <a:prstGeom prst="rect">
            <a:avLst/>
          </a:prstGeom>
        </p:spPr>
        <p:txBody>
          <a:bodyPr/>
          <a:lstStyle>
            <a:lvl1pPr marL="0" indent="0">
              <a:buSzTx/>
              <a:buNone/>
            </a:lvl1pPr>
          </a:lstStyle>
          <a:p>
            <a:r>
              <a:t>AREAL DATA</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itle 1"/>
          <p:cNvSpPr txBox="1">
            <a:spLocks noGrp="1"/>
          </p:cNvSpPr>
          <p:nvPr>
            <p:ph type="title"/>
          </p:nvPr>
        </p:nvSpPr>
        <p:spPr>
          <a:xfrm>
            <a:off x="474132" y="-41275"/>
            <a:ext cx="10041467" cy="1325563"/>
          </a:xfrm>
          <a:prstGeom prst="rect">
            <a:avLst/>
          </a:prstGeom>
        </p:spPr>
        <p:txBody>
          <a:bodyPr/>
          <a:lstStyle>
            <a:lvl1pPr>
              <a:defRPr sz="4000">
                <a:solidFill>
                  <a:srgbClr val="990000"/>
                </a:solidFill>
                <a:latin typeface="+mj-lt"/>
                <a:ea typeface="+mj-ea"/>
                <a:cs typeface="+mj-cs"/>
                <a:sym typeface="Calibri"/>
              </a:defRPr>
            </a:lvl1pPr>
          </a:lstStyle>
          <a:p>
            <a:r>
              <a:t>Areal Data:  Example 1</a:t>
            </a:r>
          </a:p>
        </p:txBody>
      </p:sp>
      <p:sp>
        <p:nvSpPr>
          <p:cNvPr id="136" name="Content Placeholder 5"/>
          <p:cNvSpPr txBox="1">
            <a:spLocks noGrp="1"/>
          </p:cNvSpPr>
          <p:nvPr>
            <p:ph type="body" sz="quarter" idx="1"/>
          </p:nvPr>
        </p:nvSpPr>
        <p:spPr>
          <a:xfrm>
            <a:off x="3386666" y="5525029"/>
            <a:ext cx="6443134" cy="967846"/>
          </a:xfrm>
          <a:prstGeom prst="rect">
            <a:avLst/>
          </a:prstGeom>
        </p:spPr>
        <p:txBody>
          <a:bodyPr/>
          <a:lstStyle>
            <a:lvl1pPr marL="0" indent="0">
              <a:buSzTx/>
              <a:buNone/>
            </a:lvl1pPr>
          </a:lstStyle>
          <a:p>
            <a:r>
              <a:t>AREAL DATA</a:t>
            </a:r>
          </a:p>
        </p:txBody>
      </p:sp>
      <p:pic>
        <p:nvPicPr>
          <p:cNvPr id="137" name="Picture 1" descr="Picture 1"/>
          <p:cNvPicPr>
            <a:picLocks noChangeAspect="1"/>
          </p:cNvPicPr>
          <p:nvPr/>
        </p:nvPicPr>
        <p:blipFill>
          <a:blip r:embed="rId2"/>
          <a:stretch>
            <a:fillRect/>
          </a:stretch>
        </p:blipFill>
        <p:spPr>
          <a:xfrm>
            <a:off x="2935815" y="1145115"/>
            <a:ext cx="6320368" cy="5039214"/>
          </a:xfrm>
          <a:prstGeom prst="rect">
            <a:avLst/>
          </a:prstGeom>
          <a:ln w="12700">
            <a:miter lim="400000"/>
          </a:ln>
        </p:spPr>
      </p:pic>
      <p:sp>
        <p:nvSpPr>
          <p:cNvPr id="138" name="TextBox 2"/>
          <p:cNvSpPr txBox="1"/>
          <p:nvPr/>
        </p:nvSpPr>
        <p:spPr>
          <a:xfrm>
            <a:off x="4035469" y="6308209"/>
            <a:ext cx="4088344"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https://maps.latimes.com/neighborhoods/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itle 1"/>
          <p:cNvSpPr txBox="1">
            <a:spLocks noGrp="1"/>
          </p:cNvSpPr>
          <p:nvPr>
            <p:ph type="title"/>
          </p:nvPr>
        </p:nvSpPr>
        <p:spPr>
          <a:xfrm>
            <a:off x="474132" y="-41275"/>
            <a:ext cx="10041467" cy="1325563"/>
          </a:xfrm>
          <a:prstGeom prst="rect">
            <a:avLst/>
          </a:prstGeom>
        </p:spPr>
        <p:txBody>
          <a:bodyPr/>
          <a:lstStyle>
            <a:lvl1pPr>
              <a:defRPr sz="4000">
                <a:solidFill>
                  <a:srgbClr val="990000"/>
                </a:solidFill>
                <a:latin typeface="+mj-lt"/>
                <a:ea typeface="+mj-ea"/>
                <a:cs typeface="+mj-cs"/>
                <a:sym typeface="Calibri"/>
              </a:defRPr>
            </a:lvl1pPr>
          </a:lstStyle>
          <a:p>
            <a:r>
              <a:t>Areal Data:  Example 2</a:t>
            </a:r>
          </a:p>
        </p:txBody>
      </p:sp>
      <p:sp>
        <p:nvSpPr>
          <p:cNvPr id="141" name="TextBox 2"/>
          <p:cNvSpPr txBox="1"/>
          <p:nvPr/>
        </p:nvSpPr>
        <p:spPr>
          <a:xfrm>
            <a:off x="1197184" y="6317217"/>
            <a:ext cx="9861710" cy="332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latin typeface="+mn-lt"/>
                <a:ea typeface="+mn-ea"/>
                <a:cs typeface="+mn-cs"/>
                <a:sym typeface="Helvetica"/>
              </a:defRPr>
            </a:lvl1pPr>
          </a:lstStyle>
          <a:p>
            <a:r>
              <a:rPr dirty="0"/>
              <a:t>https://</a:t>
            </a:r>
            <a:r>
              <a:rPr dirty="0" err="1"/>
              <a:t>www.nytimes.com</a:t>
            </a:r>
            <a:r>
              <a:rPr dirty="0"/>
              <a:t>/interactive/2016/12/26/upshot/duck-dynasty-vs-modern-family-television-</a:t>
            </a:r>
            <a:r>
              <a:rPr dirty="0" err="1"/>
              <a:t>maps.html</a:t>
            </a:r>
            <a:endParaRPr dirty="0"/>
          </a:p>
        </p:txBody>
      </p:sp>
      <p:pic>
        <p:nvPicPr>
          <p:cNvPr id="142" name="Picture 4" descr="Picture 4"/>
          <p:cNvPicPr>
            <a:picLocks noChangeAspect="1"/>
          </p:cNvPicPr>
          <p:nvPr/>
        </p:nvPicPr>
        <p:blipFill>
          <a:blip r:embed="rId2"/>
          <a:stretch>
            <a:fillRect/>
          </a:stretch>
        </p:blipFill>
        <p:spPr>
          <a:xfrm>
            <a:off x="2701925" y="1012360"/>
            <a:ext cx="6788150" cy="5295850"/>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Areal Data:  Description</a:t>
            </a:r>
          </a:p>
        </p:txBody>
      </p:sp>
      <p:sp>
        <p:nvSpPr>
          <p:cNvPr id="145" name="Content Placeholder 1"/>
          <p:cNvSpPr txBox="1">
            <a:spLocks noGrp="1"/>
          </p:cNvSpPr>
          <p:nvPr>
            <p:ph type="body" idx="1"/>
          </p:nvPr>
        </p:nvSpPr>
        <p:spPr>
          <a:prstGeom prst="rect">
            <a:avLst/>
          </a:prstGeom>
        </p:spPr>
        <p:txBody>
          <a:bodyPr/>
          <a:lstStyle/>
          <a:p>
            <a:pPr>
              <a:defRPr>
                <a:latin typeface="+mn-lt"/>
                <a:ea typeface="+mn-ea"/>
                <a:cs typeface="+mn-cs"/>
                <a:sym typeface="Helvetica"/>
              </a:defRPr>
            </a:pPr>
            <a:r>
              <a:t>Data are associated with an area and are aggregate in nature</a:t>
            </a:r>
          </a:p>
          <a:p>
            <a:pPr>
              <a:defRPr>
                <a:latin typeface="+mn-lt"/>
                <a:ea typeface="+mn-ea"/>
                <a:cs typeface="+mn-cs"/>
                <a:sym typeface="Helvetica"/>
              </a:defRPr>
            </a:pPr>
            <a:r>
              <a:t>Areal units tend to be irregular in shape (e.g., zip code, county) but can be regular grids (e.g., remote sensing data)</a:t>
            </a:r>
          </a:p>
          <a:p>
            <a:pPr>
              <a:defRPr>
                <a:latin typeface="+mn-lt"/>
                <a:ea typeface="+mn-ea"/>
                <a:cs typeface="+mn-cs"/>
                <a:sym typeface="Helvetica"/>
              </a:defRPr>
            </a:pPr>
            <a:r>
              <a:t>Information collected in areal units may be census related, health related, environmental (satellite estimates of air pollution)</a:t>
            </a:r>
          </a:p>
          <a:p>
            <a:pPr>
              <a:defRPr>
                <a:latin typeface="+mn-lt"/>
                <a:ea typeface="+mn-ea"/>
                <a:cs typeface="+mn-cs"/>
                <a:sym typeface="Helvetica"/>
              </a:defRPr>
            </a:pPr>
            <a:r>
              <a:t>We want to determine spatial pattern of areal units within a region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4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4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Picture 4" descr="Picture 4"/>
          <p:cNvPicPr>
            <a:picLocks noChangeAspect="1"/>
          </p:cNvPicPr>
          <p:nvPr/>
        </p:nvPicPr>
        <p:blipFill>
          <a:blip r:embed="rId2"/>
          <a:stretch>
            <a:fillRect/>
          </a:stretch>
        </p:blipFill>
        <p:spPr>
          <a:xfrm>
            <a:off x="5570880" y="1027905"/>
            <a:ext cx="6621120" cy="4750199"/>
          </a:xfrm>
          <a:prstGeom prst="rect">
            <a:avLst/>
          </a:prstGeom>
          <a:ln w="12700">
            <a:miter lim="400000"/>
          </a:ln>
        </p:spPr>
      </p:pic>
      <p:sp>
        <p:nvSpPr>
          <p:cNvPr id="148" name="Title 1"/>
          <p:cNvSpPr txBox="1">
            <a:spLocks noGrp="1"/>
          </p:cNvSpPr>
          <p:nvPr>
            <p:ph type="title"/>
          </p:nvPr>
        </p:nvSpPr>
        <p:spPr>
          <a:xfrm>
            <a:off x="397696" y="0"/>
            <a:ext cx="10515601" cy="1325563"/>
          </a:xfrm>
          <a:prstGeom prst="rect">
            <a:avLst/>
          </a:prstGeom>
        </p:spPr>
        <p:txBody>
          <a:bodyPr/>
          <a:lstStyle>
            <a:lvl1pPr>
              <a:defRPr sz="4000">
                <a:solidFill>
                  <a:srgbClr val="990000"/>
                </a:solidFill>
                <a:latin typeface="+mj-lt"/>
                <a:ea typeface="+mj-ea"/>
                <a:cs typeface="+mj-cs"/>
                <a:sym typeface="Calibri"/>
              </a:defRPr>
            </a:lvl1pPr>
          </a:lstStyle>
          <a:p>
            <a:r>
              <a:t>Visualizing Areal Data</a:t>
            </a:r>
          </a:p>
        </p:txBody>
      </p:sp>
      <p:sp>
        <p:nvSpPr>
          <p:cNvPr id="149" name="Content Placeholder 1"/>
          <p:cNvSpPr txBox="1">
            <a:spLocks noGrp="1"/>
          </p:cNvSpPr>
          <p:nvPr>
            <p:ph type="body" sz="half" idx="1"/>
          </p:nvPr>
        </p:nvSpPr>
        <p:spPr>
          <a:xfrm>
            <a:off x="499532" y="1426766"/>
            <a:ext cx="5155965" cy="4351338"/>
          </a:xfrm>
          <a:prstGeom prst="rect">
            <a:avLst/>
          </a:prstGeom>
        </p:spPr>
        <p:txBody>
          <a:bodyPr/>
          <a:lstStyle/>
          <a:p>
            <a:pPr marL="0" indent="0">
              <a:buSzTx/>
              <a:buNone/>
              <a:defRPr sz="2200">
                <a:latin typeface="+mn-lt"/>
                <a:ea typeface="+mn-ea"/>
                <a:cs typeface="+mn-cs"/>
                <a:sym typeface="Helvetica"/>
              </a:defRPr>
            </a:pPr>
            <a:r>
              <a:t>We display:</a:t>
            </a:r>
          </a:p>
          <a:p>
            <a:pPr>
              <a:defRPr sz="2200">
                <a:latin typeface="+mn-lt"/>
                <a:ea typeface="+mn-ea"/>
                <a:cs typeface="+mn-cs"/>
                <a:sym typeface="Helvetica"/>
              </a:defRPr>
            </a:pPr>
            <a:r>
              <a:t>The areal units (polygons), in this case counties</a:t>
            </a:r>
          </a:p>
          <a:p>
            <a:pPr>
              <a:defRPr sz="2200">
                <a:latin typeface="+mn-lt"/>
                <a:ea typeface="+mn-ea"/>
                <a:cs typeface="+mn-cs"/>
                <a:sym typeface="Helvetica"/>
              </a:defRPr>
            </a:pPr>
            <a:r>
              <a:t>The color represents a quantity, in this case Morphine (mg) categorized into 7 ordinal groups</a:t>
            </a:r>
          </a:p>
          <a:p>
            <a:pPr>
              <a:defRPr sz="2200">
                <a:latin typeface="+mn-lt"/>
                <a:ea typeface="+mn-ea"/>
                <a:cs typeface="+mn-cs"/>
                <a:sym typeface="Helvetica"/>
              </a:defRPr>
            </a:pPr>
            <a:r>
              <a:t>Labels and legends to relate the data to the areal units </a:t>
            </a:r>
          </a:p>
          <a:p>
            <a:pPr marL="0" indent="0">
              <a:buSzTx/>
              <a:buNone/>
              <a:defRPr sz="2200">
                <a:latin typeface="+mn-lt"/>
                <a:ea typeface="+mn-ea"/>
                <a:cs typeface="+mn-cs"/>
                <a:sym typeface="Helvetica"/>
              </a:defRPr>
            </a:pPr>
            <a:endParaRPr/>
          </a:p>
          <a:p>
            <a:pPr marL="0" indent="0">
              <a:buSzTx/>
              <a:buNone/>
              <a:defRPr sz="2200">
                <a:latin typeface="+mn-lt"/>
                <a:ea typeface="+mn-ea"/>
                <a:cs typeface="+mn-cs"/>
                <a:sym typeface="Helvetica"/>
              </a:defRPr>
            </a:pPr>
            <a:r>
              <a:t>Note that we often look at “per capita” information when examining areal data</a:t>
            </a:r>
          </a:p>
        </p:txBody>
      </p:sp>
      <p:sp>
        <p:nvSpPr>
          <p:cNvPr id="150" name="TextBox 5"/>
          <p:cNvSpPr txBox="1"/>
          <p:nvPr/>
        </p:nvSpPr>
        <p:spPr>
          <a:xfrm>
            <a:off x="5701215" y="6059015"/>
            <a:ext cx="6101617"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lvl1pPr>
          </a:lstStyle>
          <a:p>
            <a:r>
              <a:rPr dirty="0"/>
              <a:t>https://</a:t>
            </a:r>
            <a:r>
              <a:rPr dirty="0" err="1"/>
              <a:t>fivethirtyeight.com</a:t>
            </a:r>
            <a:r>
              <a:rPr dirty="0"/>
              <a:t>/features/opioid-prescriptions-across-the-u-s/</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Types of Spatial Data</a:t>
            </a:r>
          </a:p>
        </p:txBody>
      </p:sp>
      <p:sp>
        <p:nvSpPr>
          <p:cNvPr id="153" name="Content Placeholder 5"/>
          <p:cNvSpPr txBox="1">
            <a:spLocks noGrp="1"/>
          </p:cNvSpPr>
          <p:nvPr>
            <p:ph type="body" sz="quarter" idx="1"/>
          </p:nvPr>
        </p:nvSpPr>
        <p:spPr>
          <a:xfrm>
            <a:off x="3996266" y="2945077"/>
            <a:ext cx="6443134" cy="967846"/>
          </a:xfrm>
          <a:prstGeom prst="rect">
            <a:avLst/>
          </a:prstGeom>
        </p:spPr>
        <p:txBody>
          <a:bodyPr/>
          <a:lstStyle>
            <a:lvl1pPr marL="0" indent="0">
              <a:buSzTx/>
              <a:buNone/>
            </a:lvl1pPr>
          </a:lstStyle>
          <a:p>
            <a:r>
              <a:t>POINT PATTERN DATA</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itle 1"/>
          <p:cNvSpPr txBox="1">
            <a:spLocks noGrp="1"/>
          </p:cNvSpPr>
          <p:nvPr>
            <p:ph type="title"/>
          </p:nvPr>
        </p:nvSpPr>
        <p:spPr>
          <a:xfrm>
            <a:off x="474132" y="-41275"/>
            <a:ext cx="10041467" cy="1325563"/>
          </a:xfrm>
          <a:prstGeom prst="rect">
            <a:avLst/>
          </a:prstGeom>
        </p:spPr>
        <p:txBody>
          <a:bodyPr/>
          <a:lstStyle>
            <a:lvl1pPr>
              <a:defRPr sz="4000">
                <a:solidFill>
                  <a:srgbClr val="990000"/>
                </a:solidFill>
                <a:latin typeface="+mj-lt"/>
                <a:ea typeface="+mj-ea"/>
                <a:cs typeface="+mj-cs"/>
                <a:sym typeface="Calibri"/>
              </a:defRPr>
            </a:lvl1pPr>
          </a:lstStyle>
          <a:p>
            <a:r>
              <a:t>Point Pattern Data:  Example 1</a:t>
            </a:r>
          </a:p>
        </p:txBody>
      </p:sp>
      <p:sp>
        <p:nvSpPr>
          <p:cNvPr id="156" name="TextBox 2"/>
          <p:cNvSpPr txBox="1"/>
          <p:nvPr/>
        </p:nvSpPr>
        <p:spPr>
          <a:xfrm>
            <a:off x="4642535" y="6097084"/>
            <a:ext cx="2554844" cy="332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latin typeface="+mn-lt"/>
                <a:ea typeface="+mn-ea"/>
                <a:cs typeface="+mn-cs"/>
                <a:sym typeface="Helvetica"/>
              </a:defRPr>
            </a:lvl1pPr>
          </a:lstStyle>
          <a:p>
            <a:r>
              <a:t>Car thefts in San Francisco</a:t>
            </a:r>
          </a:p>
        </p:txBody>
      </p:sp>
      <p:pic>
        <p:nvPicPr>
          <p:cNvPr id="157" name="Picture 1" descr="Picture 1"/>
          <p:cNvPicPr>
            <a:picLocks noChangeAspect="1"/>
          </p:cNvPicPr>
          <p:nvPr/>
        </p:nvPicPr>
        <p:blipFill>
          <a:blip r:embed="rId2"/>
          <a:stretch>
            <a:fillRect/>
          </a:stretch>
        </p:blipFill>
        <p:spPr>
          <a:xfrm>
            <a:off x="3136487" y="1205440"/>
            <a:ext cx="5232814" cy="4721228"/>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itle 1"/>
          <p:cNvSpPr txBox="1">
            <a:spLocks noGrp="1"/>
          </p:cNvSpPr>
          <p:nvPr>
            <p:ph type="title"/>
          </p:nvPr>
        </p:nvSpPr>
        <p:spPr>
          <a:xfrm>
            <a:off x="474132" y="-41275"/>
            <a:ext cx="10041467" cy="1325563"/>
          </a:xfrm>
          <a:prstGeom prst="rect">
            <a:avLst/>
          </a:prstGeom>
        </p:spPr>
        <p:txBody>
          <a:bodyPr/>
          <a:lstStyle>
            <a:lvl1pPr>
              <a:defRPr sz="4000">
                <a:solidFill>
                  <a:srgbClr val="990000"/>
                </a:solidFill>
                <a:latin typeface="+mj-lt"/>
                <a:ea typeface="+mj-ea"/>
                <a:cs typeface="+mj-cs"/>
                <a:sym typeface="Calibri"/>
              </a:defRPr>
            </a:lvl1pPr>
          </a:lstStyle>
          <a:p>
            <a:r>
              <a:t>Point Pattern Data:  Example 2</a:t>
            </a:r>
          </a:p>
        </p:txBody>
      </p:sp>
      <p:sp>
        <p:nvSpPr>
          <p:cNvPr id="160" name="TextBox 2"/>
          <p:cNvSpPr txBox="1"/>
          <p:nvPr/>
        </p:nvSpPr>
        <p:spPr>
          <a:xfrm>
            <a:off x="4642535" y="6097084"/>
            <a:ext cx="2453145" cy="332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latin typeface="+mn-lt"/>
                <a:ea typeface="+mn-ea"/>
                <a:cs typeface="+mn-cs"/>
                <a:sym typeface="Helvetica"/>
              </a:defRPr>
            </a:lvl1pPr>
          </a:lstStyle>
          <a:p>
            <a:r>
              <a:t>Grocery stores in Chicago</a:t>
            </a:r>
          </a:p>
        </p:txBody>
      </p:sp>
      <p:pic>
        <p:nvPicPr>
          <p:cNvPr id="161" name="Picture 4" descr="Picture 4"/>
          <p:cNvPicPr>
            <a:picLocks noChangeAspect="1"/>
          </p:cNvPicPr>
          <p:nvPr/>
        </p:nvPicPr>
        <p:blipFill>
          <a:blip r:embed="rId2"/>
          <a:stretch>
            <a:fillRect/>
          </a:stretch>
        </p:blipFill>
        <p:spPr>
          <a:xfrm>
            <a:off x="3771927" y="1005904"/>
            <a:ext cx="4309479" cy="4846191"/>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Exploring and Modeling Point Pattern Data</a:t>
            </a:r>
          </a:p>
        </p:txBody>
      </p:sp>
      <p:sp>
        <p:nvSpPr>
          <p:cNvPr id="164" name="Content Placeholder 1"/>
          <p:cNvSpPr txBox="1">
            <a:spLocks noGrp="1"/>
          </p:cNvSpPr>
          <p:nvPr>
            <p:ph type="body" idx="1"/>
          </p:nvPr>
        </p:nvSpPr>
        <p:spPr>
          <a:prstGeom prst="rect">
            <a:avLst/>
          </a:prstGeom>
        </p:spPr>
        <p:txBody>
          <a:bodyPr/>
          <a:lstStyle/>
          <a:p>
            <a:pPr marL="0" indent="0">
              <a:buSzTx/>
              <a:buNone/>
            </a:pPr>
            <a:r>
              <a:t>Questions about point pattern data that we would like to answer are:</a:t>
            </a:r>
          </a:p>
          <a:p>
            <a:r>
              <a:t>Is there a regular pattern in the points?</a:t>
            </a:r>
          </a:p>
          <a:p>
            <a:r>
              <a:t>Is there a clustering of the points?</a:t>
            </a:r>
          </a:p>
          <a:p>
            <a:endParaRPr/>
          </a:p>
          <a:p>
            <a:pPr marL="0" indent="0">
              <a:buSzTx/>
              <a:buNone/>
            </a:pPr>
            <a:r>
              <a:t>There may be additional features that we need to take into account:</a:t>
            </a:r>
          </a:p>
          <a:p>
            <a:r>
              <a:t>Is there an underlying population distribution from which events arise in a region?</a:t>
            </a:r>
          </a:p>
          <a:p>
            <a:r>
              <a:t>Are events clustering in regions of high population?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6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1" build="p" bldLvl="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ontent Placeholder 3"/>
          <p:cNvSpPr txBox="1">
            <a:spLocks noGrp="1"/>
          </p:cNvSpPr>
          <p:nvPr>
            <p:ph type="body" sz="half" idx="1"/>
          </p:nvPr>
        </p:nvSpPr>
        <p:spPr>
          <a:xfrm>
            <a:off x="838200" y="1825625"/>
            <a:ext cx="4969934" cy="4351338"/>
          </a:xfrm>
          <a:prstGeom prst="rect">
            <a:avLst/>
          </a:prstGeom>
        </p:spPr>
        <p:txBody>
          <a:bodyPr/>
          <a:lstStyle/>
          <a:p>
            <a:pPr marL="0" indent="0">
              <a:buSzTx/>
              <a:buNone/>
            </a:pPr>
            <a:r>
              <a:t>Dr. John Snow’s map of cholera cases are what type of spatial data?</a:t>
            </a:r>
          </a:p>
          <a:p>
            <a:pPr marL="0" indent="0">
              <a:buSzTx/>
              <a:buNone/>
            </a:pPr>
            <a:endParaRPr/>
          </a:p>
          <a:p>
            <a:r>
              <a:t>Geostatistical</a:t>
            </a:r>
          </a:p>
          <a:p>
            <a:r>
              <a:t>Areal</a:t>
            </a:r>
          </a:p>
          <a:p>
            <a:r>
              <a:t>Point Pattern</a:t>
            </a:r>
          </a:p>
        </p:txBody>
      </p:sp>
      <p:pic>
        <p:nvPicPr>
          <p:cNvPr id="167" name="Picture 2" descr="Picture 2"/>
          <p:cNvPicPr>
            <a:picLocks noChangeAspect="1"/>
          </p:cNvPicPr>
          <p:nvPr/>
        </p:nvPicPr>
        <p:blipFill>
          <a:blip r:embed="rId3"/>
          <a:stretch>
            <a:fillRect/>
          </a:stretch>
        </p:blipFill>
        <p:spPr>
          <a:xfrm>
            <a:off x="6366933" y="1771323"/>
            <a:ext cx="4969934" cy="4658339"/>
          </a:xfrm>
          <a:prstGeom prst="rect">
            <a:avLst/>
          </a:prstGeom>
          <a:ln w="12700">
            <a:miter lim="400000"/>
          </a:ln>
        </p:spPr>
      </p:pic>
      <p:sp>
        <p:nvSpPr>
          <p:cNvPr id="168" name="Title 1"/>
          <p:cNvSpPr txBox="1"/>
          <p:nvPr/>
        </p:nvSpPr>
        <p:spPr>
          <a:xfrm>
            <a:off x="807719" y="382544"/>
            <a:ext cx="10424161"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nSpc>
                <a:spcPct val="90000"/>
              </a:lnSpc>
              <a:defRPr sz="4000">
                <a:solidFill>
                  <a:srgbClr val="990000"/>
                </a:solidFill>
              </a:defRPr>
            </a:lvl1pPr>
          </a:lstStyle>
          <a:p>
            <a:r>
              <a:t>Types of Spatial Data</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Content Placeholder 4" descr="Content Placeholder 4"/>
          <p:cNvPicPr>
            <a:picLocks noChangeAspect="1"/>
          </p:cNvPicPr>
          <p:nvPr/>
        </p:nvPicPr>
        <p:blipFill>
          <a:blip r:embed="rId3"/>
          <a:stretch>
            <a:fillRect/>
          </a:stretch>
        </p:blipFill>
        <p:spPr>
          <a:xfrm>
            <a:off x="1612900" y="1483895"/>
            <a:ext cx="9444567" cy="4887290"/>
          </a:xfrm>
          <a:prstGeom prst="rect">
            <a:avLst/>
          </a:prstGeom>
          <a:ln w="12700">
            <a:miter lim="400000"/>
          </a:ln>
        </p:spPr>
      </p:pic>
      <p:sp>
        <p:nvSpPr>
          <p:cNvPr id="173" name="Title 1"/>
          <p:cNvSpPr txBox="1"/>
          <p:nvPr/>
        </p:nvSpPr>
        <p:spPr>
          <a:xfrm>
            <a:off x="807719" y="382544"/>
            <a:ext cx="10424161"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nSpc>
                <a:spcPct val="90000"/>
              </a:lnSpc>
              <a:defRPr sz="4000">
                <a:solidFill>
                  <a:srgbClr val="990000"/>
                </a:solidFill>
              </a:defRPr>
            </a:lvl1pPr>
          </a:lstStyle>
          <a:p>
            <a:r>
              <a:t>Geostatistical, Areal, or Point Pattern? </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itle 1"/>
          <p:cNvSpPr txBox="1"/>
          <p:nvPr/>
        </p:nvSpPr>
        <p:spPr>
          <a:xfrm>
            <a:off x="807719" y="382544"/>
            <a:ext cx="10424161"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nSpc>
                <a:spcPct val="90000"/>
              </a:lnSpc>
              <a:defRPr sz="4000">
                <a:solidFill>
                  <a:srgbClr val="990000"/>
                </a:solidFill>
              </a:defRPr>
            </a:lvl1pPr>
          </a:lstStyle>
          <a:p>
            <a:r>
              <a:t>Types of spatial data: spatio-temporal</a:t>
            </a:r>
          </a:p>
        </p:txBody>
      </p:sp>
      <p:sp>
        <p:nvSpPr>
          <p:cNvPr id="178" name="Content Placeholder 6"/>
          <p:cNvSpPr txBox="1">
            <a:spLocks noGrp="1"/>
          </p:cNvSpPr>
          <p:nvPr>
            <p:ph type="body" idx="1"/>
          </p:nvPr>
        </p:nvSpPr>
        <p:spPr>
          <a:xfrm>
            <a:off x="838199" y="1825625"/>
            <a:ext cx="10913534" cy="4351338"/>
          </a:xfrm>
          <a:prstGeom prst="rect">
            <a:avLst/>
          </a:prstGeom>
        </p:spPr>
        <p:txBody>
          <a:bodyPr/>
          <a:lstStyle/>
          <a:p>
            <a:pPr marL="0" indent="0">
              <a:buSzTx/>
              <a:buNone/>
            </a:pPr>
            <a:r>
              <a:rPr dirty="0"/>
              <a:t>All three types of data may be referenced in space and in time</a:t>
            </a:r>
          </a:p>
          <a:p>
            <a:r>
              <a:rPr dirty="0"/>
              <a:t>Each observation has a location, time and value</a:t>
            </a:r>
          </a:p>
          <a:p>
            <a:r>
              <a:rPr dirty="0"/>
              <a:t>Similar methods for analysis, with an added dimension</a:t>
            </a:r>
          </a:p>
          <a:p>
            <a:pPr marL="0" indent="0">
              <a:buSzTx/>
              <a:buNone/>
            </a:pPr>
            <a:endParaRPr dirty="0"/>
          </a:p>
          <a:p>
            <a:pPr marL="0" indent="0">
              <a:buSzTx/>
              <a:buNone/>
            </a:pPr>
            <a:r>
              <a:rPr dirty="0"/>
              <a:t>Often encountered in environmental epidemiology:</a:t>
            </a:r>
          </a:p>
          <a:p>
            <a:pPr marL="0" lvl="1" indent="457200">
              <a:spcBef>
                <a:spcPts val="500"/>
              </a:spcBef>
              <a:buSzTx/>
              <a:buNone/>
              <a:defRPr sz="2400" b="1"/>
            </a:pPr>
            <a:r>
              <a:rPr dirty="0"/>
              <a:t>Geostatistical</a:t>
            </a:r>
            <a:r>
              <a:rPr b="0" dirty="0"/>
              <a:t>:  Relationship between daily air pollution measured at discrete locations and hospital admissions</a:t>
            </a:r>
          </a:p>
          <a:p>
            <a:pPr marL="0" lvl="1" indent="457200">
              <a:spcBef>
                <a:spcPts val="500"/>
              </a:spcBef>
              <a:buSzTx/>
              <a:buNone/>
              <a:defRPr sz="2400" b="1"/>
            </a:pPr>
            <a:r>
              <a:rPr dirty="0"/>
              <a:t>Areal</a:t>
            </a:r>
            <a:r>
              <a:rPr b="0" dirty="0"/>
              <a:t>: Changes in birth rates in census tracts in US states(2000 to 2010 census)</a:t>
            </a:r>
          </a:p>
          <a:p>
            <a:pPr marL="0" lvl="1" indent="457200">
              <a:spcBef>
                <a:spcPts val="500"/>
              </a:spcBef>
              <a:buSzTx/>
              <a:buNone/>
              <a:defRPr sz="2400" b="1"/>
            </a:pPr>
            <a:r>
              <a:rPr dirty="0"/>
              <a:t>Point process</a:t>
            </a:r>
            <a:r>
              <a:rPr b="0" dirty="0"/>
              <a:t>: Changes in spatial clustering of Malaria cases 2000 to 2015</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leaflet package for generating interactive maps</a:t>
            </a:r>
          </a:p>
        </p:txBody>
      </p:sp>
      <p:sp>
        <p:nvSpPr>
          <p:cNvPr id="183" name="Content Placeholder 1"/>
          <p:cNvSpPr txBox="1">
            <a:spLocks noGrp="1"/>
          </p:cNvSpPr>
          <p:nvPr>
            <p:ph type="body" sz="half" idx="1"/>
          </p:nvPr>
        </p:nvSpPr>
        <p:spPr>
          <a:xfrm>
            <a:off x="444500" y="1812925"/>
            <a:ext cx="5181600" cy="4351338"/>
          </a:xfrm>
          <a:prstGeom prst="rect">
            <a:avLst/>
          </a:prstGeom>
        </p:spPr>
        <p:txBody>
          <a:bodyPr/>
          <a:lstStyle/>
          <a:p>
            <a:pPr marL="0" indent="0">
              <a:lnSpc>
                <a:spcPct val="100000"/>
              </a:lnSpc>
              <a:spcBef>
                <a:spcPts val="0"/>
              </a:spcBef>
              <a:buSzTx/>
              <a:buNone/>
              <a:defRPr sz="1400">
                <a:solidFill>
                  <a:srgbClr val="262626"/>
                </a:solidFill>
                <a:latin typeface="Courier"/>
                <a:ea typeface="Courier"/>
                <a:cs typeface="Courier"/>
                <a:sym typeface="Courier"/>
              </a:defRPr>
            </a:pPr>
            <a:r>
              <a:t>##            city     lat      lon     pop</a:t>
            </a:r>
          </a:p>
          <a:p>
            <a:pPr marL="0" indent="0">
              <a:lnSpc>
                <a:spcPct val="100000"/>
              </a:lnSpc>
              <a:spcBef>
                <a:spcPts val="0"/>
              </a:spcBef>
              <a:buSzTx/>
              <a:buNone/>
              <a:defRPr sz="1400">
                <a:solidFill>
                  <a:srgbClr val="262626"/>
                </a:solidFill>
                <a:latin typeface="Courier"/>
                <a:ea typeface="Courier"/>
                <a:cs typeface="Courier"/>
                <a:sym typeface="Courier"/>
              </a:defRPr>
            </a:pPr>
            <a:r>
              <a:t>## 1        Boston 42.3601 -71.0589  645966</a:t>
            </a:r>
          </a:p>
          <a:p>
            <a:pPr marL="0" indent="0">
              <a:lnSpc>
                <a:spcPct val="100000"/>
              </a:lnSpc>
              <a:spcBef>
                <a:spcPts val="0"/>
              </a:spcBef>
              <a:buSzTx/>
              <a:buNone/>
              <a:defRPr sz="1400">
                <a:solidFill>
                  <a:srgbClr val="262626"/>
                </a:solidFill>
                <a:latin typeface="Courier"/>
                <a:ea typeface="Courier"/>
                <a:cs typeface="Courier"/>
                <a:sym typeface="Courier"/>
              </a:defRPr>
            </a:pPr>
            <a:r>
              <a:t>## 2      Hartford 41.7627 -72.6743  125017</a:t>
            </a:r>
          </a:p>
          <a:p>
            <a:pPr marL="0" indent="0">
              <a:lnSpc>
                <a:spcPct val="100000"/>
              </a:lnSpc>
              <a:spcBef>
                <a:spcPts val="0"/>
              </a:spcBef>
              <a:buSzTx/>
              <a:buNone/>
              <a:defRPr sz="1400">
                <a:solidFill>
                  <a:srgbClr val="262626"/>
                </a:solidFill>
                <a:latin typeface="Courier"/>
                <a:ea typeface="Courier"/>
                <a:cs typeface="Courier"/>
                <a:sym typeface="Courier"/>
              </a:defRPr>
            </a:pPr>
            <a:r>
              <a:t>## 3 New York City 40.7127 -74.0059 8406000</a:t>
            </a:r>
          </a:p>
          <a:p>
            <a:pPr marL="0" indent="0">
              <a:lnSpc>
                <a:spcPct val="100000"/>
              </a:lnSpc>
              <a:spcBef>
                <a:spcPts val="0"/>
              </a:spcBef>
              <a:buSzTx/>
              <a:buNone/>
              <a:defRPr sz="1400">
                <a:solidFill>
                  <a:srgbClr val="262626"/>
                </a:solidFill>
                <a:latin typeface="Courier"/>
                <a:ea typeface="Courier"/>
                <a:cs typeface="Courier"/>
                <a:sym typeface="Courier"/>
              </a:defRPr>
            </a:pPr>
            <a:r>
              <a:t>## 4  Philadelphia 39.9500 -75.1667 1553000</a:t>
            </a:r>
          </a:p>
          <a:p>
            <a:pPr marL="0" indent="0">
              <a:lnSpc>
                <a:spcPct val="100000"/>
              </a:lnSpc>
              <a:spcBef>
                <a:spcPts val="0"/>
              </a:spcBef>
              <a:buSzTx/>
              <a:buNone/>
              <a:defRPr sz="1400">
                <a:solidFill>
                  <a:srgbClr val="262626"/>
                </a:solidFill>
                <a:latin typeface="Courier"/>
                <a:ea typeface="Courier"/>
                <a:cs typeface="Courier"/>
                <a:sym typeface="Courier"/>
              </a:defRPr>
            </a:pPr>
            <a:r>
              <a:t>## 5    Pittsburgh 40.4397 -79.9764  305841</a:t>
            </a:r>
          </a:p>
          <a:p>
            <a:pPr marL="0" indent="0">
              <a:lnSpc>
                <a:spcPct val="100000"/>
              </a:lnSpc>
              <a:spcBef>
                <a:spcPts val="0"/>
              </a:spcBef>
              <a:buSzTx/>
              <a:buNone/>
              <a:defRPr sz="1400">
                <a:solidFill>
                  <a:srgbClr val="262626"/>
                </a:solidFill>
                <a:latin typeface="Courier"/>
                <a:ea typeface="Courier"/>
                <a:cs typeface="Courier"/>
                <a:sym typeface="Courier"/>
              </a:defRPr>
            </a:pPr>
            <a:r>
              <a:t>## 6    Providence 41.8236 -71.4222  177994</a:t>
            </a:r>
          </a:p>
          <a:p>
            <a:pPr marL="0" indent="0">
              <a:lnSpc>
                <a:spcPct val="100000"/>
              </a:lnSpc>
              <a:spcBef>
                <a:spcPts val="0"/>
              </a:spcBef>
              <a:buSzTx/>
              <a:buNone/>
              <a:defRPr sz="1400">
                <a:solidFill>
                  <a:srgbClr val="262626"/>
                </a:solidFill>
                <a:latin typeface="Courier"/>
                <a:ea typeface="Courier"/>
                <a:cs typeface="Courier"/>
                <a:sym typeface="Courier"/>
              </a:defRPr>
            </a:pPr>
            <a:endParaRPr/>
          </a:p>
          <a:p>
            <a:pPr marL="0" indent="0">
              <a:lnSpc>
                <a:spcPct val="100000"/>
              </a:lnSpc>
              <a:spcBef>
                <a:spcPts val="0"/>
              </a:spcBef>
              <a:buSzTx/>
              <a:buNone/>
              <a:defRPr sz="1400">
                <a:solidFill>
                  <a:srgbClr val="262626"/>
                </a:solidFill>
                <a:latin typeface="Courier"/>
                <a:ea typeface="Courier"/>
                <a:cs typeface="Courier"/>
                <a:sym typeface="Courier"/>
              </a:defRPr>
            </a:pPr>
            <a:r>
              <a:t>leaflet(cities) %&gt;%   </a:t>
            </a:r>
          </a:p>
          <a:p>
            <a:pPr marL="0" indent="0">
              <a:lnSpc>
                <a:spcPct val="100000"/>
              </a:lnSpc>
              <a:spcBef>
                <a:spcPts val="0"/>
              </a:spcBef>
              <a:buSzTx/>
              <a:buNone/>
              <a:defRPr sz="1400">
                <a:solidFill>
                  <a:srgbClr val="262626"/>
                </a:solidFill>
                <a:latin typeface="Courier"/>
                <a:ea typeface="Courier"/>
                <a:cs typeface="Courier"/>
                <a:sym typeface="Courier"/>
              </a:defRPr>
            </a:pPr>
            <a:r>
              <a:t>      addTiles() %&gt;%  </a:t>
            </a:r>
          </a:p>
          <a:p>
            <a:pPr marL="0" indent="0">
              <a:lnSpc>
                <a:spcPct val="100000"/>
              </a:lnSpc>
              <a:spcBef>
                <a:spcPts val="0"/>
              </a:spcBef>
              <a:buSzTx/>
              <a:buNone/>
              <a:defRPr sz="1400">
                <a:solidFill>
                  <a:srgbClr val="262626"/>
                </a:solidFill>
                <a:latin typeface="Courier"/>
                <a:ea typeface="Courier"/>
                <a:cs typeface="Courier"/>
                <a:sym typeface="Courier"/>
              </a:defRPr>
            </a:pPr>
            <a:r>
              <a:t>      addCircles(lng = ~lon, lat = ~lat,              	color=</a:t>
            </a:r>
            <a:r>
              <a:rPr>
                <a:solidFill>
                  <a:srgbClr val="D20035"/>
                </a:solidFill>
              </a:rPr>
              <a:t>'firebrick’</a:t>
            </a:r>
            <a:r>
              <a:t>, fillOpacity=</a:t>
            </a:r>
            <a:r>
              <a:rPr>
                <a:solidFill>
                  <a:srgbClr val="118987"/>
                </a:solidFill>
              </a:rPr>
              <a:t>1</a:t>
            </a:r>
            <a:r>
              <a:t>, 	opacity=</a:t>
            </a:r>
            <a:r>
              <a:rPr>
                <a:solidFill>
                  <a:srgbClr val="118987"/>
                </a:solidFill>
              </a:rPr>
              <a:t>1</a:t>
            </a:r>
            <a:r>
              <a:t>, radius=</a:t>
            </a:r>
            <a:r>
              <a:rPr>
                <a:solidFill>
                  <a:srgbClr val="118987"/>
                </a:solidFill>
              </a:rPr>
              <a:t>700</a:t>
            </a:r>
            <a:r>
              <a:t>)</a:t>
            </a:r>
          </a:p>
        </p:txBody>
      </p:sp>
      <p:pic>
        <p:nvPicPr>
          <p:cNvPr id="184" name="Content Placeholder 8" descr="Content Placeholder 8"/>
          <p:cNvPicPr>
            <a:picLocks noChangeAspect="1"/>
          </p:cNvPicPr>
          <p:nvPr/>
        </p:nvPicPr>
        <p:blipFill>
          <a:blip r:embed="rId2"/>
          <a:stretch>
            <a:fillRect/>
          </a:stretch>
        </p:blipFill>
        <p:spPr>
          <a:xfrm>
            <a:off x="5626100" y="1955800"/>
            <a:ext cx="6477392" cy="3759200"/>
          </a:xfrm>
          <a:prstGeom prst="rect">
            <a:avLst/>
          </a:prstGeom>
          <a:ln w="12700">
            <a:miter lim="400000"/>
          </a:ln>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ontent Placeholder 2"/>
          <p:cNvSpPr txBox="1">
            <a:spLocks noGrp="1"/>
          </p:cNvSpPr>
          <p:nvPr>
            <p:ph type="body" sz="half" idx="1"/>
          </p:nvPr>
        </p:nvSpPr>
        <p:spPr>
          <a:xfrm>
            <a:off x="749300" y="1825625"/>
            <a:ext cx="5181600" cy="4351338"/>
          </a:xfrm>
          <a:prstGeom prst="rect">
            <a:avLst/>
          </a:prstGeom>
        </p:spPr>
        <p:txBody>
          <a:bodyPr/>
          <a:lstStyle/>
          <a:p>
            <a:pPr marL="0" indent="0">
              <a:buSzTx/>
              <a:buNone/>
              <a:defRPr sz="1400">
                <a:solidFill>
                  <a:srgbClr val="474747"/>
                </a:solidFill>
                <a:latin typeface="Courier"/>
                <a:ea typeface="Courier"/>
                <a:cs typeface="Courier"/>
                <a:sym typeface="Courier"/>
              </a:defRPr>
            </a:pPr>
            <a:r>
              <a:rPr dirty="0"/>
              <a:t>For the tile providers, check this out: </a:t>
            </a:r>
            <a:r>
              <a:rPr u="sng" dirty="0">
                <a:solidFill>
                  <a:srgbClr val="0563C1"/>
                </a:solidFill>
                <a:uFill>
                  <a:solidFill>
                    <a:srgbClr val="0563C1"/>
                  </a:solidFill>
                </a:uFill>
                <a:hlinkClick r:id="rId2"/>
              </a:rPr>
              <a:t>https://leaflet-extras.github.io/leaflet-providers/preview/</a:t>
            </a:r>
            <a:endParaRPr dirty="0">
              <a:solidFill>
                <a:srgbClr val="4393C3"/>
              </a:solidFill>
            </a:endParaRPr>
          </a:p>
          <a:p>
            <a:pPr marL="0" indent="0">
              <a:buSzTx/>
              <a:buNone/>
              <a:defRPr sz="1400">
                <a:solidFill>
                  <a:srgbClr val="4393C3"/>
                </a:solidFill>
                <a:latin typeface="Courier"/>
                <a:ea typeface="Courier"/>
                <a:cs typeface="Courier"/>
                <a:sym typeface="Courier"/>
              </a:defRPr>
            </a:pPr>
            <a:endParaRPr dirty="0">
              <a:solidFill>
                <a:srgbClr val="4393C3"/>
              </a:solidFill>
            </a:endParaRPr>
          </a:p>
          <a:p>
            <a:pPr marL="0" indent="0">
              <a:buSzTx/>
              <a:buNone/>
              <a:defRPr sz="1400">
                <a:latin typeface="Courier"/>
                <a:ea typeface="Courier"/>
                <a:cs typeface="Courier"/>
                <a:sym typeface="Courier"/>
              </a:defRPr>
            </a:pPr>
            <a:r>
              <a:rPr dirty="0"/>
              <a:t>leaflet(cities) %&gt;% </a:t>
            </a:r>
          </a:p>
          <a:p>
            <a:pPr marL="0" indent="0">
              <a:buSzTx/>
              <a:buNone/>
              <a:defRPr sz="1400">
                <a:latin typeface="Courier"/>
                <a:ea typeface="Courier"/>
                <a:cs typeface="Courier"/>
                <a:sym typeface="Courier"/>
              </a:defRPr>
            </a:pPr>
            <a:r>
              <a:rPr dirty="0"/>
              <a:t>  </a:t>
            </a:r>
            <a:r>
              <a:rPr dirty="0" err="1"/>
              <a:t>addProviderTiles</a:t>
            </a:r>
            <a:r>
              <a:rPr dirty="0"/>
              <a:t>('</a:t>
            </a:r>
            <a:r>
              <a:rPr dirty="0" err="1"/>
              <a:t>CartoDB.Positron</a:t>
            </a:r>
            <a:r>
              <a:rPr dirty="0"/>
              <a:t>') %&gt;% </a:t>
            </a:r>
          </a:p>
          <a:p>
            <a:pPr marL="0" indent="0">
              <a:buSzTx/>
              <a:buNone/>
              <a:defRPr sz="1400">
                <a:latin typeface="Courier"/>
                <a:ea typeface="Courier"/>
                <a:cs typeface="Courier"/>
                <a:sym typeface="Courier"/>
              </a:defRPr>
            </a:pPr>
            <a:r>
              <a:rPr dirty="0"/>
              <a:t>  </a:t>
            </a:r>
            <a:r>
              <a:rPr dirty="0" err="1"/>
              <a:t>addCircles</a:t>
            </a:r>
            <a:r>
              <a:rPr dirty="0"/>
              <a:t>(</a:t>
            </a:r>
            <a:r>
              <a:rPr dirty="0" err="1"/>
              <a:t>lng</a:t>
            </a:r>
            <a:r>
              <a:rPr dirty="0"/>
              <a:t> = ~</a:t>
            </a:r>
            <a:r>
              <a:rPr dirty="0" err="1"/>
              <a:t>lon</a:t>
            </a:r>
            <a:r>
              <a:rPr dirty="0"/>
              <a:t>, </a:t>
            </a:r>
            <a:r>
              <a:rPr dirty="0" err="1"/>
              <a:t>lat</a:t>
            </a:r>
            <a:r>
              <a:rPr dirty="0"/>
              <a:t> = ~</a:t>
            </a:r>
            <a:r>
              <a:rPr dirty="0" err="1"/>
              <a:t>lat</a:t>
            </a:r>
            <a:r>
              <a:rPr dirty="0"/>
              <a:t>, </a:t>
            </a:r>
          </a:p>
          <a:p>
            <a:pPr marL="0" indent="0">
              <a:buSzTx/>
              <a:buNone/>
              <a:defRPr sz="1400">
                <a:latin typeface="Courier"/>
                <a:ea typeface="Courier"/>
                <a:cs typeface="Courier"/>
                <a:sym typeface="Courier"/>
              </a:defRPr>
            </a:pPr>
            <a:r>
              <a:rPr dirty="0"/>
              <a:t>	weight = 1, color = "purple", opacity 	= 1,radius = ~sqrt(pop) * 40, popup = 	~city)</a:t>
            </a:r>
          </a:p>
          <a:p>
            <a:pPr marL="0" indent="0">
              <a:buSzTx/>
              <a:buNone/>
              <a:defRPr sz="1400">
                <a:latin typeface="Courier"/>
                <a:ea typeface="Courier"/>
                <a:cs typeface="Courier"/>
                <a:sym typeface="Courier"/>
              </a:defRPr>
            </a:pPr>
            <a:endParaRPr dirty="0"/>
          </a:p>
          <a:p>
            <a:pPr marL="0" indent="0">
              <a:buSzTx/>
              <a:buNone/>
              <a:defRPr sz="1800">
                <a:latin typeface="Arial"/>
                <a:ea typeface="Arial"/>
                <a:cs typeface="Arial"/>
                <a:sym typeface="Arial"/>
              </a:defRPr>
            </a:pPr>
            <a:endParaRPr dirty="0"/>
          </a:p>
          <a:p>
            <a:pPr marL="0" indent="0">
              <a:buSzTx/>
              <a:buNone/>
              <a:defRPr sz="1800">
                <a:latin typeface="Arial"/>
                <a:ea typeface="Arial"/>
                <a:cs typeface="Arial"/>
                <a:sym typeface="Arial"/>
              </a:defRPr>
            </a:pPr>
            <a:r>
              <a:rPr dirty="0"/>
              <a:t>These maps are static.  Now let’s see what we can do when we create html figures.</a:t>
            </a:r>
          </a:p>
        </p:txBody>
      </p:sp>
      <p:pic>
        <p:nvPicPr>
          <p:cNvPr id="187" name="Content Placeholder 5" descr="Content Placeholder 5"/>
          <p:cNvPicPr>
            <a:picLocks noChangeAspect="1"/>
          </p:cNvPicPr>
          <p:nvPr/>
        </p:nvPicPr>
        <p:blipFill>
          <a:blip r:embed="rId3"/>
          <a:stretch>
            <a:fillRect/>
          </a:stretch>
        </p:blipFill>
        <p:spPr>
          <a:xfrm>
            <a:off x="6172200" y="2222400"/>
            <a:ext cx="5181600" cy="3557788"/>
          </a:xfrm>
          <a:prstGeom prst="rect">
            <a:avLst/>
          </a:prstGeom>
          <a:ln w="12700">
            <a:miter lim="400000"/>
          </a:ln>
        </p:spPr>
      </p:pic>
      <p:sp>
        <p:nvSpPr>
          <p:cNvPr id="188" name="Title 1"/>
          <p:cNvSpPr txBox="1">
            <a:spLocks noGrp="1"/>
          </p:cNvSpPr>
          <p:nvPr>
            <p:ph type="title"/>
          </p:nvPr>
        </p:nvSpPr>
        <p:spPr>
          <a:prstGeom prst="rect">
            <a:avLst/>
          </a:prstGeom>
        </p:spPr>
        <p:txBody>
          <a:bodyPr/>
          <a:lstStyle>
            <a:lvl1pPr>
              <a:defRPr sz="4000">
                <a:solidFill>
                  <a:srgbClr val="990000"/>
                </a:solidFill>
                <a:latin typeface="+mj-lt"/>
                <a:ea typeface="+mj-ea"/>
                <a:cs typeface="+mj-cs"/>
                <a:sym typeface="Calibri"/>
              </a:defRPr>
            </a:lvl1pPr>
          </a:lstStyle>
          <a:p>
            <a:r>
              <a:t>Scale the circles to population size</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Content Placeholder 3"/>
          <p:cNvSpPr txBox="1">
            <a:spLocks noGrp="1"/>
          </p:cNvSpPr>
          <p:nvPr>
            <p:ph type="body" idx="1"/>
          </p:nvPr>
        </p:nvSpPr>
        <p:spPr>
          <a:xfrm>
            <a:off x="838200" y="2019300"/>
            <a:ext cx="10515600" cy="4157664"/>
          </a:xfrm>
          <a:prstGeom prst="rect">
            <a:avLst/>
          </a:prstGeom>
        </p:spPr>
        <p:txBody>
          <a:bodyPr/>
          <a:lstStyle/>
          <a:p>
            <a:pPr marL="0" indent="0" algn="ctr">
              <a:buSzTx/>
              <a:buNone/>
              <a:defRPr sz="4000"/>
            </a:pPr>
            <a:endParaRPr/>
          </a:p>
          <a:p>
            <a:pPr marL="0" indent="0" algn="ctr">
              <a:buSzTx/>
              <a:buNone/>
              <a:defRPr sz="4000"/>
            </a:pPr>
            <a:r>
              <a:t>Run: lasbest-spatial.Rmd</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1614</Words>
  <Application>Microsoft Macintosh PowerPoint</Application>
  <PresentationFormat>Widescreen</PresentationFormat>
  <Paragraphs>171</Paragraphs>
  <Slides>34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Helvetica</vt:lpstr>
      <vt:lpstr>Office Theme</vt:lpstr>
      <vt:lpstr>Spatial Statistics Introduction to Spatial Data</vt:lpstr>
      <vt:lpstr>PowerPoint Presentation</vt:lpstr>
      <vt:lpstr>Historical examples of spatial analysis</vt:lpstr>
      <vt:lpstr>Historical examples of spatial analysis</vt:lpstr>
      <vt:lpstr>Historical examples of spatial analysis</vt:lpstr>
      <vt:lpstr>Spatial analyses:   past and present</vt:lpstr>
      <vt:lpstr>Introduction to spatial analysis:   general concepts</vt:lpstr>
      <vt:lpstr>Spatial data</vt:lpstr>
      <vt:lpstr>Types of Spatial data</vt:lpstr>
      <vt:lpstr>Types of Spatial data</vt:lpstr>
      <vt:lpstr>Geostatistical Data: Example</vt:lpstr>
      <vt:lpstr>Geostatistical Data: Example</vt:lpstr>
      <vt:lpstr>Visualizing Geostatistical Data</vt:lpstr>
      <vt:lpstr>Visualizing Geostatistical Data</vt:lpstr>
      <vt:lpstr>Visualizing Geostatistical Data</vt:lpstr>
      <vt:lpstr>Visualizing Geostatistical Data</vt:lpstr>
      <vt:lpstr>Visualizing Geostatistical Data in R</vt:lpstr>
      <vt:lpstr>Exploring and Modeling Geostatistical Data</vt:lpstr>
      <vt:lpstr>Exploring and Modeling Geostatistical Data</vt:lpstr>
      <vt:lpstr>Types of Spatial Data</vt:lpstr>
      <vt:lpstr>Areal Data:  Example 1</vt:lpstr>
      <vt:lpstr>Areal Data:  Example 2</vt:lpstr>
      <vt:lpstr>Areal Data:  Description</vt:lpstr>
      <vt:lpstr>Visualizing Areal Data</vt:lpstr>
      <vt:lpstr>Types of Spatial Data</vt:lpstr>
      <vt:lpstr>Point Pattern Data:  Example 1</vt:lpstr>
      <vt:lpstr>Point Pattern Data:  Example 2</vt:lpstr>
      <vt:lpstr>Exploring and Modeling Point Pattern Data</vt:lpstr>
      <vt:lpstr>PowerPoint Presentation</vt:lpstr>
      <vt:lpstr>PowerPoint Presentation</vt:lpstr>
      <vt:lpstr>PowerPoint Presentation</vt:lpstr>
      <vt:lpstr>leaflet package for generating interactive maps</vt:lpstr>
      <vt:lpstr>Scale the circles to population size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 Zhang</cp:lastModifiedBy>
  <cp:revision>1</cp:revision>
  <dcterms:modified xsi:type="dcterms:W3CDTF">2026-06-25T18:12:05Z</dcterms:modified>
</cp:coreProperties>
</file>